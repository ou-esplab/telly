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Heating profile</c:v>
                </c:pt>
              </c:strCache>
            </c:strRef>
          </c:tx>
          <c:spPr>
            <a:solidFill>
              <a:schemeClr val="accent2"/>
            </a:solidFill>
          </c:spPr>
          <c:cat>
            <c:strRef>
              <c:f>Sheet1!$A$2:$A$27</c:f>
              <c:strCache>
                <c:ptCount val="26"/>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strCache>
            </c:strRef>
          </c:cat>
          <c:val>
            <c:numRef>
              <c:f>Sheet1!$B$2:$B$27</c:f>
              <c:numCache>
                <c:formatCode>General</c:formatCode>
                <c:ptCount val="26"/>
                <c:pt idx="0">
                  <c:v>0</c:v>
                </c:pt>
                <c:pt idx="1">
                  <c:v>0</c:v>
                </c:pt>
                <c:pt idx="2">
                  <c:v>0</c:v>
                </c:pt>
                <c:pt idx="3">
                  <c:v>0</c:v>
                </c:pt>
                <c:pt idx="4">
                  <c:v>0</c:v>
                </c:pt>
                <c:pt idx="5">
                  <c:v>0.25</c:v>
                </c:pt>
                <c:pt idx="6">
                  <c:v>0.5</c:v>
                </c:pt>
                <c:pt idx="7">
                  <c:v>0.75</c:v>
                </c:pt>
                <c:pt idx="8">
                  <c:v>1</c:v>
                </c:pt>
                <c:pt idx="9">
                  <c:v>1.5</c:v>
                </c:pt>
                <c:pt idx="10">
                  <c:v>1.75</c:v>
                </c:pt>
                <c:pt idx="11">
                  <c:v>1.75</c:v>
                </c:pt>
                <c:pt idx="12">
                  <c:v>1.75</c:v>
                </c:pt>
                <c:pt idx="13">
                  <c:v>2</c:v>
                </c:pt>
                <c:pt idx="14">
                  <c:v>2</c:v>
                </c:pt>
                <c:pt idx="15">
                  <c:v>2</c:v>
                </c:pt>
                <c:pt idx="16">
                  <c:v>2</c:v>
                </c:pt>
                <c:pt idx="17">
                  <c:v>1.75</c:v>
                </c:pt>
                <c:pt idx="18">
                  <c:v>1.75</c:v>
                </c:pt>
                <c:pt idx="19">
                  <c:v>1.5</c:v>
                </c:pt>
                <c:pt idx="20">
                  <c:v>1.25</c:v>
                </c:pt>
                <c:pt idx="21">
                  <c:v>0.75</c:v>
                </c:pt>
                <c:pt idx="22">
                  <c:v>0.5</c:v>
                </c:pt>
                <c:pt idx="23">
                  <c:v>0.25</c:v>
                </c:pt>
                <c:pt idx="24">
                  <c:v>0</c:v>
                </c:pt>
                <c:pt idx="25">
                  <c:v>0</c:v>
                </c:pt>
              </c:numCache>
            </c:numRef>
          </c:val>
        </c:ser>
        <c:gapWidth val="25"/>
        <c:axId val="-2068027336"/>
        <c:axId val="-2113994440"/>
      </c:barChart>
      <c:catAx>
        <c:axId val="-2068027336"/>
        <c:scaling>
          <c:orientation val="maxMin"/>
        </c:scaling>
        <c:delete/>
        <c:axPos val="l"/>
        <c:majorTickMark val="out"/>
        <c:minorTickMark val="none"/>
        <c:tickLblPos val="nextTo"/>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image" Target="../media/image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image" Target="../media/image8.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10.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2.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4.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6.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chemeClr val="tx1"/>
        </a:solidFill>
        <a:effectLst/>
      </p:bgPr>
    </p:bg>
    <p:spTree>
      <p:nvGrpSpPr>
        <p:cNvPr id="1" name=""/>
        <p:cNvGrpSpPr/>
        <p:nvPr/>
      </p:nvGrpSpPr>
      <p:grpSpPr/>
      <p:sp>
        <p:nvSpPr>
          <p:cNvPr id="2" name="Title 1"/>
          <p:cNvSpPr>
            <a:spLocks noGrp="1"/>
          </p:cNvSpPr>
          <p:nvPr>
            <p:ph type="title"/>
          </p:nvPr>
        </p:nvSpPr>
        <p:spPr>
          <a:xfrm>
            <a:off x="822960" y="1920240"/>
            <a:ext cx="10241280" cy="2194560"/>
          </a:xfrm>
        </p:spPr>
        <p:txBody>
          <a:bodyPr wrap="square" lIns="0" rIns="0" tIns="0" bIns="0" anchor="t"/>
          <a:lstStyle/>
          <a:p>
            <a:pPr algn="l"/>
            <a:r>
              <a:rPr sz="5400" b="1">
                <a:solidFill>
                  <a:schemeClr val="bg2"/>
                </a:solidFill>
                <a:latin typeface="+mj-lt"/>
              </a:rPr>
              <a:t>Why Are There Waves in the Time-Mean Flow?</a:t>
            </a:r>
          </a:p>
        </p:txBody>
      </p:sp>
      <p:sp>
        <p:nvSpPr>
          <p:cNvPr id="3" name="TextBox 2"/>
          <p:cNvSpPr txBox="1"/>
          <p:nvPr/>
        </p:nvSpPr>
        <p:spPr>
          <a:xfrm>
            <a:off x="822960" y="822960"/>
            <a:ext cx="10515600" cy="365760"/>
          </a:xfrm>
          <a:prstGeom prst="rect">
            <a:avLst/>
          </a:prstGeom>
          <a:noFill/>
        </p:spPr>
        <p:txBody>
          <a:bodyPr wrap="square" lIns="0" rIns="0" tIns="0" bIns="0" anchor="t">
            <a:spAutoFit/>
          </a:bodyPr>
          <a:lstStyle/>
          <a:p>
            <a:r>
              <a:rPr sz="1400" b="1" i="0" spc="400">
                <a:solidFill>
                  <a:schemeClr val="accent4"/>
                </a:solidFill>
              </a:rPr>
              <a:t>TELLY ATMOSPHERIC TELECONNECTION MODEL</a:t>
            </a:r>
          </a:p>
        </p:txBody>
      </p:sp>
      <p:sp>
        <p:nvSpPr>
          <p:cNvPr id="4" name="TextBox 3"/>
          <p:cNvSpPr txBox="1"/>
          <p:nvPr/>
        </p:nvSpPr>
        <p:spPr>
          <a:xfrm>
            <a:off x="822960" y="4343400"/>
            <a:ext cx="9601200" cy="914400"/>
          </a:xfrm>
          <a:prstGeom prst="rect">
            <a:avLst/>
          </a:prstGeom>
          <a:noFill/>
        </p:spPr>
        <p:txBody>
          <a:bodyPr wrap="square" lIns="0" rIns="0" tIns="0" bIns="0" anchor="t">
            <a:spAutoFit/>
          </a:bodyPr>
          <a:lstStyle/>
          <a:p>
            <a:r>
              <a:rPr sz="2200" b="0" i="0">
                <a:solidFill>
                  <a:schemeClr val="accent5"/>
                </a:solidFill>
              </a:rPr>
              <a:t>From ERA5 observations, to simple equations, to the Telly model</a:t>
            </a:r>
          </a:p>
        </p:txBody>
      </p:sp>
      <p:sp>
        <p:nvSpPr>
          <p:cNvPr id="5" name="TextBox 4"/>
          <p:cNvSpPr txBox="1"/>
          <p:nvPr/>
        </p:nvSpPr>
        <p:spPr>
          <a:xfrm>
            <a:off x="822960" y="5989320"/>
            <a:ext cx="10058400" cy="365760"/>
          </a:xfrm>
          <a:prstGeom prst="rect">
            <a:avLst/>
          </a:prstGeom>
          <a:noFill/>
        </p:spPr>
        <p:txBody>
          <a:bodyPr wrap="square" lIns="0" rIns="0" tIns="0" bIns="0" anchor="t">
            <a:spAutoFit/>
          </a:bodyPr>
          <a:lstStyle/>
          <a:p>
            <a:r>
              <a:rPr sz="1400" b="0" i="0">
                <a:solidFill>
                  <a:schemeClr val="accent5"/>
                </a:solidFill>
              </a:rPr>
              <a:t>[Presenter name] · [Course] · [Date]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777240"/>
            <a:ext cx="10817352" cy="868680"/>
          </a:xfrm>
        </p:spPr>
        <p:txBody>
          <a:bodyPr wrap="square" lIns="0" rIns="0" tIns="0" bIns="0" anchor="t"/>
          <a:lstStyle/>
          <a:p>
            <a:pPr algn="l"/>
            <a:r>
              <a:rPr sz="3600" b="1">
                <a:solidFill>
                  <a:schemeClr val="tx1"/>
                </a:solidFill>
                <a:latin typeface="+mj-lt"/>
              </a:rPr>
              <a:t>Roadmap</a:t>
            </a:r>
          </a:p>
        </p:txBody>
      </p:sp>
      <p:sp>
        <p:nvSpPr>
          <p:cNvPr id="3" name="TextBox 2"/>
          <p:cNvSpPr txBox="1"/>
          <p:nvPr/>
        </p:nvSpPr>
        <p:spPr>
          <a:xfrm>
            <a:off x="685800" y="457200"/>
            <a:ext cx="10817352" cy="274320"/>
          </a:xfrm>
          <a:prstGeom prst="rect">
            <a:avLst/>
          </a:prstGeom>
          <a:noFill/>
        </p:spPr>
        <p:txBody>
          <a:bodyPr wrap="square" lIns="0" rIns="0" tIns="0" bIns="0" anchor="t">
            <a:spAutoFit/>
          </a:bodyPr>
          <a:lstStyle/>
          <a:p>
            <a:r>
              <a:rPr sz="1200" b="1" i="0" spc="300">
                <a:solidFill>
                  <a:schemeClr val="accent1"/>
                </a:solidFill>
              </a:rPr>
              <a:t>OVERVIEW</a:t>
            </a:r>
          </a:p>
        </p:txBody>
      </p:sp>
      <p:sp>
        <p:nvSpPr>
          <p:cNvPr id="4" name="TextBox 3"/>
          <p:cNvSpPr txBox="1"/>
          <p:nvPr/>
        </p:nvSpPr>
        <p:spPr>
          <a:xfrm>
            <a:off x="685800" y="6400800"/>
            <a:ext cx="6400800" cy="274320"/>
          </a:xfrm>
          <a:prstGeom prst="rect">
            <a:avLst/>
          </a:prstGeom>
          <a:noFill/>
        </p:spPr>
        <p:txBody>
          <a:bodyPr wrap="square" lIns="0" rIns="0" tIns="0" bIns="0" anchor="t">
            <a:spAutoFit/>
          </a:bodyPr>
          <a:lstStyle/>
          <a:p>
            <a:r>
              <a:rPr sz="1000" b="0" i="0">
                <a:solidFill>
                  <a:schemeClr val="tx2"/>
                </a:solidFill>
              </a:rPr>
              <a:t>Telly · stationary Rossby waves</a:t>
            </a:r>
          </a:p>
        </p:txBody>
      </p:sp>
      <p:sp>
        <p:nvSpPr>
          <p:cNvPr id="5" name="TextBox 4"/>
          <p:cNvSpPr txBox="1"/>
          <p:nvPr/>
        </p:nvSpPr>
        <p:spPr>
          <a:xfrm>
            <a:off x="10972800" y="6400800"/>
            <a:ext cx="548640" cy="274320"/>
          </a:xfrm>
          <a:prstGeom prst="rect">
            <a:avLst/>
          </a:prstGeom>
          <a:noFill/>
        </p:spPr>
        <p:txBody>
          <a:bodyPr wrap="none" lIns="0" rIns="0" tIns="0" bIns="0">
            <a:spAutoFit/>
          </a:bodyPr>
          <a:lstStyle/>
          <a:p>
            <a:pPr algn="r"/>
            <a:fld id="{B6F15528-21DE-4FAA-801E-634DDDAF4B2B}" type="slidenum">
              <a:rPr lang="en-US" sz="1000">
                <a:solidFill>
                  <a:schemeClr val="tx2"/>
                </a:solidFill>
              </a:rPr>
              <a:t>‹#›</a:t>
            </a:fld>
          </a:p>
        </p:txBody>
      </p:sp>
      <p:sp>
        <p:nvSpPr>
          <p:cNvPr id="6" name="Rounded Rectangle 5"/>
          <p:cNvSpPr/>
          <p:nvPr/>
        </p:nvSpPr>
        <p:spPr>
          <a:xfrm>
            <a:off x="685800" y="1828800"/>
            <a:ext cx="2017166" cy="4023360"/>
          </a:xfrm>
          <a:prstGeom prst="roundRect">
            <a:avLst>
              <a:gd name="adj" fmla="val 5000"/>
            </a:avLst>
          </a:prstGeom>
          <a:solidFill>
            <a:schemeClr val="bg1"/>
          </a:solidFill>
          <a:ln w="9525">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68680" y="1965960"/>
            <a:ext cx="1651406" cy="914400"/>
          </a:xfrm>
          <a:prstGeom prst="rect">
            <a:avLst/>
          </a:prstGeom>
          <a:noFill/>
        </p:spPr>
        <p:txBody>
          <a:bodyPr wrap="square" lIns="0" rIns="0" tIns="0" bIns="0" anchor="t">
            <a:spAutoFit/>
          </a:bodyPr>
          <a:lstStyle/>
          <a:p>
            <a:r>
              <a:rPr sz="5400" b="1" i="0">
                <a:solidFill>
                  <a:schemeClr val="accent1"/>
                </a:solidFill>
                <a:latin typeface="+mj-lt"/>
              </a:rPr>
              <a:t>1</a:t>
            </a:r>
          </a:p>
        </p:txBody>
      </p:sp>
      <p:sp>
        <p:nvSpPr>
          <p:cNvPr id="8" name="TextBox 7"/>
          <p:cNvSpPr txBox="1"/>
          <p:nvPr/>
        </p:nvSpPr>
        <p:spPr>
          <a:xfrm>
            <a:off x="868680" y="4160520"/>
            <a:ext cx="1651406" cy="411480"/>
          </a:xfrm>
          <a:prstGeom prst="rect">
            <a:avLst/>
          </a:prstGeom>
          <a:noFill/>
        </p:spPr>
        <p:txBody>
          <a:bodyPr wrap="square" lIns="0" rIns="0" tIns="0" bIns="0" anchor="t">
            <a:spAutoFit/>
          </a:bodyPr>
          <a:lstStyle/>
          <a:p>
            <a:r>
              <a:rPr sz="1800" b="1" i="0">
                <a:solidFill>
                  <a:schemeClr val="tx1"/>
                </a:solidFill>
              </a:rPr>
              <a:t>Observe</a:t>
            </a:r>
          </a:p>
        </p:txBody>
      </p:sp>
      <p:sp>
        <p:nvSpPr>
          <p:cNvPr id="9" name="TextBox 8"/>
          <p:cNvSpPr txBox="1"/>
          <p:nvPr/>
        </p:nvSpPr>
        <p:spPr>
          <a:xfrm>
            <a:off x="868680" y="4617720"/>
            <a:ext cx="1651406" cy="1097280"/>
          </a:xfrm>
          <a:prstGeom prst="rect">
            <a:avLst/>
          </a:prstGeom>
          <a:noFill/>
        </p:spPr>
        <p:txBody>
          <a:bodyPr wrap="square" lIns="0" rIns="0" tIns="0" bIns="0" anchor="t">
            <a:spAutoFit/>
          </a:bodyPr>
          <a:lstStyle/>
          <a:p>
            <a:r>
              <a:rPr sz="1400" b="0" i="0">
                <a:solidFill>
                  <a:schemeClr val="tx2"/>
                </a:solidFill>
              </a:rPr>
              <a:t>What does the time-mean atmosphere look like?</a:t>
            </a:r>
          </a:p>
        </p:txBody>
      </p:sp>
      <p:sp>
        <p:nvSpPr>
          <p:cNvPr id="10" name="Rounded Rectangle 9"/>
          <p:cNvSpPr/>
          <p:nvPr/>
        </p:nvSpPr>
        <p:spPr>
          <a:xfrm>
            <a:off x="2885846" y="1828800"/>
            <a:ext cx="2017166" cy="4023360"/>
          </a:xfrm>
          <a:prstGeom prst="roundRect">
            <a:avLst>
              <a:gd name="adj" fmla="val 5000"/>
            </a:avLst>
          </a:prstGeom>
          <a:solidFill>
            <a:schemeClr val="bg1"/>
          </a:solidFill>
          <a:ln w="9525">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3068726" y="1965960"/>
            <a:ext cx="1651406" cy="914400"/>
          </a:xfrm>
          <a:prstGeom prst="rect">
            <a:avLst/>
          </a:prstGeom>
          <a:noFill/>
        </p:spPr>
        <p:txBody>
          <a:bodyPr wrap="square" lIns="0" rIns="0" tIns="0" bIns="0" anchor="t">
            <a:spAutoFit/>
          </a:bodyPr>
          <a:lstStyle/>
          <a:p>
            <a:r>
              <a:rPr sz="5400" b="1" i="0">
                <a:solidFill>
                  <a:schemeClr val="accent1"/>
                </a:solidFill>
                <a:latin typeface="+mj-lt"/>
              </a:rPr>
              <a:t>2</a:t>
            </a:r>
          </a:p>
        </p:txBody>
      </p:sp>
      <p:sp>
        <p:nvSpPr>
          <p:cNvPr id="12" name="TextBox 11"/>
          <p:cNvSpPr txBox="1"/>
          <p:nvPr/>
        </p:nvSpPr>
        <p:spPr>
          <a:xfrm>
            <a:off x="3068726" y="4160520"/>
            <a:ext cx="1651406" cy="411480"/>
          </a:xfrm>
          <a:prstGeom prst="rect">
            <a:avLst/>
          </a:prstGeom>
          <a:noFill/>
        </p:spPr>
        <p:txBody>
          <a:bodyPr wrap="square" lIns="0" rIns="0" tIns="0" bIns="0" anchor="t">
            <a:spAutoFit/>
          </a:bodyPr>
          <a:lstStyle/>
          <a:p>
            <a:r>
              <a:rPr sz="1800" b="1" i="0">
                <a:solidFill>
                  <a:schemeClr val="tx1"/>
                </a:solidFill>
              </a:rPr>
              <a:t>Understand</a:t>
            </a:r>
          </a:p>
        </p:txBody>
      </p:sp>
      <p:sp>
        <p:nvSpPr>
          <p:cNvPr id="13" name="TextBox 12"/>
          <p:cNvSpPr txBox="1"/>
          <p:nvPr/>
        </p:nvSpPr>
        <p:spPr>
          <a:xfrm>
            <a:off x="3068726" y="4617720"/>
            <a:ext cx="1651406" cy="1097280"/>
          </a:xfrm>
          <a:prstGeom prst="rect">
            <a:avLst/>
          </a:prstGeom>
          <a:noFill/>
        </p:spPr>
        <p:txBody>
          <a:bodyPr wrap="square" lIns="0" rIns="0" tIns="0" bIns="0" anchor="t">
            <a:spAutoFit/>
          </a:bodyPr>
          <a:lstStyle/>
          <a:p>
            <a:r>
              <a:rPr sz="1400" b="0" i="0">
                <a:solidFill>
                  <a:schemeClr val="tx2"/>
                </a:solidFill>
              </a:rPr>
              <a:t>Why? Simple equations from class</a:t>
            </a:r>
          </a:p>
        </p:txBody>
      </p:sp>
      <p:sp>
        <p:nvSpPr>
          <p:cNvPr id="14" name="Rounded Rectangle 13"/>
          <p:cNvSpPr/>
          <p:nvPr/>
        </p:nvSpPr>
        <p:spPr>
          <a:xfrm>
            <a:off x="5085892" y="1828800"/>
            <a:ext cx="2017166" cy="4023360"/>
          </a:xfrm>
          <a:prstGeom prst="roundRect">
            <a:avLst>
              <a:gd name="adj" fmla="val 5000"/>
            </a:avLst>
          </a:prstGeom>
          <a:solidFill>
            <a:schemeClr val="bg1"/>
          </a:solidFill>
          <a:ln w="9525">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5268772" y="1965960"/>
            <a:ext cx="1651406" cy="914400"/>
          </a:xfrm>
          <a:prstGeom prst="rect">
            <a:avLst/>
          </a:prstGeom>
          <a:noFill/>
        </p:spPr>
        <p:txBody>
          <a:bodyPr wrap="square" lIns="0" rIns="0" tIns="0" bIns="0" anchor="t">
            <a:spAutoFit/>
          </a:bodyPr>
          <a:lstStyle/>
          <a:p>
            <a:r>
              <a:rPr sz="5400" b="1" i="0">
                <a:solidFill>
                  <a:schemeClr val="accent1"/>
                </a:solidFill>
                <a:latin typeface="+mj-lt"/>
              </a:rPr>
              <a:t>3</a:t>
            </a:r>
          </a:p>
        </p:txBody>
      </p:sp>
      <p:sp>
        <p:nvSpPr>
          <p:cNvPr id="16" name="TextBox 15"/>
          <p:cNvSpPr txBox="1"/>
          <p:nvPr/>
        </p:nvSpPr>
        <p:spPr>
          <a:xfrm>
            <a:off x="5268772" y="4160520"/>
            <a:ext cx="1651406" cy="411480"/>
          </a:xfrm>
          <a:prstGeom prst="rect">
            <a:avLst/>
          </a:prstGeom>
          <a:noFill/>
        </p:spPr>
        <p:txBody>
          <a:bodyPr wrap="square" lIns="0" rIns="0" tIns="0" bIns="0" anchor="t">
            <a:spAutoFit/>
          </a:bodyPr>
          <a:lstStyle/>
          <a:p>
            <a:r>
              <a:rPr sz="1800" b="1" i="0">
                <a:solidFill>
                  <a:schemeClr val="tx1"/>
                </a:solidFill>
              </a:rPr>
              <a:t>Telly</a:t>
            </a:r>
          </a:p>
        </p:txBody>
      </p:sp>
      <p:sp>
        <p:nvSpPr>
          <p:cNvPr id="17" name="TextBox 16"/>
          <p:cNvSpPr txBox="1"/>
          <p:nvPr/>
        </p:nvSpPr>
        <p:spPr>
          <a:xfrm>
            <a:off x="5268772" y="4617720"/>
            <a:ext cx="1651406" cy="1097280"/>
          </a:xfrm>
          <a:prstGeom prst="rect">
            <a:avLst/>
          </a:prstGeom>
          <a:noFill/>
        </p:spPr>
        <p:txBody>
          <a:bodyPr wrap="square" lIns="0" rIns="0" tIns="0" bIns="0" anchor="t">
            <a:spAutoFit/>
          </a:bodyPr>
          <a:lstStyle/>
          <a:p>
            <a:r>
              <a:rPr sz="1400" b="0" i="0">
                <a:solidFill>
                  <a:schemeClr val="tx2"/>
                </a:solidFill>
              </a:rPr>
              <a:t>From the class equations to a model</a:t>
            </a:r>
          </a:p>
        </p:txBody>
      </p:sp>
      <p:sp>
        <p:nvSpPr>
          <p:cNvPr id="18" name="Rounded Rectangle 17"/>
          <p:cNvSpPr/>
          <p:nvPr/>
        </p:nvSpPr>
        <p:spPr>
          <a:xfrm>
            <a:off x="7285939" y="1828800"/>
            <a:ext cx="2017166" cy="4023360"/>
          </a:xfrm>
          <a:prstGeom prst="roundRect">
            <a:avLst>
              <a:gd name="adj" fmla="val 5000"/>
            </a:avLst>
          </a:prstGeom>
          <a:solidFill>
            <a:schemeClr val="bg1"/>
          </a:solidFill>
          <a:ln w="9525">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7468819" y="1965960"/>
            <a:ext cx="1651406" cy="914400"/>
          </a:xfrm>
          <a:prstGeom prst="rect">
            <a:avLst/>
          </a:prstGeom>
          <a:noFill/>
        </p:spPr>
        <p:txBody>
          <a:bodyPr wrap="square" lIns="0" rIns="0" tIns="0" bIns="0" anchor="t">
            <a:spAutoFit/>
          </a:bodyPr>
          <a:lstStyle/>
          <a:p>
            <a:r>
              <a:rPr sz="5400" b="1" i="0">
                <a:solidFill>
                  <a:schemeClr val="accent1"/>
                </a:solidFill>
                <a:latin typeface="+mj-lt"/>
              </a:rPr>
              <a:t>4</a:t>
            </a:r>
          </a:p>
        </p:txBody>
      </p:sp>
      <p:sp>
        <p:nvSpPr>
          <p:cNvPr id="20" name="TextBox 19"/>
          <p:cNvSpPr txBox="1"/>
          <p:nvPr/>
        </p:nvSpPr>
        <p:spPr>
          <a:xfrm>
            <a:off x="7468819" y="4160520"/>
            <a:ext cx="1651406" cy="411480"/>
          </a:xfrm>
          <a:prstGeom prst="rect">
            <a:avLst/>
          </a:prstGeom>
          <a:noFill/>
        </p:spPr>
        <p:txBody>
          <a:bodyPr wrap="square" lIns="0" rIns="0" tIns="0" bIns="0" anchor="t">
            <a:spAutoFit/>
          </a:bodyPr>
          <a:lstStyle/>
          <a:p>
            <a:r>
              <a:rPr sz="1800" b="1" i="0">
                <a:solidFill>
                  <a:schemeClr val="tx1"/>
                </a:solidFill>
              </a:rPr>
              <a:t>Experiments</a:t>
            </a:r>
          </a:p>
        </p:txBody>
      </p:sp>
      <p:sp>
        <p:nvSpPr>
          <p:cNvPr id="21" name="TextBox 20"/>
          <p:cNvSpPr txBox="1"/>
          <p:nvPr/>
        </p:nvSpPr>
        <p:spPr>
          <a:xfrm>
            <a:off x="7468819" y="4617720"/>
            <a:ext cx="1651406" cy="1097280"/>
          </a:xfrm>
          <a:prstGeom prst="rect">
            <a:avLst/>
          </a:prstGeom>
          <a:noFill/>
        </p:spPr>
        <p:txBody>
          <a:bodyPr wrap="square" lIns="0" rIns="0" tIns="0" bIns="0" anchor="t">
            <a:spAutoFit/>
          </a:bodyPr>
          <a:lstStyle/>
          <a:p>
            <a:r>
              <a:rPr sz="1400" b="0" i="0">
                <a:solidFill>
                  <a:schemeClr val="tx2"/>
                </a:solidFill>
              </a:rPr>
              <a:t>Three forcings switched on one at a time</a:t>
            </a:r>
          </a:p>
        </p:txBody>
      </p:sp>
      <p:sp>
        <p:nvSpPr>
          <p:cNvPr id="22" name="Rounded Rectangle 21"/>
          <p:cNvSpPr/>
          <p:nvPr/>
        </p:nvSpPr>
        <p:spPr>
          <a:xfrm>
            <a:off x="9485985" y="1828800"/>
            <a:ext cx="2017166" cy="4023360"/>
          </a:xfrm>
          <a:prstGeom prst="roundRect">
            <a:avLst>
              <a:gd name="adj" fmla="val 5000"/>
            </a:avLst>
          </a:prstGeom>
          <a:solidFill>
            <a:schemeClr val="bg1"/>
          </a:solidFill>
          <a:ln w="9525">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9668865" y="1965960"/>
            <a:ext cx="1651406" cy="914400"/>
          </a:xfrm>
          <a:prstGeom prst="rect">
            <a:avLst/>
          </a:prstGeom>
          <a:noFill/>
        </p:spPr>
        <p:txBody>
          <a:bodyPr wrap="square" lIns="0" rIns="0" tIns="0" bIns="0" anchor="t">
            <a:spAutoFit/>
          </a:bodyPr>
          <a:lstStyle/>
          <a:p>
            <a:r>
              <a:rPr sz="5400" b="1" i="0">
                <a:solidFill>
                  <a:schemeClr val="accent1"/>
                </a:solidFill>
                <a:latin typeface="+mj-lt"/>
              </a:rPr>
              <a:t>5</a:t>
            </a:r>
          </a:p>
        </p:txBody>
      </p:sp>
      <p:sp>
        <p:nvSpPr>
          <p:cNvPr id="24" name="TextBox 23"/>
          <p:cNvSpPr txBox="1"/>
          <p:nvPr/>
        </p:nvSpPr>
        <p:spPr>
          <a:xfrm>
            <a:off x="9668865" y="4160520"/>
            <a:ext cx="1651406" cy="411480"/>
          </a:xfrm>
          <a:prstGeom prst="rect">
            <a:avLst/>
          </a:prstGeom>
          <a:noFill/>
        </p:spPr>
        <p:txBody>
          <a:bodyPr wrap="square" lIns="0" rIns="0" tIns="0" bIns="0" anchor="t">
            <a:spAutoFit/>
          </a:bodyPr>
          <a:lstStyle/>
          <a:p>
            <a:r>
              <a:rPr sz="1800" b="1" i="0">
                <a:solidFill>
                  <a:schemeClr val="tx1"/>
                </a:solidFill>
              </a:rPr>
              <a:t>Results</a:t>
            </a:r>
          </a:p>
        </p:txBody>
      </p:sp>
      <p:sp>
        <p:nvSpPr>
          <p:cNvPr id="25" name="TextBox 24"/>
          <p:cNvSpPr txBox="1"/>
          <p:nvPr/>
        </p:nvSpPr>
        <p:spPr>
          <a:xfrm>
            <a:off x="9668865" y="4617720"/>
            <a:ext cx="1651406" cy="1097280"/>
          </a:xfrm>
          <a:prstGeom prst="rect">
            <a:avLst/>
          </a:prstGeom>
          <a:noFill/>
        </p:spPr>
        <p:txBody>
          <a:bodyPr wrap="square" lIns="0" rIns="0" tIns="0" bIns="0" anchor="t">
            <a:spAutoFit/>
          </a:bodyPr>
          <a:lstStyle/>
          <a:p>
            <a:r>
              <a:rPr sz="1400" b="0" i="0">
                <a:solidFill>
                  <a:schemeClr val="tx2"/>
                </a:solidFill>
              </a:rPr>
              <a:t>What each forcing does to the pattern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chemeClr val="tx1"/>
        </a:solidFill>
        <a:effectLst/>
      </p:bgPr>
    </p:bg>
    <p:spTree>
      <p:nvGrpSpPr>
        <p:cNvPr id="1" name=""/>
        <p:cNvGrpSpPr/>
        <p:nvPr/>
      </p:nvGrpSpPr>
      <p:grpSpPr/>
      <p:sp>
        <p:nvSpPr>
          <p:cNvPr id="2" name="Title 1"/>
          <p:cNvSpPr>
            <a:spLocks noGrp="1"/>
          </p:cNvSpPr>
          <p:nvPr>
            <p:ph type="title"/>
          </p:nvPr>
        </p:nvSpPr>
        <p:spPr>
          <a:xfrm>
            <a:off x="822960" y="3657600"/>
            <a:ext cx="10515600" cy="1097280"/>
          </a:xfrm>
        </p:spPr>
        <p:txBody>
          <a:bodyPr wrap="square" lIns="0" rIns="0" tIns="0" bIns="0" anchor="t"/>
          <a:lstStyle/>
          <a:p>
            <a:pPr algn="l"/>
            <a:r>
              <a:rPr sz="6000" b="1">
                <a:solidFill>
                  <a:schemeClr val="bg2"/>
                </a:solidFill>
                <a:latin typeface="+mj-lt"/>
              </a:rPr>
              <a:t>Observations</a:t>
            </a:r>
          </a:p>
        </p:txBody>
      </p:sp>
      <p:sp>
        <p:nvSpPr>
          <p:cNvPr id="3" name="TextBox 2"/>
          <p:cNvSpPr txBox="1"/>
          <p:nvPr/>
        </p:nvSpPr>
        <p:spPr>
          <a:xfrm>
            <a:off x="822960" y="3246120"/>
            <a:ext cx="10058400" cy="365760"/>
          </a:xfrm>
          <a:prstGeom prst="rect">
            <a:avLst/>
          </a:prstGeom>
          <a:noFill/>
        </p:spPr>
        <p:txBody>
          <a:bodyPr wrap="square" lIns="0" rIns="0" tIns="0" bIns="0" anchor="t">
            <a:spAutoFit/>
          </a:bodyPr>
          <a:lstStyle/>
          <a:p>
            <a:r>
              <a:rPr sz="1400" b="1" i="0" spc="400">
                <a:solidFill>
                  <a:schemeClr val="accent4"/>
                </a:solidFill>
              </a:rPr>
              <a:t>PART 1</a:t>
            </a:r>
          </a:p>
        </p:txBody>
      </p:sp>
      <p:sp>
        <p:nvSpPr>
          <p:cNvPr id="4" name="TextBox 3"/>
          <p:cNvSpPr txBox="1"/>
          <p:nvPr/>
        </p:nvSpPr>
        <p:spPr>
          <a:xfrm>
            <a:off x="822960" y="4892040"/>
            <a:ext cx="10058400" cy="548640"/>
          </a:xfrm>
          <a:prstGeom prst="rect">
            <a:avLst/>
          </a:prstGeom>
          <a:noFill/>
        </p:spPr>
        <p:txBody>
          <a:bodyPr wrap="square" lIns="0" rIns="0" tIns="0" bIns="0" anchor="t">
            <a:spAutoFit/>
          </a:bodyPr>
          <a:lstStyle/>
          <a:p>
            <a:r>
              <a:rPr sz="2200" b="0" i="0">
                <a:solidFill>
                  <a:schemeClr val="accent5"/>
                </a:solidFill>
              </a:rPr>
              <a:t>What does the time-mean atmosphere look like?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777240"/>
            <a:ext cx="10817352" cy="868680"/>
          </a:xfrm>
        </p:spPr>
        <p:txBody>
          <a:bodyPr wrap="square" lIns="0" rIns="0" tIns="0" bIns="0" anchor="t"/>
          <a:lstStyle/>
          <a:p>
            <a:pPr algn="l"/>
            <a:r>
              <a:rPr sz="3600" b="1">
                <a:solidFill>
                  <a:schemeClr val="tx1"/>
                </a:solidFill>
                <a:latin typeface="+mj-lt"/>
              </a:rPr>
              <a:t>ERA5: Time-Mean 500 hPa Height</a:t>
            </a:r>
          </a:p>
        </p:txBody>
      </p:sp>
      <p:sp>
        <p:nvSpPr>
          <p:cNvPr id="3" name="TextBox 2"/>
          <p:cNvSpPr txBox="1"/>
          <p:nvPr/>
        </p:nvSpPr>
        <p:spPr>
          <a:xfrm>
            <a:off x="685800" y="457200"/>
            <a:ext cx="10817352" cy="274320"/>
          </a:xfrm>
          <a:prstGeom prst="rect">
            <a:avLst/>
          </a:prstGeom>
          <a:noFill/>
        </p:spPr>
        <p:txBody>
          <a:bodyPr wrap="square" lIns="0" rIns="0" tIns="0" bIns="0" anchor="t">
            <a:spAutoFit/>
          </a:bodyPr>
          <a:lstStyle/>
          <a:p>
            <a:r>
              <a:rPr sz="1200" b="1" i="0" spc="300">
                <a:solidFill>
                  <a:schemeClr val="accent1"/>
                </a:solidFill>
              </a:rPr>
              <a:t>PART 1 · OBSERVATIONS</a:t>
            </a:r>
          </a:p>
        </p:txBody>
      </p:sp>
      <p:sp>
        <p:nvSpPr>
          <p:cNvPr id="4" name="TextBox 3"/>
          <p:cNvSpPr txBox="1"/>
          <p:nvPr/>
        </p:nvSpPr>
        <p:spPr>
          <a:xfrm>
            <a:off x="685800" y="6400800"/>
            <a:ext cx="6400800" cy="274320"/>
          </a:xfrm>
          <a:prstGeom prst="rect">
            <a:avLst/>
          </a:prstGeom>
          <a:noFill/>
        </p:spPr>
        <p:txBody>
          <a:bodyPr wrap="square" lIns="0" rIns="0" tIns="0" bIns="0" anchor="t">
            <a:spAutoFit/>
          </a:bodyPr>
          <a:lstStyle/>
          <a:p>
            <a:r>
              <a:rPr sz="1000" b="0" i="0">
                <a:solidFill>
                  <a:schemeClr val="tx2"/>
                </a:solidFill>
              </a:rPr>
              <a:t>Telly · stationary Rossby waves</a:t>
            </a:r>
          </a:p>
        </p:txBody>
      </p:sp>
      <p:sp>
        <p:nvSpPr>
          <p:cNvPr id="5" name="TextBox 4"/>
          <p:cNvSpPr txBox="1"/>
          <p:nvPr/>
        </p:nvSpPr>
        <p:spPr>
          <a:xfrm>
            <a:off x="10972800" y="6400800"/>
            <a:ext cx="548640" cy="274320"/>
          </a:xfrm>
          <a:prstGeom prst="rect">
            <a:avLst/>
          </a:prstGeom>
          <a:noFill/>
        </p:spPr>
        <p:txBody>
          <a:bodyPr wrap="none" lIns="0" rIns="0" tIns="0" bIns="0">
            <a:spAutoFit/>
          </a:bodyPr>
          <a:lstStyle/>
          <a:p>
            <a:pPr algn="r"/>
            <a:fld id="{B6F15528-21DE-4FAA-801E-634DDDAF4B2B}" type="slidenum">
              <a:rPr lang="en-US" sz="1000">
                <a:solidFill>
                  <a:schemeClr val="tx2"/>
                </a:solidFill>
              </a:rPr>
              <a:t>‹#›</a:t>
            </a:fld>
          </a:p>
        </p:txBody>
      </p:sp>
      <p:sp>
        <p:nvSpPr>
          <p:cNvPr id="6" name="TextBox 5"/>
          <p:cNvSpPr txBox="1"/>
          <p:nvPr/>
        </p:nvSpPr>
        <p:spPr>
          <a:xfrm>
            <a:off x="685800" y="6053328"/>
            <a:ext cx="10058400" cy="274320"/>
          </a:xfrm>
          <a:prstGeom prst="rect">
            <a:avLst/>
          </a:prstGeom>
          <a:noFill/>
        </p:spPr>
        <p:txBody>
          <a:bodyPr wrap="square" lIns="0" rIns="0" tIns="0" bIns="0" anchor="t">
            <a:spAutoFit/>
          </a:bodyPr>
          <a:lstStyle/>
          <a:p>
            <a:r>
              <a:rPr sz="1100" b="0" i="0">
                <a:solidFill>
                  <a:schemeClr val="tx2"/>
                </a:solidFill>
              </a:rPr>
              <a:t>ERA5 daily 500 hPa height, 1940–2024: the time mean minus its zonal mean (class notebook)</a:t>
            </a:r>
          </a:p>
        </p:txBody>
      </p:sp>
      <p:pic>
        <p:nvPicPr>
          <p:cNvPr id="7" name="Picture 6" descr="Map of the ERA5 time-mean 500 hPa height with the zonal mean removed, 1940 to 2024: highs and lows of 100 m or more over the North Pacific, North America, Europe, East Asia and the Southern Ocean"/>
          <p:cNvPicPr>
            <a:picLocks noChangeAspect="1"/>
          </p:cNvPicPr>
          <p:nvPr/>
        </p:nvPicPr>
        <p:blipFill>
          <a:blip r:embed="rId2"/>
          <a:stretch>
            <a:fillRect/>
          </a:stretch>
        </p:blipFill>
        <p:spPr>
          <a:xfrm>
            <a:off x="685800" y="1783080"/>
            <a:ext cx="6583680" cy="3314700"/>
          </a:xfrm>
          <a:prstGeom prst="rect">
            <a:avLst/>
          </a:prstGeom>
        </p:spPr>
      </p:pic>
      <p:sp>
        <p:nvSpPr>
          <p:cNvPr id="8" name="TextBox 7"/>
          <p:cNvSpPr txBox="1"/>
          <p:nvPr/>
        </p:nvSpPr>
        <p:spPr>
          <a:xfrm>
            <a:off x="7543800" y="1783080"/>
            <a:ext cx="3959352" cy="457200"/>
          </a:xfrm>
          <a:prstGeom prst="rect">
            <a:avLst/>
          </a:prstGeom>
          <a:noFill/>
        </p:spPr>
        <p:txBody>
          <a:bodyPr wrap="square" lIns="0" rIns="0" tIns="0" bIns="0" anchor="t">
            <a:spAutoFit/>
          </a:bodyPr>
          <a:lstStyle/>
          <a:p>
            <a:r>
              <a:rPr sz="2200" b="1" i="0">
                <a:solidFill>
                  <a:schemeClr val="accent1"/>
                </a:solidFill>
              </a:rPr>
              <a:t>What do you see?</a:t>
            </a:r>
          </a:p>
        </p:txBody>
      </p:sp>
      <p:sp>
        <p:nvSpPr>
          <p:cNvPr id="9" name="TextBox 8"/>
          <p:cNvSpPr txBox="1"/>
          <p:nvPr/>
        </p:nvSpPr>
        <p:spPr>
          <a:xfrm>
            <a:off x="7543800" y="2377440"/>
            <a:ext cx="3959352" cy="3291840"/>
          </a:xfrm>
          <a:prstGeom prst="rect">
            <a:avLst/>
          </a:prstGeom>
          <a:noFill/>
        </p:spPr>
        <p:txBody>
          <a:bodyPr wrap="square" lIns="0" rIns="0" tIns="0" bIns="0" anchor="t">
            <a:spAutoFit/>
          </a:bodyPr>
          <a:lstStyle/>
          <a:p>
            <a:pPr marL="285750" indent="-285750">
              <a:spcAft>
                <a:spcPts val="1000"/>
              </a:spcAft>
              <a:buChar char="•"/>
            </a:pPr>
            <a:r>
              <a:rPr sz="1600" b="0" i="0">
                <a:solidFill>
                  <a:schemeClr val="tx1"/>
                </a:solidFill>
              </a:rPr>
              <a:t>The zonal mean has been removed: a zonally symmetric atmosphere would give a blank map</a:t>
            </a:r>
          </a:p>
          <a:p>
            <a:pPr marL="285750" indent="-285750">
              <a:spcAft>
                <a:spcPts val="1000"/>
              </a:spcAft>
              <a:buChar char="•"/>
            </a:pPr>
            <a:r>
              <a:rPr sz="1600" b="0" i="0">
                <a:solidFill>
                  <a:schemeClr val="tx1"/>
                </a:solidFill>
              </a:rPr>
              <a:t>Highs and lows of 100 m or more remain</a:t>
            </a:r>
          </a:p>
          <a:p>
            <a:pPr marL="285750" indent="-285750">
              <a:spcAft>
                <a:spcPts val="1000"/>
              </a:spcAft>
              <a:buChar char="•"/>
            </a:pPr>
            <a:r>
              <a:rPr sz="1600" b="0" i="0">
                <a:solidFill>
                  <a:schemeClr val="tx1"/>
                </a:solidFill>
              </a:rPr>
              <a:t>They stay at the same places in the time mean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777240"/>
            <a:ext cx="10817352" cy="868680"/>
          </a:xfrm>
        </p:spPr>
        <p:txBody>
          <a:bodyPr wrap="square" lIns="0" rIns="0" tIns="0" bIns="0" anchor="t"/>
          <a:lstStyle/>
          <a:p>
            <a:pPr algn="l"/>
            <a:r>
              <a:rPr sz="3600" b="1">
                <a:solidFill>
                  <a:schemeClr val="tx1"/>
                </a:solidFill>
                <a:latin typeface="+mj-lt"/>
              </a:rPr>
              <a:t>How Many Waves Fit Around the Globe?</a:t>
            </a:r>
          </a:p>
        </p:txBody>
      </p:sp>
      <p:sp>
        <p:nvSpPr>
          <p:cNvPr id="3" name="TextBox 2"/>
          <p:cNvSpPr txBox="1"/>
          <p:nvPr/>
        </p:nvSpPr>
        <p:spPr>
          <a:xfrm>
            <a:off x="685800" y="457200"/>
            <a:ext cx="10817352" cy="274320"/>
          </a:xfrm>
          <a:prstGeom prst="rect">
            <a:avLst/>
          </a:prstGeom>
          <a:noFill/>
        </p:spPr>
        <p:txBody>
          <a:bodyPr wrap="square" lIns="0" rIns="0" tIns="0" bIns="0" anchor="t">
            <a:spAutoFit/>
          </a:bodyPr>
          <a:lstStyle/>
          <a:p>
            <a:r>
              <a:rPr sz="1200" b="1" i="0" spc="300">
                <a:solidFill>
                  <a:schemeClr val="accent1"/>
                </a:solidFill>
              </a:rPr>
              <a:t>PART 1 · OBSERVATIONS</a:t>
            </a:r>
          </a:p>
        </p:txBody>
      </p:sp>
      <p:sp>
        <p:nvSpPr>
          <p:cNvPr id="4" name="TextBox 3"/>
          <p:cNvSpPr txBox="1"/>
          <p:nvPr/>
        </p:nvSpPr>
        <p:spPr>
          <a:xfrm>
            <a:off x="685800" y="6400800"/>
            <a:ext cx="6400800" cy="274320"/>
          </a:xfrm>
          <a:prstGeom prst="rect">
            <a:avLst/>
          </a:prstGeom>
          <a:noFill/>
        </p:spPr>
        <p:txBody>
          <a:bodyPr wrap="square" lIns="0" rIns="0" tIns="0" bIns="0" anchor="t">
            <a:spAutoFit/>
          </a:bodyPr>
          <a:lstStyle/>
          <a:p>
            <a:r>
              <a:rPr sz="1000" b="0" i="0">
                <a:solidFill>
                  <a:schemeClr val="tx2"/>
                </a:solidFill>
              </a:rPr>
              <a:t>Telly · stationary Rossby waves</a:t>
            </a:r>
          </a:p>
        </p:txBody>
      </p:sp>
      <p:sp>
        <p:nvSpPr>
          <p:cNvPr id="5" name="TextBox 4"/>
          <p:cNvSpPr txBox="1"/>
          <p:nvPr/>
        </p:nvSpPr>
        <p:spPr>
          <a:xfrm>
            <a:off x="10972800" y="6400800"/>
            <a:ext cx="548640" cy="274320"/>
          </a:xfrm>
          <a:prstGeom prst="rect">
            <a:avLst/>
          </a:prstGeom>
          <a:noFill/>
        </p:spPr>
        <p:txBody>
          <a:bodyPr wrap="none" lIns="0" rIns="0" tIns="0" bIns="0">
            <a:spAutoFit/>
          </a:bodyPr>
          <a:lstStyle/>
          <a:p>
            <a:pPr algn="r"/>
            <a:fld id="{B6F15528-21DE-4FAA-801E-634DDDAF4B2B}" type="slidenum">
              <a:rPr lang="en-US" sz="1000">
                <a:solidFill>
                  <a:schemeClr val="tx2"/>
                </a:solidFill>
              </a:rPr>
              <a:t>‹#›</a:t>
            </a:fld>
          </a:p>
        </p:txBody>
      </p:sp>
      <p:sp>
        <p:nvSpPr>
          <p:cNvPr id="6" name="TextBox 5"/>
          <p:cNvSpPr txBox="1"/>
          <p:nvPr/>
        </p:nvSpPr>
        <p:spPr>
          <a:xfrm>
            <a:off x="685800" y="6053328"/>
            <a:ext cx="10058400" cy="274320"/>
          </a:xfrm>
          <a:prstGeom prst="rect">
            <a:avLst/>
          </a:prstGeom>
          <a:noFill/>
        </p:spPr>
        <p:txBody>
          <a:bodyPr wrap="square" lIns="0" rIns="0" tIns="0" bIns="0" anchor="t">
            <a:spAutoFit/>
          </a:bodyPr>
          <a:lstStyle/>
          <a:p>
            <a:r>
              <a:rPr sz="1100" b="0" i="0">
                <a:solidFill>
                  <a:schemeClr val="tx2"/>
                </a:solidFill>
              </a:rPr>
              <a:t>ERA5 daily 500 hPa height, 1940–2024: time mean minus zonal mean</a:t>
            </a:r>
          </a:p>
        </p:txBody>
      </p:sp>
      <p:pic>
        <p:nvPicPr>
          <p:cNvPr id="7" name="Picture 6" descr="ERA5 time-mean 500 hPa height departure from the zonal mean with a dashed band along 50 to 60 degrees north, marked with two highs and two lows, and below it the height along that band plotted against longitude, with the same two highs and two lows"/>
          <p:cNvPicPr>
            <a:picLocks noChangeAspect="1"/>
          </p:cNvPicPr>
          <p:nvPr/>
        </p:nvPicPr>
        <p:blipFill>
          <a:blip r:embed="rId2"/>
          <a:stretch>
            <a:fillRect/>
          </a:stretch>
        </p:blipFill>
        <p:spPr>
          <a:xfrm>
            <a:off x="685800" y="1783080"/>
            <a:ext cx="7040880" cy="4197447"/>
          </a:xfrm>
          <a:prstGeom prst="rect">
            <a:avLst/>
          </a:prstGeom>
        </p:spPr>
      </p:pic>
      <p:sp>
        <p:nvSpPr>
          <p:cNvPr id="8" name="TextBox 7"/>
          <p:cNvSpPr txBox="1"/>
          <p:nvPr/>
        </p:nvSpPr>
        <p:spPr>
          <a:xfrm>
            <a:off x="7909560" y="1783080"/>
            <a:ext cx="3566160" cy="274320"/>
          </a:xfrm>
          <a:prstGeom prst="rect">
            <a:avLst/>
          </a:prstGeom>
          <a:noFill/>
        </p:spPr>
        <p:txBody>
          <a:bodyPr wrap="square" lIns="0" rIns="0" tIns="0" bIns="0" anchor="t">
            <a:spAutoFit/>
          </a:bodyPr>
          <a:lstStyle/>
          <a:p>
            <a:r>
              <a:rPr sz="1300" b="1" i="0">
                <a:solidFill>
                  <a:schemeClr val="accent1"/>
                </a:solidFill>
              </a:rPr>
              <a:t>Count the highs and lows</a:t>
            </a:r>
          </a:p>
        </p:txBody>
      </p:sp>
      <p:sp>
        <p:nvSpPr>
          <p:cNvPr id="9" name="TextBox 8"/>
          <p:cNvSpPr txBox="1"/>
          <p:nvPr/>
        </p:nvSpPr>
        <p:spPr>
          <a:xfrm>
            <a:off x="7909560" y="2103120"/>
            <a:ext cx="3566160" cy="822960"/>
          </a:xfrm>
          <a:prstGeom prst="rect">
            <a:avLst/>
          </a:prstGeom>
          <a:noFill/>
        </p:spPr>
        <p:txBody>
          <a:bodyPr wrap="square" lIns="0" rIns="0" tIns="0" bIns="0" anchor="t">
            <a:spAutoFit/>
          </a:bodyPr>
          <a:lstStyle/>
          <a:p>
            <a:r>
              <a:rPr sz="1400" b="0" i="0">
                <a:solidFill>
                  <a:schemeClr val="tx1"/>
                </a:solidFill>
              </a:rPr>
              <a:t>Follow the dashed band once around the globe: 2 highs (H) and 2 lows (L).</a:t>
            </a:r>
          </a:p>
        </p:txBody>
      </p:sp>
      <p:sp>
        <p:nvSpPr>
          <p:cNvPr id="10" name="TextBox 9"/>
          <p:cNvSpPr txBox="1"/>
          <p:nvPr/>
        </p:nvSpPr>
        <p:spPr>
          <a:xfrm>
            <a:off x="7909560" y="3017520"/>
            <a:ext cx="3566160" cy="274320"/>
          </a:xfrm>
          <a:prstGeom prst="rect">
            <a:avLst/>
          </a:prstGeom>
          <a:noFill/>
        </p:spPr>
        <p:txBody>
          <a:bodyPr wrap="square" lIns="0" rIns="0" tIns="0" bIns="0" anchor="t">
            <a:spAutoFit/>
          </a:bodyPr>
          <a:lstStyle/>
          <a:p>
            <a:r>
              <a:rPr sz="1300" b="1" i="0">
                <a:solidFill>
                  <a:schemeClr val="accent1"/>
                </a:solidFill>
              </a:rPr>
              <a:t>So about 2 waves</a:t>
            </a:r>
          </a:p>
        </p:txBody>
      </p:sp>
      <p:sp>
        <p:nvSpPr>
          <p:cNvPr id="11" name="TextBox 10"/>
          <p:cNvSpPr txBox="1"/>
          <p:nvPr/>
        </p:nvSpPr>
        <p:spPr>
          <a:xfrm>
            <a:off x="7909560" y="3337560"/>
            <a:ext cx="3566160" cy="822960"/>
          </a:xfrm>
          <a:prstGeom prst="rect">
            <a:avLst/>
          </a:prstGeom>
          <a:noFill/>
        </p:spPr>
        <p:txBody>
          <a:bodyPr wrap="square" lIns="0" rIns="0" tIns="0" bIns="0" anchor="t">
            <a:spAutoFit/>
          </a:bodyPr>
          <a:lstStyle/>
          <a:p>
            <a:r>
              <a:rPr sz="1400" b="0" i="0">
                <a:solidFill>
                  <a:schemeClr val="tx1"/>
                </a:solidFill>
              </a:rPr>
              <a:t>Their sizes and spacing are uneven, so waves 1 and 3 are present too.</a:t>
            </a:r>
          </a:p>
        </p:txBody>
      </p:sp>
      <p:sp>
        <p:nvSpPr>
          <p:cNvPr id="12" name="Rounded Rectangle 11"/>
          <p:cNvSpPr/>
          <p:nvPr/>
        </p:nvSpPr>
        <p:spPr>
          <a:xfrm>
            <a:off x="7909560" y="4297680"/>
            <a:ext cx="3566160" cy="1554480"/>
          </a:xfrm>
          <a:prstGeom prst="roundRect">
            <a:avLst>
              <a:gd name="adj" fmla="val 5000"/>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92440" y="4407408"/>
            <a:ext cx="3200400" cy="274320"/>
          </a:xfrm>
          <a:prstGeom prst="rect">
            <a:avLst/>
          </a:prstGeom>
          <a:noFill/>
        </p:spPr>
        <p:txBody>
          <a:bodyPr wrap="square" lIns="0" rIns="0" tIns="0" bIns="0" anchor="t">
            <a:spAutoFit/>
          </a:bodyPr>
          <a:lstStyle/>
          <a:p>
            <a:r>
              <a:rPr sz="1100" b="1" i="0" spc="300">
                <a:solidFill>
                  <a:schemeClr val="accent4"/>
                </a:solidFill>
              </a:rPr>
              <a:t>IN WAVENUMBERS</a:t>
            </a:r>
          </a:p>
        </p:txBody>
      </p:sp>
      <p:sp>
        <p:nvSpPr>
          <p:cNvPr id="14" name="TextBox 13"/>
          <p:cNvSpPr txBox="1"/>
          <p:nvPr/>
        </p:nvSpPr>
        <p:spPr>
          <a:xfrm>
            <a:off x="8092440" y="4709160"/>
            <a:ext cx="3200400" cy="1097280"/>
          </a:xfrm>
          <a:prstGeom prst="rect">
            <a:avLst/>
          </a:prstGeom>
          <a:noFill/>
        </p:spPr>
        <p:txBody>
          <a:bodyPr wrap="square" lIns="0" rIns="0" tIns="0" bIns="0" anchor="t">
            <a:spAutoFit/>
          </a:bodyPr>
          <a:lstStyle/>
          <a:p>
            <a:r>
              <a:rPr sz="1400" b="0" i="0">
                <a:solidFill>
                  <a:schemeClr val="bg2"/>
                </a:solidFill>
              </a:rPr>
              <a:t>2 waves around 55°N is a wavelength of about 11,500 km: k ≈ 5 × 10⁻⁷ per metre.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chemeClr val="tx1"/>
        </a:solidFill>
        <a:effectLst/>
      </p:bgPr>
    </p:bg>
    <p:spTree>
      <p:nvGrpSpPr>
        <p:cNvPr id="1" name=""/>
        <p:cNvGrpSpPr/>
        <p:nvPr/>
      </p:nvGrpSpPr>
      <p:grpSpPr/>
      <p:sp>
        <p:nvSpPr>
          <p:cNvPr id="2" name="Title 1"/>
          <p:cNvSpPr>
            <a:spLocks noGrp="1"/>
          </p:cNvSpPr>
          <p:nvPr>
            <p:ph type="title"/>
          </p:nvPr>
        </p:nvSpPr>
        <p:spPr>
          <a:xfrm>
            <a:off x="822960" y="1783080"/>
            <a:ext cx="9875520" cy="2651760"/>
          </a:xfrm>
        </p:spPr>
        <p:txBody>
          <a:bodyPr wrap="square" lIns="0" rIns="0" tIns="0" bIns="0" anchor="t"/>
          <a:lstStyle/>
          <a:p>
            <a:pPr algn="l"/>
            <a:r>
              <a:rPr sz="4400" b="1">
                <a:solidFill>
                  <a:schemeClr val="bg2"/>
                </a:solidFill>
                <a:latin typeface="+mj-lt"/>
              </a:rPr>
              <a:t>Why is the time-mean atmosphere not the same at every longitude?</a:t>
            </a:r>
          </a:p>
        </p:txBody>
      </p:sp>
      <p:sp>
        <p:nvSpPr>
          <p:cNvPr id="3" name="TextBox 2"/>
          <p:cNvSpPr txBox="1"/>
          <p:nvPr/>
        </p:nvSpPr>
        <p:spPr>
          <a:xfrm>
            <a:off x="822960" y="1188720"/>
            <a:ext cx="10058400" cy="365760"/>
          </a:xfrm>
          <a:prstGeom prst="rect">
            <a:avLst/>
          </a:prstGeom>
          <a:noFill/>
        </p:spPr>
        <p:txBody>
          <a:bodyPr wrap="square" lIns="0" rIns="0" tIns="0" bIns="0" anchor="t">
            <a:spAutoFit/>
          </a:bodyPr>
          <a:lstStyle/>
          <a:p>
            <a:r>
              <a:rPr sz="1400" b="1" i="0" spc="400">
                <a:solidFill>
                  <a:schemeClr val="accent4"/>
                </a:solidFill>
              </a:rPr>
              <a:t>A QUESTION FOR THE CLASS</a:t>
            </a:r>
          </a:p>
        </p:txBody>
      </p:sp>
      <p:sp>
        <p:nvSpPr>
          <p:cNvPr id="4" name="TextBox 3"/>
          <p:cNvSpPr txBox="1"/>
          <p:nvPr/>
        </p:nvSpPr>
        <p:spPr>
          <a:xfrm>
            <a:off x="822960" y="4754880"/>
            <a:ext cx="8961120" cy="1097280"/>
          </a:xfrm>
          <a:prstGeom prst="rect">
            <a:avLst/>
          </a:prstGeom>
          <a:noFill/>
        </p:spPr>
        <p:txBody>
          <a:bodyPr wrap="square" lIns="0" rIns="0" tIns="0" bIns="0" anchor="t">
            <a:spAutoFit/>
          </a:bodyPr>
          <a:lstStyle/>
          <a:p>
            <a:r>
              <a:rPr sz="2000" b="0" i="0">
                <a:solidFill>
                  <a:schemeClr val="accent5"/>
                </a:solidFill>
              </a:rPr>
              <a:t>We will look for the answer with a hierarchy of models: simple equations first, then Telly.</a:t>
            </a:r>
          </a:p>
        </p:txBody>
      </p:sp>
      <p:sp>
        <p:nvSpPr>
          <p:cNvPr id="5" name="TextBox 4"/>
          <p:cNvSpPr txBox="1"/>
          <p:nvPr/>
        </p:nvSpPr>
        <p:spPr>
          <a:xfrm>
            <a:off x="685800" y="6400800"/>
            <a:ext cx="6400800" cy="274320"/>
          </a:xfrm>
          <a:prstGeom prst="rect">
            <a:avLst/>
          </a:prstGeom>
          <a:noFill/>
        </p:spPr>
        <p:txBody>
          <a:bodyPr wrap="square" lIns="0" rIns="0" tIns="0" bIns="0" anchor="t">
            <a:spAutoFit/>
          </a:bodyPr>
          <a:lstStyle/>
          <a:p>
            <a:r>
              <a:rPr sz="1000" b="0" i="0">
                <a:solidFill>
                  <a:schemeClr val="accent5"/>
                </a:solidFill>
              </a:rPr>
              <a:t>Telly · stationary Rossby waves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chemeClr val="tx1"/>
        </a:solidFill>
        <a:effectLst/>
      </p:bgPr>
    </p:bg>
    <p:spTree>
      <p:nvGrpSpPr>
        <p:cNvPr id="1" name=""/>
        <p:cNvGrpSpPr/>
        <p:nvPr/>
      </p:nvGrpSpPr>
      <p:grpSpPr/>
      <p:sp>
        <p:nvSpPr>
          <p:cNvPr id="2" name="Title 1"/>
          <p:cNvSpPr>
            <a:spLocks noGrp="1"/>
          </p:cNvSpPr>
          <p:nvPr>
            <p:ph type="title"/>
          </p:nvPr>
        </p:nvSpPr>
        <p:spPr>
          <a:xfrm>
            <a:off x="822960" y="3657600"/>
            <a:ext cx="10515600" cy="1097280"/>
          </a:xfrm>
        </p:spPr>
        <p:txBody>
          <a:bodyPr wrap="square" lIns="0" rIns="0" tIns="0" bIns="0" anchor="t"/>
          <a:lstStyle/>
          <a:p>
            <a:pPr algn="l"/>
            <a:r>
              <a:rPr sz="6000" b="1">
                <a:solidFill>
                  <a:schemeClr val="bg2"/>
                </a:solidFill>
                <a:latin typeface="+mj-lt"/>
              </a:rPr>
              <a:t>Simple Equations</a:t>
            </a:r>
          </a:p>
        </p:txBody>
      </p:sp>
      <p:sp>
        <p:nvSpPr>
          <p:cNvPr id="3" name="TextBox 2"/>
          <p:cNvSpPr txBox="1"/>
          <p:nvPr/>
        </p:nvSpPr>
        <p:spPr>
          <a:xfrm>
            <a:off x="822960" y="3246120"/>
            <a:ext cx="10058400" cy="365760"/>
          </a:xfrm>
          <a:prstGeom prst="rect">
            <a:avLst/>
          </a:prstGeom>
          <a:noFill/>
        </p:spPr>
        <p:txBody>
          <a:bodyPr wrap="square" lIns="0" rIns="0" tIns="0" bIns="0" anchor="t">
            <a:spAutoFit/>
          </a:bodyPr>
          <a:lstStyle/>
          <a:p>
            <a:r>
              <a:rPr sz="1400" b="1" i="0" spc="400">
                <a:solidFill>
                  <a:schemeClr val="accent4"/>
                </a:solidFill>
              </a:rPr>
              <a:t>PART 2</a:t>
            </a:r>
          </a:p>
        </p:txBody>
      </p:sp>
      <p:sp>
        <p:nvSpPr>
          <p:cNvPr id="4" name="TextBox 3"/>
          <p:cNvSpPr txBox="1"/>
          <p:nvPr/>
        </p:nvSpPr>
        <p:spPr>
          <a:xfrm>
            <a:off x="822960" y="4892040"/>
            <a:ext cx="10058400" cy="548640"/>
          </a:xfrm>
          <a:prstGeom prst="rect">
            <a:avLst/>
          </a:prstGeom>
          <a:noFill/>
        </p:spPr>
        <p:txBody>
          <a:bodyPr wrap="square" lIns="0" rIns="0" tIns="0" bIns="0" anchor="t">
            <a:spAutoFit/>
          </a:bodyPr>
          <a:lstStyle/>
          <a:p>
            <a:r>
              <a:rPr sz="2200" b="0" i="0">
                <a:solidFill>
                  <a:schemeClr val="accent5"/>
                </a:solidFill>
              </a:rPr>
              <a:t>Understanding it with the equations from class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777240"/>
            <a:ext cx="10817352" cy="868680"/>
          </a:xfrm>
        </p:spPr>
        <p:txBody>
          <a:bodyPr wrap="square" lIns="0" rIns="0" tIns="0" bIns="0" anchor="t"/>
          <a:lstStyle/>
          <a:p>
            <a:pPr algn="l"/>
            <a:r>
              <a:rPr sz="3600" b="1">
                <a:solidFill>
                  <a:schemeClr val="tx1"/>
                </a:solidFill>
                <a:latin typeface="+mj-lt"/>
              </a:rPr>
              <a:t>Splitting the Flow</a:t>
            </a:r>
          </a:p>
        </p:txBody>
      </p:sp>
      <p:sp>
        <p:nvSpPr>
          <p:cNvPr id="3" name="TextBox 2"/>
          <p:cNvSpPr txBox="1"/>
          <p:nvPr/>
        </p:nvSpPr>
        <p:spPr>
          <a:xfrm>
            <a:off x="685800" y="457200"/>
            <a:ext cx="10817352" cy="274320"/>
          </a:xfrm>
          <a:prstGeom prst="rect">
            <a:avLst/>
          </a:prstGeom>
          <a:noFill/>
        </p:spPr>
        <p:txBody>
          <a:bodyPr wrap="square" lIns="0" rIns="0" tIns="0" bIns="0" anchor="t">
            <a:spAutoFit/>
          </a:bodyPr>
          <a:lstStyle/>
          <a:p>
            <a:r>
              <a:rPr sz="1200" b="1" i="0" spc="300">
                <a:solidFill>
                  <a:schemeClr val="accent1"/>
                </a:solidFill>
              </a:rPr>
              <a:t>PART 2 · SIMPLE EQUATIONS</a:t>
            </a:r>
          </a:p>
        </p:txBody>
      </p:sp>
      <p:sp>
        <p:nvSpPr>
          <p:cNvPr id="4" name="TextBox 3"/>
          <p:cNvSpPr txBox="1"/>
          <p:nvPr/>
        </p:nvSpPr>
        <p:spPr>
          <a:xfrm>
            <a:off x="685800" y="6400800"/>
            <a:ext cx="6400800" cy="274320"/>
          </a:xfrm>
          <a:prstGeom prst="rect">
            <a:avLst/>
          </a:prstGeom>
          <a:noFill/>
        </p:spPr>
        <p:txBody>
          <a:bodyPr wrap="square" lIns="0" rIns="0" tIns="0" bIns="0" anchor="t">
            <a:spAutoFit/>
          </a:bodyPr>
          <a:lstStyle/>
          <a:p>
            <a:r>
              <a:rPr sz="1000" b="0" i="0">
                <a:solidFill>
                  <a:schemeClr val="tx2"/>
                </a:solidFill>
              </a:rPr>
              <a:t>Telly · stationary Rossby waves</a:t>
            </a:r>
          </a:p>
        </p:txBody>
      </p:sp>
      <p:sp>
        <p:nvSpPr>
          <p:cNvPr id="5" name="TextBox 4"/>
          <p:cNvSpPr txBox="1"/>
          <p:nvPr/>
        </p:nvSpPr>
        <p:spPr>
          <a:xfrm>
            <a:off x="10972800" y="6400800"/>
            <a:ext cx="548640" cy="274320"/>
          </a:xfrm>
          <a:prstGeom prst="rect">
            <a:avLst/>
          </a:prstGeom>
          <a:noFill/>
        </p:spPr>
        <p:txBody>
          <a:bodyPr wrap="none" lIns="0" rIns="0" tIns="0" bIns="0">
            <a:spAutoFit/>
          </a:bodyPr>
          <a:lstStyle/>
          <a:p>
            <a:pPr algn="r"/>
            <a:fld id="{B6F15528-21DE-4FAA-801E-634DDDAF4B2B}" type="slidenum">
              <a:rPr lang="en-US" sz="1000">
                <a:solidFill>
                  <a:schemeClr val="tx2"/>
                </a:solidFill>
              </a:rPr>
              <a:t>‹#›</a:t>
            </a:fld>
          </a:p>
        </p:txBody>
      </p:sp>
      <p:sp>
        <p:nvSpPr>
          <p:cNvPr id="6" name="TextBox 5"/>
          <p:cNvSpPr txBox="1"/>
          <p:nvPr/>
        </p:nvSpPr>
        <p:spPr>
          <a:xfrm>
            <a:off x="685800" y="1783080"/>
            <a:ext cx="5029200" cy="731520"/>
          </a:xfrm>
          <a:prstGeom prst="rect">
            <a:avLst/>
          </a:prstGeom>
          <a:noFill/>
        </p:spPr>
        <p:txBody>
          <a:bodyPr wrap="square" lIns="0" rIns="0" tIns="0" bIns="0" anchor="t">
            <a:spAutoFit/>
          </a:bodyPr>
          <a:lstStyle/>
          <a:p>
            <a:pPr>
              <a:spcAft>
                <a:spcPts val="400"/>
              </a:spcAft>
            </a:pPr>
            <a:r>
              <a:rPr sz="3200" b="0" i="1">
                <a:solidFill>
                  <a:schemeClr val="tx1"/>
                </a:solidFill>
                <a:latin typeface="+mj-lt"/>
              </a:rPr>
              <a:t>u = ū + </a:t>
            </a:r>
            <a:r>
              <a:rPr sz="3200" b="0" i="1">
                <a:solidFill>
                  <a:schemeClr val="accent1"/>
                </a:solidFill>
                <a:latin typeface="+mj-lt"/>
              </a:rPr>
              <a:t>u*</a:t>
            </a:r>
            <a:r>
              <a:rPr sz="3200" b="0" i="1">
                <a:solidFill>
                  <a:schemeClr val="tx1"/>
                </a:solidFill>
                <a:latin typeface="+mj-lt"/>
              </a:rPr>
              <a:t> + u′</a:t>
            </a:r>
          </a:p>
        </p:txBody>
      </p:sp>
      <p:sp>
        <p:nvSpPr>
          <p:cNvPr id="7" name="TextBox 6"/>
          <p:cNvSpPr txBox="1"/>
          <p:nvPr/>
        </p:nvSpPr>
        <p:spPr>
          <a:xfrm>
            <a:off x="6309360" y="1783080"/>
            <a:ext cx="5029200" cy="731520"/>
          </a:xfrm>
          <a:prstGeom prst="rect">
            <a:avLst/>
          </a:prstGeom>
          <a:noFill/>
        </p:spPr>
        <p:txBody>
          <a:bodyPr wrap="square" lIns="0" rIns="0" tIns="0" bIns="0" anchor="t">
            <a:spAutoFit/>
          </a:bodyPr>
          <a:lstStyle/>
          <a:p>
            <a:pPr>
              <a:spcAft>
                <a:spcPts val="400"/>
              </a:spcAft>
            </a:pPr>
            <a:r>
              <a:rPr sz="3200" b="0" i="1">
                <a:solidFill>
                  <a:schemeClr val="tx1"/>
                </a:solidFill>
                <a:latin typeface="+mj-lt"/>
              </a:rPr>
              <a:t>v = v̄ + </a:t>
            </a:r>
            <a:r>
              <a:rPr sz="3200" b="0" i="1">
                <a:solidFill>
                  <a:schemeClr val="accent1"/>
                </a:solidFill>
                <a:latin typeface="+mj-lt"/>
              </a:rPr>
              <a:t>v*</a:t>
            </a:r>
            <a:r>
              <a:rPr sz="3200" b="0" i="1">
                <a:solidFill>
                  <a:schemeClr val="tx1"/>
                </a:solidFill>
                <a:latin typeface="+mj-lt"/>
              </a:rPr>
              <a:t> + v′</a:t>
            </a:r>
          </a:p>
        </p:txBody>
      </p:sp>
      <p:sp>
        <p:nvSpPr>
          <p:cNvPr id="8" name="Rounded Rectangle 7"/>
          <p:cNvSpPr/>
          <p:nvPr/>
        </p:nvSpPr>
        <p:spPr>
          <a:xfrm>
            <a:off x="685800" y="2743200"/>
            <a:ext cx="3483864" cy="2468880"/>
          </a:xfrm>
          <a:prstGeom prst="roundRect">
            <a:avLst>
              <a:gd name="adj" fmla="val 5000"/>
            </a:avLst>
          </a:prstGeom>
          <a:solidFill>
            <a:schemeClr val="bg1"/>
          </a:solidFill>
          <a:ln w="9525">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14400" y="2880360"/>
            <a:ext cx="3026664" cy="822960"/>
          </a:xfrm>
          <a:prstGeom prst="rect">
            <a:avLst/>
          </a:prstGeom>
          <a:noFill/>
        </p:spPr>
        <p:txBody>
          <a:bodyPr wrap="square" lIns="0" rIns="0" tIns="0" bIns="0" anchor="t">
            <a:spAutoFit/>
          </a:bodyPr>
          <a:lstStyle/>
          <a:p>
            <a:r>
              <a:rPr sz="4000" b="0" i="1">
                <a:solidFill>
                  <a:schemeClr val="tx1"/>
                </a:solidFill>
                <a:latin typeface="+mj-lt"/>
              </a:rPr>
              <a:t>ū</a:t>
            </a:r>
          </a:p>
        </p:txBody>
      </p:sp>
      <p:sp>
        <p:nvSpPr>
          <p:cNvPr id="10" name="TextBox 9"/>
          <p:cNvSpPr txBox="1"/>
          <p:nvPr/>
        </p:nvSpPr>
        <p:spPr>
          <a:xfrm>
            <a:off x="914400" y="3794760"/>
            <a:ext cx="3026664" cy="365760"/>
          </a:xfrm>
          <a:prstGeom prst="rect">
            <a:avLst/>
          </a:prstGeom>
          <a:noFill/>
        </p:spPr>
        <p:txBody>
          <a:bodyPr wrap="square" lIns="0" rIns="0" tIns="0" bIns="0" anchor="t">
            <a:spAutoFit/>
          </a:bodyPr>
          <a:lstStyle/>
          <a:p>
            <a:r>
              <a:rPr sz="1800" b="1" i="0">
                <a:solidFill>
                  <a:schemeClr val="tx1"/>
                </a:solidFill>
              </a:rPr>
              <a:t>Zonal mean</a:t>
            </a:r>
          </a:p>
        </p:txBody>
      </p:sp>
      <p:sp>
        <p:nvSpPr>
          <p:cNvPr id="11" name="TextBox 10"/>
          <p:cNvSpPr txBox="1"/>
          <p:nvPr/>
        </p:nvSpPr>
        <p:spPr>
          <a:xfrm>
            <a:off x="914400" y="4206240"/>
            <a:ext cx="3026664" cy="914400"/>
          </a:xfrm>
          <a:prstGeom prst="rect">
            <a:avLst/>
          </a:prstGeom>
          <a:noFill/>
        </p:spPr>
        <p:txBody>
          <a:bodyPr wrap="square" lIns="0" rIns="0" tIns="0" bIns="0" anchor="t">
            <a:spAutoFit/>
          </a:bodyPr>
          <a:lstStyle/>
          <a:p>
            <a:r>
              <a:rPr sz="1400" b="0" i="0">
                <a:solidFill>
                  <a:schemeClr val="tx2"/>
                </a:solidFill>
              </a:rPr>
              <a:t>The average around a latitude circle: the same at every longitude.</a:t>
            </a:r>
          </a:p>
        </p:txBody>
      </p:sp>
      <p:sp>
        <p:nvSpPr>
          <p:cNvPr id="12" name="Rounded Rectangle 11"/>
          <p:cNvSpPr/>
          <p:nvPr/>
        </p:nvSpPr>
        <p:spPr>
          <a:xfrm>
            <a:off x="4352544" y="2743200"/>
            <a:ext cx="3483864" cy="2468880"/>
          </a:xfrm>
          <a:prstGeom prst="roundRect">
            <a:avLst>
              <a:gd name="adj" fmla="val 5000"/>
            </a:avLst>
          </a:prstGeom>
          <a:solidFill>
            <a:schemeClr val="bg1"/>
          </a:solid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581144" y="2880360"/>
            <a:ext cx="3026664" cy="822960"/>
          </a:xfrm>
          <a:prstGeom prst="rect">
            <a:avLst/>
          </a:prstGeom>
          <a:noFill/>
        </p:spPr>
        <p:txBody>
          <a:bodyPr wrap="square" lIns="0" rIns="0" tIns="0" bIns="0" anchor="t">
            <a:spAutoFit/>
          </a:bodyPr>
          <a:lstStyle/>
          <a:p>
            <a:r>
              <a:rPr sz="4000" b="0" i="1">
                <a:solidFill>
                  <a:schemeClr val="accent1"/>
                </a:solidFill>
                <a:latin typeface="+mj-lt"/>
              </a:rPr>
              <a:t>u*</a:t>
            </a:r>
          </a:p>
        </p:txBody>
      </p:sp>
      <p:sp>
        <p:nvSpPr>
          <p:cNvPr id="14" name="TextBox 13"/>
          <p:cNvSpPr txBox="1"/>
          <p:nvPr/>
        </p:nvSpPr>
        <p:spPr>
          <a:xfrm>
            <a:off x="4581144" y="3794760"/>
            <a:ext cx="3026664" cy="365760"/>
          </a:xfrm>
          <a:prstGeom prst="rect">
            <a:avLst/>
          </a:prstGeom>
          <a:noFill/>
        </p:spPr>
        <p:txBody>
          <a:bodyPr wrap="square" lIns="0" rIns="0" tIns="0" bIns="0" anchor="t">
            <a:spAutoFit/>
          </a:bodyPr>
          <a:lstStyle/>
          <a:p>
            <a:r>
              <a:rPr sz="1800" b="1" i="0">
                <a:solidFill>
                  <a:schemeClr val="tx1"/>
                </a:solidFill>
              </a:rPr>
              <a:t>Stationary wave</a:t>
            </a:r>
          </a:p>
        </p:txBody>
      </p:sp>
      <p:sp>
        <p:nvSpPr>
          <p:cNvPr id="15" name="TextBox 14"/>
          <p:cNvSpPr txBox="1"/>
          <p:nvPr/>
        </p:nvSpPr>
        <p:spPr>
          <a:xfrm>
            <a:off x="4581144" y="4206240"/>
            <a:ext cx="3026664" cy="914400"/>
          </a:xfrm>
          <a:prstGeom prst="rect">
            <a:avLst/>
          </a:prstGeom>
          <a:noFill/>
        </p:spPr>
        <p:txBody>
          <a:bodyPr wrap="square" lIns="0" rIns="0" tIns="0" bIns="0" anchor="t">
            <a:spAutoFit/>
          </a:bodyPr>
          <a:lstStyle/>
          <a:p>
            <a:r>
              <a:rPr sz="1400" b="0" i="0">
                <a:solidFill>
                  <a:schemeClr val="tx2"/>
                </a:solidFill>
              </a:rPr>
              <a:t>The part that stays put: the waves in the ERA5 map.</a:t>
            </a:r>
          </a:p>
        </p:txBody>
      </p:sp>
      <p:sp>
        <p:nvSpPr>
          <p:cNvPr id="16" name="Rounded Rectangle 15"/>
          <p:cNvSpPr/>
          <p:nvPr/>
        </p:nvSpPr>
        <p:spPr>
          <a:xfrm>
            <a:off x="8019288" y="2743200"/>
            <a:ext cx="3483864" cy="2468880"/>
          </a:xfrm>
          <a:prstGeom prst="roundRect">
            <a:avLst>
              <a:gd name="adj" fmla="val 5000"/>
            </a:avLst>
          </a:prstGeom>
          <a:solidFill>
            <a:schemeClr val="bg1"/>
          </a:solidFill>
          <a:ln w="9525">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247888" y="2880360"/>
            <a:ext cx="3026664" cy="822960"/>
          </a:xfrm>
          <a:prstGeom prst="rect">
            <a:avLst/>
          </a:prstGeom>
          <a:noFill/>
        </p:spPr>
        <p:txBody>
          <a:bodyPr wrap="square" lIns="0" rIns="0" tIns="0" bIns="0" anchor="t">
            <a:spAutoFit/>
          </a:bodyPr>
          <a:lstStyle/>
          <a:p>
            <a:r>
              <a:rPr sz="4000" b="0" i="1">
                <a:solidFill>
                  <a:schemeClr val="tx1"/>
                </a:solidFill>
                <a:latin typeface="+mj-lt"/>
              </a:rPr>
              <a:t>u′</a:t>
            </a:r>
          </a:p>
        </p:txBody>
      </p:sp>
      <p:sp>
        <p:nvSpPr>
          <p:cNvPr id="18" name="TextBox 17"/>
          <p:cNvSpPr txBox="1"/>
          <p:nvPr/>
        </p:nvSpPr>
        <p:spPr>
          <a:xfrm>
            <a:off x="8247888" y="3794760"/>
            <a:ext cx="3026664" cy="365760"/>
          </a:xfrm>
          <a:prstGeom prst="rect">
            <a:avLst/>
          </a:prstGeom>
          <a:noFill/>
        </p:spPr>
        <p:txBody>
          <a:bodyPr wrap="square" lIns="0" rIns="0" tIns="0" bIns="0" anchor="t">
            <a:spAutoFit/>
          </a:bodyPr>
          <a:lstStyle/>
          <a:p>
            <a:r>
              <a:rPr sz="1800" b="1" i="0">
                <a:solidFill>
                  <a:schemeClr val="tx1"/>
                </a:solidFill>
              </a:rPr>
              <a:t>Transient eddies</a:t>
            </a:r>
          </a:p>
        </p:txBody>
      </p:sp>
      <p:sp>
        <p:nvSpPr>
          <p:cNvPr id="19" name="TextBox 18"/>
          <p:cNvSpPr txBox="1"/>
          <p:nvPr/>
        </p:nvSpPr>
        <p:spPr>
          <a:xfrm>
            <a:off x="8247888" y="4206240"/>
            <a:ext cx="3026664" cy="914400"/>
          </a:xfrm>
          <a:prstGeom prst="rect">
            <a:avLst/>
          </a:prstGeom>
          <a:noFill/>
        </p:spPr>
        <p:txBody>
          <a:bodyPr wrap="square" lIns="0" rIns="0" tIns="0" bIns="0" anchor="t">
            <a:spAutoFit/>
          </a:bodyPr>
          <a:lstStyle/>
          <a:p>
            <a:r>
              <a:rPr sz="1400" b="0" i="0">
                <a:solidFill>
                  <a:schemeClr val="tx2"/>
                </a:solidFill>
              </a:rPr>
              <a:t>Day-to-day weather that comes and goes.</a:t>
            </a:r>
          </a:p>
        </p:txBody>
      </p:sp>
      <p:sp>
        <p:nvSpPr>
          <p:cNvPr id="20" name="TextBox 19"/>
          <p:cNvSpPr txBox="1"/>
          <p:nvPr/>
        </p:nvSpPr>
        <p:spPr>
          <a:xfrm>
            <a:off x="685800" y="5486400"/>
            <a:ext cx="10817352" cy="457200"/>
          </a:xfrm>
          <a:prstGeom prst="rect">
            <a:avLst/>
          </a:prstGeom>
          <a:noFill/>
        </p:spPr>
        <p:txBody>
          <a:bodyPr wrap="square" lIns="0" rIns="0" tIns="0" bIns="0" anchor="t">
            <a:spAutoFit/>
          </a:bodyPr>
          <a:lstStyle/>
          <a:p>
            <a:r>
              <a:rPr sz="1600" b="0" i="0">
                <a:solidFill>
                  <a:schemeClr val="tx1"/>
                </a:solidFill>
              </a:rPr>
              <a:t>η = ζ + f is the absolute vorticity; on the β-plane, f = f₀ + βy.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777240"/>
            <a:ext cx="10817352" cy="868680"/>
          </a:xfrm>
        </p:spPr>
        <p:txBody>
          <a:bodyPr wrap="square" lIns="0" rIns="0" tIns="0" bIns="0" anchor="t"/>
          <a:lstStyle/>
          <a:p>
            <a:pPr algn="l"/>
            <a:r>
              <a:rPr sz="3600" b="1">
                <a:solidFill>
                  <a:schemeClr val="tx1"/>
                </a:solidFill>
                <a:latin typeface="+mj-lt"/>
              </a:rPr>
              <a:t>Vorticity of the Stationary Wave</a:t>
            </a:r>
          </a:p>
        </p:txBody>
      </p:sp>
      <p:sp>
        <p:nvSpPr>
          <p:cNvPr id="3" name="TextBox 2"/>
          <p:cNvSpPr txBox="1"/>
          <p:nvPr/>
        </p:nvSpPr>
        <p:spPr>
          <a:xfrm>
            <a:off x="685800" y="457200"/>
            <a:ext cx="10817352" cy="274320"/>
          </a:xfrm>
          <a:prstGeom prst="rect">
            <a:avLst/>
          </a:prstGeom>
          <a:noFill/>
        </p:spPr>
        <p:txBody>
          <a:bodyPr wrap="square" lIns="0" rIns="0" tIns="0" bIns="0" anchor="t">
            <a:spAutoFit/>
          </a:bodyPr>
          <a:lstStyle/>
          <a:p>
            <a:r>
              <a:rPr sz="1200" b="1" i="0" spc="300">
                <a:solidFill>
                  <a:schemeClr val="accent1"/>
                </a:solidFill>
              </a:rPr>
              <a:t>PART 2 · SIMPLE EQUATIONS</a:t>
            </a:r>
          </a:p>
        </p:txBody>
      </p:sp>
      <p:sp>
        <p:nvSpPr>
          <p:cNvPr id="4" name="TextBox 3"/>
          <p:cNvSpPr txBox="1"/>
          <p:nvPr/>
        </p:nvSpPr>
        <p:spPr>
          <a:xfrm>
            <a:off x="685800" y="6400800"/>
            <a:ext cx="6400800" cy="274320"/>
          </a:xfrm>
          <a:prstGeom prst="rect">
            <a:avLst/>
          </a:prstGeom>
          <a:noFill/>
        </p:spPr>
        <p:txBody>
          <a:bodyPr wrap="square" lIns="0" rIns="0" tIns="0" bIns="0" anchor="t">
            <a:spAutoFit/>
          </a:bodyPr>
          <a:lstStyle/>
          <a:p>
            <a:r>
              <a:rPr sz="1000" b="0" i="0">
                <a:solidFill>
                  <a:schemeClr val="tx2"/>
                </a:solidFill>
              </a:rPr>
              <a:t>Telly · stationary Rossby waves</a:t>
            </a:r>
          </a:p>
        </p:txBody>
      </p:sp>
      <p:sp>
        <p:nvSpPr>
          <p:cNvPr id="5" name="TextBox 4"/>
          <p:cNvSpPr txBox="1"/>
          <p:nvPr/>
        </p:nvSpPr>
        <p:spPr>
          <a:xfrm>
            <a:off x="10972800" y="6400800"/>
            <a:ext cx="548640" cy="274320"/>
          </a:xfrm>
          <a:prstGeom prst="rect">
            <a:avLst/>
          </a:prstGeom>
          <a:noFill/>
        </p:spPr>
        <p:txBody>
          <a:bodyPr wrap="none" lIns="0" rIns="0" tIns="0" bIns="0">
            <a:spAutoFit/>
          </a:bodyPr>
          <a:lstStyle/>
          <a:p>
            <a:pPr algn="r"/>
            <a:fld id="{B6F15528-21DE-4FAA-801E-634DDDAF4B2B}" type="slidenum">
              <a:rPr lang="en-US" sz="1000">
                <a:solidFill>
                  <a:schemeClr val="tx2"/>
                </a:solidFill>
              </a:rPr>
              <a:t>‹#›</a:t>
            </a:fld>
          </a:p>
        </p:txBody>
      </p:sp>
      <p:sp>
        <p:nvSpPr>
          <p:cNvPr id="6" name="Rounded Rectangle 5"/>
          <p:cNvSpPr/>
          <p:nvPr/>
        </p:nvSpPr>
        <p:spPr>
          <a:xfrm>
            <a:off x="685800" y="1783080"/>
            <a:ext cx="10817352" cy="1005840"/>
          </a:xfrm>
          <a:prstGeom prst="roundRect">
            <a:avLst>
              <a:gd name="adj" fmla="val 5000"/>
            </a:avLst>
          </a:prstGeom>
          <a:solidFill>
            <a:schemeClr val="bg1"/>
          </a:solidFill>
          <a:ln w="9525">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85800" y="1965960"/>
            <a:ext cx="10817352" cy="731520"/>
          </a:xfrm>
          <a:prstGeom prst="rect">
            <a:avLst/>
          </a:prstGeom>
          <a:noFill/>
        </p:spPr>
        <p:txBody>
          <a:bodyPr wrap="square" lIns="0" rIns="0" tIns="0" bIns="0" anchor="t">
            <a:spAutoFit/>
          </a:bodyPr>
          <a:lstStyle/>
          <a:p>
            <a:pPr algn="ctr">
              <a:spcAft>
                <a:spcPts val="400"/>
              </a:spcAft>
            </a:pPr>
            <a:r>
              <a:rPr sz="3200" b="0" i="1">
                <a:solidFill>
                  <a:schemeClr val="tx1"/>
                </a:solidFill>
                <a:latin typeface="+mj-lt"/>
              </a:rPr>
              <a:t>∂ζ*/∂t + ū ∂ζ*/∂x + β v* = 0</a:t>
            </a:r>
          </a:p>
        </p:txBody>
      </p:sp>
      <p:sp>
        <p:nvSpPr>
          <p:cNvPr id="8" name="Rounded Rectangle 7"/>
          <p:cNvSpPr/>
          <p:nvPr/>
        </p:nvSpPr>
        <p:spPr>
          <a:xfrm>
            <a:off x="685800" y="3017520"/>
            <a:ext cx="5303520" cy="2880360"/>
          </a:xfrm>
          <a:prstGeom prst="roundRect">
            <a:avLst>
              <a:gd name="adj" fmla="val 5000"/>
            </a:avLst>
          </a:prstGeom>
          <a:solidFill>
            <a:schemeClr val="bg1"/>
          </a:solidFill>
          <a:ln w="9525">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0120" y="3154680"/>
            <a:ext cx="4754880" cy="365760"/>
          </a:xfrm>
          <a:prstGeom prst="rect">
            <a:avLst/>
          </a:prstGeom>
          <a:noFill/>
        </p:spPr>
        <p:txBody>
          <a:bodyPr wrap="square" lIns="0" rIns="0" tIns="0" bIns="0" anchor="t">
            <a:spAutoFit/>
          </a:bodyPr>
          <a:lstStyle/>
          <a:p>
            <a:r>
              <a:rPr sz="1800" b="1" i="0">
                <a:solidFill>
                  <a:schemeClr val="accent1"/>
                </a:solidFill>
              </a:rPr>
              <a:t>Reading the terms</a:t>
            </a:r>
          </a:p>
        </p:txBody>
      </p:sp>
      <p:sp>
        <p:nvSpPr>
          <p:cNvPr id="10" name="TextBox 9"/>
          <p:cNvSpPr txBox="1"/>
          <p:nvPr/>
        </p:nvSpPr>
        <p:spPr>
          <a:xfrm>
            <a:off x="960120" y="3611880"/>
            <a:ext cx="4754880" cy="2194560"/>
          </a:xfrm>
          <a:prstGeom prst="rect">
            <a:avLst/>
          </a:prstGeom>
          <a:noFill/>
        </p:spPr>
        <p:txBody>
          <a:bodyPr wrap="square" lIns="0" rIns="0" tIns="0" bIns="0" anchor="t">
            <a:spAutoFit/>
          </a:bodyPr>
          <a:lstStyle/>
          <a:p>
            <a:pPr>
              <a:spcAft>
                <a:spcPts val="800"/>
              </a:spcAft>
            </a:pPr>
            <a:r>
              <a:rPr sz="1500" b="1" i="0">
                <a:solidFill>
                  <a:schemeClr val="tx1"/>
                </a:solidFill>
              </a:rPr>
              <a:t>∂ζ*/∂t</a:t>
            </a:r>
            <a:r>
              <a:rPr sz="1500" b="0" i="0">
                <a:solidFill>
                  <a:schemeClr val="tx1"/>
                </a:solidFill>
              </a:rPr>
              <a:t>: how the wave’s vorticity changes</a:t>
            </a:r>
          </a:p>
          <a:p>
            <a:pPr>
              <a:spcAft>
                <a:spcPts val="800"/>
              </a:spcAft>
            </a:pPr>
            <a:r>
              <a:rPr sz="1500" b="1" i="0">
                <a:solidFill>
                  <a:schemeClr val="tx1"/>
                </a:solidFill>
              </a:rPr>
              <a:t>ū ∂ζ*/∂x</a:t>
            </a:r>
            <a:r>
              <a:rPr sz="1500" b="0" i="0">
                <a:solidFill>
                  <a:schemeClr val="tx1"/>
                </a:solidFill>
              </a:rPr>
              <a:t>: carried eastward by the mean wind</a:t>
            </a:r>
          </a:p>
          <a:p>
            <a:pPr>
              <a:spcAft>
                <a:spcPts val="800"/>
              </a:spcAft>
            </a:pPr>
            <a:r>
              <a:rPr sz="1500" b="1" i="0">
                <a:solidFill>
                  <a:schemeClr val="tx1"/>
                </a:solidFill>
              </a:rPr>
              <a:t>β v*</a:t>
            </a:r>
            <a:r>
              <a:rPr sz="1500" b="0" i="0">
                <a:solidFill>
                  <a:schemeClr val="tx1"/>
                </a:solidFill>
              </a:rPr>
              <a:t>: changes as air moves north or south, where the planet’s own vorticity is different</a:t>
            </a:r>
          </a:p>
        </p:txBody>
      </p:sp>
      <p:sp>
        <p:nvSpPr>
          <p:cNvPr id="11" name="Rounded Rectangle 10"/>
          <p:cNvSpPr/>
          <p:nvPr/>
        </p:nvSpPr>
        <p:spPr>
          <a:xfrm>
            <a:off x="6199632" y="3017520"/>
            <a:ext cx="5303520" cy="2880360"/>
          </a:xfrm>
          <a:prstGeom prst="roundRect">
            <a:avLst>
              <a:gd name="adj" fmla="val 5000"/>
            </a:avLst>
          </a:prstGeom>
          <a:solidFill>
            <a:schemeClr val="bg1"/>
          </a:solidFill>
          <a:ln w="9525">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473952" y="3154680"/>
            <a:ext cx="4754880" cy="365760"/>
          </a:xfrm>
          <a:prstGeom prst="rect">
            <a:avLst/>
          </a:prstGeom>
          <a:noFill/>
        </p:spPr>
        <p:txBody>
          <a:bodyPr wrap="square" lIns="0" rIns="0" tIns="0" bIns="0" anchor="t">
            <a:spAutoFit/>
          </a:bodyPr>
          <a:lstStyle/>
          <a:p>
            <a:r>
              <a:rPr sz="1800" b="1" i="0">
                <a:solidFill>
                  <a:schemeClr val="accent1"/>
                </a:solidFill>
              </a:rPr>
              <a:t>What we assumed</a:t>
            </a:r>
          </a:p>
        </p:txBody>
      </p:sp>
      <p:sp>
        <p:nvSpPr>
          <p:cNvPr id="13" name="TextBox 12"/>
          <p:cNvSpPr txBox="1"/>
          <p:nvPr/>
        </p:nvSpPr>
        <p:spPr>
          <a:xfrm>
            <a:off x="6473952" y="3611880"/>
            <a:ext cx="4754880" cy="2194560"/>
          </a:xfrm>
          <a:prstGeom prst="rect">
            <a:avLst/>
          </a:prstGeom>
          <a:noFill/>
        </p:spPr>
        <p:txBody>
          <a:bodyPr wrap="square" lIns="0" rIns="0" tIns="0" bIns="0" anchor="t">
            <a:spAutoFit/>
          </a:bodyPr>
          <a:lstStyle/>
          <a:p>
            <a:pPr>
              <a:spcAft>
                <a:spcPts val="800"/>
              </a:spcAft>
            </a:pPr>
            <a:r>
              <a:rPr sz="1500" b="0" i="0">
                <a:solidFill>
                  <a:schemeClr val="tx1"/>
                </a:solidFill>
              </a:rPr>
              <a:t>The waves are small, so products of wave terms are dropped</a:t>
            </a:r>
          </a:p>
          <a:p>
            <a:pPr>
              <a:spcAft>
                <a:spcPts val="800"/>
              </a:spcAft>
            </a:pPr>
            <a:r>
              <a:rPr sz="1500" b="0" i="0">
                <a:solidFill>
                  <a:schemeClr val="tx1"/>
                </a:solidFill>
              </a:rPr>
              <a:t>Day-to-day weather is ignored</a:t>
            </a:r>
          </a:p>
          <a:p>
            <a:pPr>
              <a:spcAft>
                <a:spcPts val="800"/>
              </a:spcAft>
            </a:pPr>
            <a:r>
              <a:rPr sz="1500" b="0" i="0">
                <a:solidFill>
                  <a:schemeClr val="tx1"/>
                </a:solidFill>
              </a:rPr>
              <a:t>The flow is nearly non-divergent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777240"/>
            <a:ext cx="10817352" cy="868680"/>
          </a:xfrm>
        </p:spPr>
        <p:txBody>
          <a:bodyPr wrap="square" lIns="0" rIns="0" tIns="0" bIns="0" anchor="t"/>
          <a:lstStyle/>
          <a:p>
            <a:pPr algn="l"/>
            <a:r>
              <a:rPr sz="3600" b="1">
                <a:solidFill>
                  <a:schemeClr val="tx1"/>
                </a:solidFill>
                <a:latin typeface="+mj-lt"/>
              </a:rPr>
              <a:t>Streamfunction and the Wave Equation</a:t>
            </a:r>
          </a:p>
        </p:txBody>
      </p:sp>
      <p:sp>
        <p:nvSpPr>
          <p:cNvPr id="3" name="TextBox 2"/>
          <p:cNvSpPr txBox="1"/>
          <p:nvPr/>
        </p:nvSpPr>
        <p:spPr>
          <a:xfrm>
            <a:off x="685800" y="457200"/>
            <a:ext cx="10817352" cy="274320"/>
          </a:xfrm>
          <a:prstGeom prst="rect">
            <a:avLst/>
          </a:prstGeom>
          <a:noFill/>
        </p:spPr>
        <p:txBody>
          <a:bodyPr wrap="square" lIns="0" rIns="0" tIns="0" bIns="0" anchor="t">
            <a:spAutoFit/>
          </a:bodyPr>
          <a:lstStyle/>
          <a:p>
            <a:r>
              <a:rPr sz="1200" b="1" i="0" spc="300">
                <a:solidFill>
                  <a:schemeClr val="accent1"/>
                </a:solidFill>
              </a:rPr>
              <a:t>PART 2 · SIMPLE EQUATIONS</a:t>
            </a:r>
          </a:p>
        </p:txBody>
      </p:sp>
      <p:sp>
        <p:nvSpPr>
          <p:cNvPr id="4" name="TextBox 3"/>
          <p:cNvSpPr txBox="1"/>
          <p:nvPr/>
        </p:nvSpPr>
        <p:spPr>
          <a:xfrm>
            <a:off x="685800" y="6400800"/>
            <a:ext cx="6400800" cy="274320"/>
          </a:xfrm>
          <a:prstGeom prst="rect">
            <a:avLst/>
          </a:prstGeom>
          <a:noFill/>
        </p:spPr>
        <p:txBody>
          <a:bodyPr wrap="square" lIns="0" rIns="0" tIns="0" bIns="0" anchor="t">
            <a:spAutoFit/>
          </a:bodyPr>
          <a:lstStyle/>
          <a:p>
            <a:r>
              <a:rPr sz="1000" b="0" i="0">
                <a:solidFill>
                  <a:schemeClr val="tx2"/>
                </a:solidFill>
              </a:rPr>
              <a:t>Telly · stationary Rossby waves</a:t>
            </a:r>
          </a:p>
        </p:txBody>
      </p:sp>
      <p:sp>
        <p:nvSpPr>
          <p:cNvPr id="5" name="TextBox 4"/>
          <p:cNvSpPr txBox="1"/>
          <p:nvPr/>
        </p:nvSpPr>
        <p:spPr>
          <a:xfrm>
            <a:off x="10972800" y="6400800"/>
            <a:ext cx="548640" cy="274320"/>
          </a:xfrm>
          <a:prstGeom prst="rect">
            <a:avLst/>
          </a:prstGeom>
          <a:noFill/>
        </p:spPr>
        <p:txBody>
          <a:bodyPr wrap="none" lIns="0" rIns="0" tIns="0" bIns="0">
            <a:spAutoFit/>
          </a:bodyPr>
          <a:lstStyle/>
          <a:p>
            <a:pPr algn="r"/>
            <a:fld id="{B6F15528-21DE-4FAA-801E-634DDDAF4B2B}" type="slidenum">
              <a:rPr lang="en-US" sz="1000">
                <a:solidFill>
                  <a:schemeClr val="tx2"/>
                </a:solidFill>
              </a:rPr>
              <a:t>‹#›</a:t>
            </a:fld>
          </a:p>
        </p:txBody>
      </p:sp>
      <p:sp>
        <p:nvSpPr>
          <p:cNvPr id="6" name="TextBox 5"/>
          <p:cNvSpPr txBox="1"/>
          <p:nvPr/>
        </p:nvSpPr>
        <p:spPr>
          <a:xfrm>
            <a:off x="685800" y="6053328"/>
            <a:ext cx="10058400" cy="274320"/>
          </a:xfrm>
          <a:prstGeom prst="rect">
            <a:avLst/>
          </a:prstGeom>
          <a:noFill/>
        </p:spPr>
        <p:txBody>
          <a:bodyPr wrap="square" lIns="0" rIns="0" tIns="0" bIns="0" anchor="t">
            <a:spAutoFit/>
          </a:bodyPr>
          <a:lstStyle/>
          <a:p>
            <a:r>
              <a:rPr sz="1100" b="0" i="0">
                <a:solidFill>
                  <a:schemeClr val="tx2"/>
                </a:solidFill>
              </a:rPr>
              <a:t>Here ω is the wave frequency, K² = k² + l², and β = 2Ω cos φ / a</a:t>
            </a:r>
          </a:p>
        </p:txBody>
      </p:sp>
      <p:sp>
        <p:nvSpPr>
          <p:cNvPr id="7" name="TextBox 6"/>
          <p:cNvSpPr txBox="1"/>
          <p:nvPr/>
        </p:nvSpPr>
        <p:spPr>
          <a:xfrm>
            <a:off x="685800" y="1783080"/>
            <a:ext cx="6583680" cy="274320"/>
          </a:xfrm>
          <a:prstGeom prst="rect">
            <a:avLst/>
          </a:prstGeom>
          <a:noFill/>
        </p:spPr>
        <p:txBody>
          <a:bodyPr wrap="square" lIns="0" rIns="0" tIns="0" bIns="0" anchor="t">
            <a:spAutoFit/>
          </a:bodyPr>
          <a:lstStyle/>
          <a:p>
            <a:r>
              <a:rPr sz="1300" b="1" i="0">
                <a:solidFill>
                  <a:schemeClr val="accent1"/>
                </a:solidFill>
              </a:rPr>
              <a:t>1 · Define a streamfunction</a:t>
            </a:r>
          </a:p>
        </p:txBody>
      </p:sp>
      <p:sp>
        <p:nvSpPr>
          <p:cNvPr id="8" name="TextBox 7"/>
          <p:cNvSpPr txBox="1"/>
          <p:nvPr/>
        </p:nvSpPr>
        <p:spPr>
          <a:xfrm>
            <a:off x="685800" y="2084831"/>
            <a:ext cx="6583680" cy="457200"/>
          </a:xfrm>
          <a:prstGeom prst="rect">
            <a:avLst/>
          </a:prstGeom>
          <a:noFill/>
        </p:spPr>
        <p:txBody>
          <a:bodyPr wrap="square" lIns="0" rIns="0" tIns="0" bIns="0" anchor="t">
            <a:spAutoFit/>
          </a:bodyPr>
          <a:lstStyle/>
          <a:p>
            <a:pPr>
              <a:spcAft>
                <a:spcPts val="200"/>
              </a:spcAft>
            </a:pPr>
            <a:r>
              <a:rPr sz="2000" b="0" i="1">
                <a:solidFill>
                  <a:schemeClr val="tx1"/>
                </a:solidFill>
                <a:latin typeface="+mj-lt"/>
              </a:rPr>
              <a:t>u* = −∂ψ*/∂y,  v* = ∂ψ*/∂x,  ζ* = ∇²ψ*</a:t>
            </a:r>
          </a:p>
        </p:txBody>
      </p:sp>
      <p:sp>
        <p:nvSpPr>
          <p:cNvPr id="9" name="TextBox 8"/>
          <p:cNvSpPr txBox="1"/>
          <p:nvPr/>
        </p:nvSpPr>
        <p:spPr>
          <a:xfrm>
            <a:off x="685800" y="2560320"/>
            <a:ext cx="6583680" cy="274320"/>
          </a:xfrm>
          <a:prstGeom prst="rect">
            <a:avLst/>
          </a:prstGeom>
          <a:noFill/>
        </p:spPr>
        <p:txBody>
          <a:bodyPr wrap="square" lIns="0" rIns="0" tIns="0" bIns="0" anchor="t">
            <a:spAutoFit/>
          </a:bodyPr>
          <a:lstStyle/>
          <a:p>
            <a:r>
              <a:rPr sz="1300" b="1" i="0">
                <a:solidFill>
                  <a:schemeClr val="accent1"/>
                </a:solidFill>
              </a:rPr>
              <a:t>2 · Substitute into the vorticity equation</a:t>
            </a:r>
          </a:p>
        </p:txBody>
      </p:sp>
      <p:sp>
        <p:nvSpPr>
          <p:cNvPr id="10" name="TextBox 9"/>
          <p:cNvSpPr txBox="1"/>
          <p:nvPr/>
        </p:nvSpPr>
        <p:spPr>
          <a:xfrm>
            <a:off x="685800" y="2862072"/>
            <a:ext cx="6583680" cy="457200"/>
          </a:xfrm>
          <a:prstGeom prst="rect">
            <a:avLst/>
          </a:prstGeom>
          <a:noFill/>
        </p:spPr>
        <p:txBody>
          <a:bodyPr wrap="square" lIns="0" rIns="0" tIns="0" bIns="0" anchor="t">
            <a:spAutoFit/>
          </a:bodyPr>
          <a:lstStyle/>
          <a:p>
            <a:pPr>
              <a:spcAft>
                <a:spcPts val="200"/>
              </a:spcAft>
            </a:pPr>
            <a:r>
              <a:rPr sz="2000" b="0" i="1">
                <a:solidFill>
                  <a:schemeClr val="tx1"/>
                </a:solidFill>
                <a:latin typeface="+mj-lt"/>
              </a:rPr>
              <a:t>(∂/∂t + ū ∂/∂x) ∇²ψ* + β ∂ψ*/∂x = 0</a:t>
            </a:r>
          </a:p>
        </p:txBody>
      </p:sp>
      <p:sp>
        <p:nvSpPr>
          <p:cNvPr id="11" name="TextBox 10"/>
          <p:cNvSpPr txBox="1"/>
          <p:nvPr/>
        </p:nvSpPr>
        <p:spPr>
          <a:xfrm>
            <a:off x="685800" y="3337560"/>
            <a:ext cx="6583680" cy="274320"/>
          </a:xfrm>
          <a:prstGeom prst="rect">
            <a:avLst/>
          </a:prstGeom>
          <a:noFill/>
        </p:spPr>
        <p:txBody>
          <a:bodyPr wrap="square" lIns="0" rIns="0" tIns="0" bIns="0" anchor="t">
            <a:spAutoFit/>
          </a:bodyPr>
          <a:lstStyle/>
          <a:p>
            <a:r>
              <a:rPr sz="1300" b="1" i="0">
                <a:solidFill>
                  <a:schemeClr val="accent1"/>
                </a:solidFill>
              </a:rPr>
              <a:t>3 · Try a wave, and find its frequency and phase speed</a:t>
            </a:r>
          </a:p>
        </p:txBody>
      </p:sp>
      <p:sp>
        <p:nvSpPr>
          <p:cNvPr id="12" name="TextBox 11"/>
          <p:cNvSpPr txBox="1"/>
          <p:nvPr/>
        </p:nvSpPr>
        <p:spPr>
          <a:xfrm>
            <a:off x="685800" y="3639312"/>
            <a:ext cx="6583680" cy="914400"/>
          </a:xfrm>
          <a:prstGeom prst="rect">
            <a:avLst/>
          </a:prstGeom>
          <a:noFill/>
        </p:spPr>
        <p:txBody>
          <a:bodyPr wrap="square" lIns="0" rIns="0" tIns="0" bIns="0" anchor="t">
            <a:spAutoFit/>
          </a:bodyPr>
          <a:lstStyle/>
          <a:p>
            <a:pPr>
              <a:spcAft>
                <a:spcPts val="200"/>
              </a:spcAft>
            </a:pPr>
            <a:r>
              <a:rPr sz="2000" b="0" i="1">
                <a:solidFill>
                  <a:schemeClr val="tx1"/>
                </a:solidFill>
                <a:latin typeface="+mj-lt"/>
              </a:rPr>
              <a:t>ψ* = A e^{i(kx + ly − ωt)}</a:t>
            </a:r>
          </a:p>
          <a:p>
            <a:pPr>
              <a:spcAft>
                <a:spcPts val="200"/>
              </a:spcAft>
            </a:pPr>
            <a:r>
              <a:rPr sz="2000" b="0" i="1">
                <a:solidFill>
                  <a:schemeClr val="tx1"/>
                </a:solidFill>
                <a:latin typeface="+mj-lt"/>
              </a:rPr>
              <a:t>ω = ūk − βk/K²,   c = ω/k = ū − β/K²</a:t>
            </a:r>
          </a:p>
        </p:txBody>
      </p:sp>
      <p:sp>
        <p:nvSpPr>
          <p:cNvPr id="13" name="TextBox 12"/>
          <p:cNvSpPr txBox="1"/>
          <p:nvPr/>
        </p:nvSpPr>
        <p:spPr>
          <a:xfrm>
            <a:off x="685800" y="4572000"/>
            <a:ext cx="6583680" cy="274320"/>
          </a:xfrm>
          <a:prstGeom prst="rect">
            <a:avLst/>
          </a:prstGeom>
          <a:noFill/>
        </p:spPr>
        <p:txBody>
          <a:bodyPr wrap="square" lIns="0" rIns="0" tIns="0" bIns="0" anchor="t">
            <a:spAutoFit/>
          </a:bodyPr>
          <a:lstStyle/>
          <a:p>
            <a:r>
              <a:rPr sz="1300" b="1" i="0">
                <a:solidFill>
                  <a:schemeClr val="accent1"/>
                </a:solidFill>
              </a:rPr>
              <a:t>4 · Which waves can stand still? Set c = 0</a:t>
            </a:r>
          </a:p>
        </p:txBody>
      </p:sp>
      <p:sp>
        <p:nvSpPr>
          <p:cNvPr id="14" name="TextBox 13"/>
          <p:cNvSpPr txBox="1"/>
          <p:nvPr/>
        </p:nvSpPr>
        <p:spPr>
          <a:xfrm>
            <a:off x="685800" y="4873752"/>
            <a:ext cx="6583680" cy="457200"/>
          </a:xfrm>
          <a:prstGeom prst="rect">
            <a:avLst/>
          </a:prstGeom>
          <a:noFill/>
        </p:spPr>
        <p:txBody>
          <a:bodyPr wrap="square" lIns="0" rIns="0" tIns="0" bIns="0" anchor="t">
            <a:spAutoFit/>
          </a:bodyPr>
          <a:lstStyle/>
          <a:p>
            <a:pPr>
              <a:spcAft>
                <a:spcPts val="200"/>
              </a:spcAft>
            </a:pPr>
            <a:r>
              <a:rPr sz="2400" b="1" i="1">
                <a:solidFill>
                  <a:schemeClr val="accent1"/>
                </a:solidFill>
                <a:latin typeface="+mj-lt"/>
              </a:rPr>
              <a:t>k² + l² = Ks² = β/ū</a:t>
            </a:r>
          </a:p>
        </p:txBody>
      </p:sp>
      <p:sp>
        <p:nvSpPr>
          <p:cNvPr id="15" name="TextBox 14"/>
          <p:cNvSpPr txBox="1"/>
          <p:nvPr/>
        </p:nvSpPr>
        <p:spPr>
          <a:xfrm>
            <a:off x="685800" y="5422392"/>
            <a:ext cx="6583680" cy="502920"/>
          </a:xfrm>
          <a:prstGeom prst="rect">
            <a:avLst/>
          </a:prstGeom>
          <a:noFill/>
        </p:spPr>
        <p:txBody>
          <a:bodyPr wrap="square" lIns="0" rIns="0" tIns="0" bIns="0" anchor="t">
            <a:spAutoFit/>
          </a:bodyPr>
          <a:lstStyle/>
          <a:p>
            <a:r>
              <a:rPr sz="1400" b="0" i="0">
                <a:solidFill>
                  <a:schemeClr val="tx2"/>
                </a:solidFill>
              </a:rPr>
              <a:t>Only east–west (k) and north–south (l) wavenumbers that satisfy this stay put. Ks (s for stationary) is the total wavenumber of a stationary wave.</a:t>
            </a:r>
          </a:p>
        </p:txBody>
      </p:sp>
      <p:sp>
        <p:nvSpPr>
          <p:cNvPr id="16" name="Rounded Rectangle 15"/>
          <p:cNvSpPr/>
          <p:nvPr/>
        </p:nvSpPr>
        <p:spPr>
          <a:xfrm>
            <a:off x="7589520" y="1783080"/>
            <a:ext cx="3913632" cy="2331720"/>
          </a:xfrm>
          <a:prstGeom prst="roundRect">
            <a:avLst>
              <a:gd name="adj" fmla="val 5000"/>
            </a:avLst>
          </a:prstGeom>
          <a:solidFill>
            <a:schemeClr val="bg1"/>
          </a:solidFill>
          <a:ln w="254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818120" y="1920240"/>
            <a:ext cx="3474720" cy="457200"/>
          </a:xfrm>
          <a:prstGeom prst="rect">
            <a:avLst/>
          </a:prstGeom>
          <a:noFill/>
        </p:spPr>
        <p:txBody>
          <a:bodyPr wrap="square" lIns="0" rIns="0" tIns="0" bIns="0" anchor="t">
            <a:spAutoFit/>
          </a:bodyPr>
          <a:lstStyle/>
          <a:p>
            <a:r>
              <a:rPr sz="1100" b="1" i="0" spc="100">
                <a:solidFill>
                  <a:schemeClr val="accent1"/>
                </a:solidFill>
              </a:rPr>
              <a:t>STATIONARY DOES NOT MEAN NO MOTION</a:t>
            </a:r>
          </a:p>
        </p:txBody>
      </p:sp>
      <p:sp>
        <p:nvSpPr>
          <p:cNvPr id="18" name="TextBox 17"/>
          <p:cNvSpPr txBox="1"/>
          <p:nvPr/>
        </p:nvSpPr>
        <p:spPr>
          <a:xfrm>
            <a:off x="7818120" y="2423160"/>
            <a:ext cx="3474720" cy="1645920"/>
          </a:xfrm>
          <a:prstGeom prst="rect">
            <a:avLst/>
          </a:prstGeom>
          <a:noFill/>
        </p:spPr>
        <p:txBody>
          <a:bodyPr wrap="square" lIns="0" rIns="0" tIns="0" bIns="0" anchor="t">
            <a:spAutoFit/>
          </a:bodyPr>
          <a:lstStyle/>
          <a:p>
            <a:r>
              <a:rPr sz="1400" b="0" i="0">
                <a:solidFill>
                  <a:schemeClr val="tx1"/>
                </a:solidFill>
              </a:rPr>
              <a:t>Air still flows through the pattern at speed ū. The pattern stays put because westward wave propagation, β/K², cancels the eastward flow.</a:t>
            </a:r>
          </a:p>
        </p:txBody>
      </p:sp>
      <p:sp>
        <p:nvSpPr>
          <p:cNvPr id="19" name="Rounded Rectangle 18"/>
          <p:cNvSpPr/>
          <p:nvPr/>
        </p:nvSpPr>
        <p:spPr>
          <a:xfrm>
            <a:off x="7589520" y="4297680"/>
            <a:ext cx="3913632" cy="1600200"/>
          </a:xfrm>
          <a:prstGeom prst="roundRect">
            <a:avLst>
              <a:gd name="adj" fmla="val 5000"/>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818120" y="4434840"/>
            <a:ext cx="3474720" cy="274320"/>
          </a:xfrm>
          <a:prstGeom prst="rect">
            <a:avLst/>
          </a:prstGeom>
          <a:noFill/>
        </p:spPr>
        <p:txBody>
          <a:bodyPr wrap="square" lIns="0" rIns="0" tIns="0" bIns="0" anchor="t">
            <a:spAutoFit/>
          </a:bodyPr>
          <a:lstStyle/>
          <a:p>
            <a:r>
              <a:rPr sz="1100" b="1" i="0" spc="300">
                <a:solidFill>
                  <a:schemeClr val="accent4"/>
                </a:solidFill>
              </a:rPr>
              <a:t>EXAMPLE</a:t>
            </a:r>
          </a:p>
        </p:txBody>
      </p:sp>
      <p:sp>
        <p:nvSpPr>
          <p:cNvPr id="21" name="TextBox 20"/>
          <p:cNvSpPr txBox="1"/>
          <p:nvPr/>
        </p:nvSpPr>
        <p:spPr>
          <a:xfrm>
            <a:off x="7818120" y="4754880"/>
            <a:ext cx="3474720" cy="1097280"/>
          </a:xfrm>
          <a:prstGeom prst="rect">
            <a:avLst/>
          </a:prstGeom>
          <a:noFill/>
        </p:spPr>
        <p:txBody>
          <a:bodyPr wrap="square" lIns="0" rIns="0" tIns="0" bIns="0" anchor="t">
            <a:spAutoFit/>
          </a:bodyPr>
          <a:lstStyle/>
          <a:p>
            <a:r>
              <a:rPr sz="1400" b="0" i="0">
                <a:solidFill>
                  <a:schemeClr val="bg2"/>
                </a:solidFill>
              </a:rPr>
              <a:t>ū = 20 m/s at 45°N gives Ks ≈ 9 × 10⁻⁷ per metre. Two waves around the globe use k ≈ 4 × 10⁻⁷, which leaves l ≈ 8 × 10⁻⁷.</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777240"/>
            <a:ext cx="10817352" cy="868680"/>
          </a:xfrm>
        </p:spPr>
        <p:txBody>
          <a:bodyPr wrap="square" lIns="0" rIns="0" tIns="0" bIns="0" anchor="t"/>
          <a:lstStyle/>
          <a:p>
            <a:pPr algn="l"/>
            <a:r>
              <a:rPr sz="3600" b="1">
                <a:solidFill>
                  <a:schemeClr val="tx1"/>
                </a:solidFill>
                <a:latin typeface="+mj-lt"/>
              </a:rPr>
              <a:t>Do the ERA5 Waves Fit?</a:t>
            </a:r>
          </a:p>
        </p:txBody>
      </p:sp>
      <p:sp>
        <p:nvSpPr>
          <p:cNvPr id="3" name="TextBox 2"/>
          <p:cNvSpPr txBox="1"/>
          <p:nvPr/>
        </p:nvSpPr>
        <p:spPr>
          <a:xfrm>
            <a:off x="685800" y="457200"/>
            <a:ext cx="10817352" cy="274320"/>
          </a:xfrm>
          <a:prstGeom prst="rect">
            <a:avLst/>
          </a:prstGeom>
          <a:noFill/>
        </p:spPr>
        <p:txBody>
          <a:bodyPr wrap="square" lIns="0" rIns="0" tIns="0" bIns="0" anchor="t">
            <a:spAutoFit/>
          </a:bodyPr>
          <a:lstStyle/>
          <a:p>
            <a:r>
              <a:rPr sz="1200" b="1" i="0" spc="300">
                <a:solidFill>
                  <a:schemeClr val="accent1"/>
                </a:solidFill>
              </a:rPr>
              <a:t>PART 2 · SIMPLE EQUATIONS</a:t>
            </a:r>
          </a:p>
        </p:txBody>
      </p:sp>
      <p:sp>
        <p:nvSpPr>
          <p:cNvPr id="4" name="TextBox 3"/>
          <p:cNvSpPr txBox="1"/>
          <p:nvPr/>
        </p:nvSpPr>
        <p:spPr>
          <a:xfrm>
            <a:off x="685800" y="6400800"/>
            <a:ext cx="6400800" cy="274320"/>
          </a:xfrm>
          <a:prstGeom prst="rect">
            <a:avLst/>
          </a:prstGeom>
          <a:noFill/>
        </p:spPr>
        <p:txBody>
          <a:bodyPr wrap="square" lIns="0" rIns="0" tIns="0" bIns="0" anchor="t">
            <a:spAutoFit/>
          </a:bodyPr>
          <a:lstStyle/>
          <a:p>
            <a:r>
              <a:rPr sz="1000" b="0" i="0">
                <a:solidFill>
                  <a:schemeClr val="tx2"/>
                </a:solidFill>
              </a:rPr>
              <a:t>Telly · stationary Rossby waves</a:t>
            </a:r>
          </a:p>
        </p:txBody>
      </p:sp>
      <p:sp>
        <p:nvSpPr>
          <p:cNvPr id="5" name="TextBox 4"/>
          <p:cNvSpPr txBox="1"/>
          <p:nvPr/>
        </p:nvSpPr>
        <p:spPr>
          <a:xfrm>
            <a:off x="10972800" y="6400800"/>
            <a:ext cx="548640" cy="274320"/>
          </a:xfrm>
          <a:prstGeom prst="rect">
            <a:avLst/>
          </a:prstGeom>
          <a:noFill/>
        </p:spPr>
        <p:txBody>
          <a:bodyPr wrap="none" lIns="0" rIns="0" tIns="0" bIns="0">
            <a:spAutoFit/>
          </a:bodyPr>
          <a:lstStyle/>
          <a:p>
            <a:pPr algn="r"/>
            <a:fld id="{B6F15528-21DE-4FAA-801E-634DDDAF4B2B}" type="slidenum">
              <a:rPr lang="en-US" sz="1000">
                <a:solidFill>
                  <a:schemeClr val="tx2"/>
                </a:solidFill>
              </a:rPr>
              <a:t>‹#›</a:t>
            </a:fld>
          </a:p>
        </p:txBody>
      </p:sp>
      <p:sp>
        <p:nvSpPr>
          <p:cNvPr id="6" name="TextBox 5"/>
          <p:cNvSpPr txBox="1"/>
          <p:nvPr/>
        </p:nvSpPr>
        <p:spPr>
          <a:xfrm>
            <a:off x="685800" y="6053328"/>
            <a:ext cx="10058400" cy="274320"/>
          </a:xfrm>
          <a:prstGeom prst="rect">
            <a:avLst/>
          </a:prstGeom>
          <a:noFill/>
        </p:spPr>
        <p:txBody>
          <a:bodyPr wrap="square" lIns="0" rIns="0" tIns="0" bIns="0" anchor="t">
            <a:spAutoFit/>
          </a:bodyPr>
          <a:lstStyle/>
          <a:p>
            <a:r>
              <a:rPr sz="1100" b="0" i="0">
                <a:solidFill>
                  <a:schemeClr val="tx2"/>
                </a:solidFill>
              </a:rPr>
              <a:t>ERA5 1991–2020 time mean; 30°N–70°N; ū is the 500 hPa zonal-mean wind</a:t>
            </a:r>
          </a:p>
        </p:txBody>
      </p:sp>
      <p:pic>
        <p:nvPicPr>
          <p:cNvPr id="7" name="Picture 6" descr="Plot of east-west wavenumber k against north-south wavenumber l: a quarter circle for k squared plus l squared equal to Ks squared, a shaded band around it, and orange dots for the ERA5 stationary waves that cluster at one to three waves around the globe, many of them near the circle"/>
          <p:cNvPicPr>
            <a:picLocks noChangeAspect="1"/>
          </p:cNvPicPr>
          <p:nvPr/>
        </p:nvPicPr>
        <p:blipFill>
          <a:blip r:embed="rId2"/>
          <a:stretch>
            <a:fillRect/>
          </a:stretch>
        </p:blipFill>
        <p:spPr>
          <a:xfrm>
            <a:off x="685800" y="1783080"/>
            <a:ext cx="5120640" cy="3901440"/>
          </a:xfrm>
          <a:prstGeom prst="rect">
            <a:avLst/>
          </a:prstGeom>
        </p:spPr>
      </p:pic>
      <p:sp>
        <p:nvSpPr>
          <p:cNvPr id="8" name="TextBox 7"/>
          <p:cNvSpPr txBox="1"/>
          <p:nvPr/>
        </p:nvSpPr>
        <p:spPr>
          <a:xfrm>
            <a:off x="6355080" y="1783080"/>
            <a:ext cx="5120640" cy="274320"/>
          </a:xfrm>
          <a:prstGeom prst="rect">
            <a:avLst/>
          </a:prstGeom>
          <a:noFill/>
        </p:spPr>
        <p:txBody>
          <a:bodyPr wrap="square" lIns="0" rIns="0" tIns="0" bIns="0" anchor="t">
            <a:spAutoFit/>
          </a:bodyPr>
          <a:lstStyle/>
          <a:p>
            <a:r>
              <a:rPr sz="1300" b="1" i="0">
                <a:solidFill>
                  <a:schemeClr val="accent1"/>
                </a:solidFill>
              </a:rPr>
              <a:t>1 · Measure k and l in ERA5</a:t>
            </a:r>
          </a:p>
        </p:txBody>
      </p:sp>
      <p:sp>
        <p:nvSpPr>
          <p:cNvPr id="9" name="TextBox 8"/>
          <p:cNvSpPr txBox="1"/>
          <p:nvPr/>
        </p:nvSpPr>
        <p:spPr>
          <a:xfrm>
            <a:off x="6355080" y="2103120"/>
            <a:ext cx="5120640" cy="731520"/>
          </a:xfrm>
          <a:prstGeom prst="rect">
            <a:avLst/>
          </a:prstGeom>
          <a:noFill/>
        </p:spPr>
        <p:txBody>
          <a:bodyPr wrap="square" lIns="0" rIns="0" tIns="0" bIns="0" anchor="t">
            <a:spAutoFit/>
          </a:bodyPr>
          <a:lstStyle/>
          <a:p>
            <a:r>
              <a:rPr sz="1400" b="0" i="0">
                <a:solidFill>
                  <a:schemeClr val="tx1"/>
                </a:solidFill>
              </a:rPr>
              <a:t>Split the 500 hPa pattern between 30°N and 70°N into waves around the globe (k) and waves from south to north (l).</a:t>
            </a:r>
          </a:p>
        </p:txBody>
      </p:sp>
      <p:sp>
        <p:nvSpPr>
          <p:cNvPr id="10" name="TextBox 9"/>
          <p:cNvSpPr txBox="1"/>
          <p:nvPr/>
        </p:nvSpPr>
        <p:spPr>
          <a:xfrm>
            <a:off x="6355080" y="2926080"/>
            <a:ext cx="5120640" cy="274320"/>
          </a:xfrm>
          <a:prstGeom prst="rect">
            <a:avLst/>
          </a:prstGeom>
          <a:noFill/>
        </p:spPr>
        <p:txBody>
          <a:bodyPr wrap="square" lIns="0" rIns="0" tIns="0" bIns="0" anchor="t">
            <a:spAutoFit/>
          </a:bodyPr>
          <a:lstStyle/>
          <a:p>
            <a:r>
              <a:rPr sz="1300" b="1" i="0">
                <a:solidFill>
                  <a:schemeClr val="accent1"/>
                </a:solidFill>
              </a:rPr>
              <a:t>2 · Draw the stationary circle</a:t>
            </a:r>
          </a:p>
        </p:txBody>
      </p:sp>
      <p:sp>
        <p:nvSpPr>
          <p:cNvPr id="11" name="TextBox 10"/>
          <p:cNvSpPr txBox="1"/>
          <p:nvPr/>
        </p:nvSpPr>
        <p:spPr>
          <a:xfrm>
            <a:off x="6355080" y="3246120"/>
            <a:ext cx="5120640" cy="731520"/>
          </a:xfrm>
          <a:prstGeom prst="rect">
            <a:avLst/>
          </a:prstGeom>
          <a:noFill/>
        </p:spPr>
        <p:txBody>
          <a:bodyPr wrap="square" lIns="0" rIns="0" tIns="0" bIns="0" anchor="t">
            <a:spAutoFit/>
          </a:bodyPr>
          <a:lstStyle/>
          <a:p>
            <a:r>
              <a:rPr sz="1400" b="0" i="0">
                <a:solidFill>
                  <a:schemeClr val="tx1"/>
                </a:solidFill>
              </a:rPr>
              <a:t>With the observed ū ≈ 10 m/s, k² + l² = β/ū is a circle with Ks ≈ 1.2 × 10⁻⁶ per metre.</a:t>
            </a:r>
          </a:p>
        </p:txBody>
      </p:sp>
      <p:sp>
        <p:nvSpPr>
          <p:cNvPr id="12" name="Rounded Rectangle 11"/>
          <p:cNvSpPr/>
          <p:nvPr/>
        </p:nvSpPr>
        <p:spPr>
          <a:xfrm>
            <a:off x="6355080" y="4114800"/>
            <a:ext cx="5120640" cy="1783080"/>
          </a:xfrm>
          <a:prstGeom prst="roundRect">
            <a:avLst>
              <a:gd name="adj" fmla="val 5000"/>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583680" y="4224528"/>
            <a:ext cx="4663440" cy="274320"/>
          </a:xfrm>
          <a:prstGeom prst="rect">
            <a:avLst/>
          </a:prstGeom>
          <a:noFill/>
        </p:spPr>
        <p:txBody>
          <a:bodyPr wrap="square" lIns="0" rIns="0" tIns="0" bIns="0" anchor="t">
            <a:spAutoFit/>
          </a:bodyPr>
          <a:lstStyle/>
          <a:p>
            <a:r>
              <a:rPr sz="1100" b="1" i="0" spc="300">
                <a:solidFill>
                  <a:schemeClr val="accent4"/>
                </a:solidFill>
              </a:rPr>
              <a:t>WHAT WE FIND</a:t>
            </a:r>
          </a:p>
        </p:txBody>
      </p:sp>
      <p:sp>
        <p:nvSpPr>
          <p:cNvPr id="14" name="TextBox 13"/>
          <p:cNvSpPr txBox="1"/>
          <p:nvPr/>
        </p:nvSpPr>
        <p:spPr>
          <a:xfrm>
            <a:off x="6583680" y="4526280"/>
            <a:ext cx="4663440" cy="1325880"/>
          </a:xfrm>
          <a:prstGeom prst="rect">
            <a:avLst/>
          </a:prstGeom>
          <a:noFill/>
        </p:spPr>
        <p:txBody>
          <a:bodyPr wrap="square" lIns="0" rIns="0" tIns="0" bIns="0" anchor="t">
            <a:spAutoFit/>
          </a:bodyPr>
          <a:lstStyle/>
          <a:p>
            <a:r>
              <a:rPr sz="1400" b="0" i="0">
                <a:solidFill>
                  <a:schemeClr val="bg2"/>
                </a:solidFill>
              </a:rPr>
              <a:t>Almost all of the pattern is 1 to 3 waves around the globe, with one or two half-waves from south to north. About 60% of it lies within 50% of the circle. The rest is larger scale.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777240"/>
            <a:ext cx="10817352" cy="868680"/>
          </a:xfrm>
        </p:spPr>
        <p:txBody>
          <a:bodyPr wrap="square" lIns="0" rIns="0" tIns="0" bIns="0" anchor="t"/>
          <a:lstStyle/>
          <a:p>
            <a:pPr algn="l"/>
            <a:r>
              <a:rPr sz="3600" b="1">
                <a:solidFill>
                  <a:schemeClr val="tx1"/>
                </a:solidFill>
                <a:latin typeface="+mj-lt"/>
              </a:rPr>
              <a:t>Adding a Source</a:t>
            </a:r>
          </a:p>
        </p:txBody>
      </p:sp>
      <p:sp>
        <p:nvSpPr>
          <p:cNvPr id="3" name="TextBox 2"/>
          <p:cNvSpPr txBox="1"/>
          <p:nvPr/>
        </p:nvSpPr>
        <p:spPr>
          <a:xfrm>
            <a:off x="685800" y="457200"/>
            <a:ext cx="10817352" cy="274320"/>
          </a:xfrm>
          <a:prstGeom prst="rect">
            <a:avLst/>
          </a:prstGeom>
          <a:noFill/>
        </p:spPr>
        <p:txBody>
          <a:bodyPr wrap="square" lIns="0" rIns="0" tIns="0" bIns="0" anchor="t">
            <a:spAutoFit/>
          </a:bodyPr>
          <a:lstStyle/>
          <a:p>
            <a:r>
              <a:rPr sz="1200" b="1" i="0" spc="300">
                <a:solidFill>
                  <a:schemeClr val="accent1"/>
                </a:solidFill>
              </a:rPr>
              <a:t>PART 2 · SIMPLE EQUATIONS</a:t>
            </a:r>
          </a:p>
        </p:txBody>
      </p:sp>
      <p:sp>
        <p:nvSpPr>
          <p:cNvPr id="4" name="TextBox 3"/>
          <p:cNvSpPr txBox="1"/>
          <p:nvPr/>
        </p:nvSpPr>
        <p:spPr>
          <a:xfrm>
            <a:off x="685800" y="6400800"/>
            <a:ext cx="6400800" cy="274320"/>
          </a:xfrm>
          <a:prstGeom prst="rect">
            <a:avLst/>
          </a:prstGeom>
          <a:noFill/>
        </p:spPr>
        <p:txBody>
          <a:bodyPr wrap="square" lIns="0" rIns="0" tIns="0" bIns="0" anchor="t">
            <a:spAutoFit/>
          </a:bodyPr>
          <a:lstStyle/>
          <a:p>
            <a:r>
              <a:rPr sz="1000" b="0" i="0">
                <a:solidFill>
                  <a:schemeClr val="tx2"/>
                </a:solidFill>
              </a:rPr>
              <a:t>Telly · stationary Rossby waves</a:t>
            </a:r>
          </a:p>
        </p:txBody>
      </p:sp>
      <p:sp>
        <p:nvSpPr>
          <p:cNvPr id="5" name="TextBox 4"/>
          <p:cNvSpPr txBox="1"/>
          <p:nvPr/>
        </p:nvSpPr>
        <p:spPr>
          <a:xfrm>
            <a:off x="10972800" y="6400800"/>
            <a:ext cx="548640" cy="274320"/>
          </a:xfrm>
          <a:prstGeom prst="rect">
            <a:avLst/>
          </a:prstGeom>
          <a:noFill/>
        </p:spPr>
        <p:txBody>
          <a:bodyPr wrap="none" lIns="0" rIns="0" tIns="0" bIns="0">
            <a:spAutoFit/>
          </a:bodyPr>
          <a:lstStyle/>
          <a:p>
            <a:pPr algn="r"/>
            <a:fld id="{B6F15528-21DE-4FAA-801E-634DDDAF4B2B}" type="slidenum">
              <a:rPr lang="en-US" sz="1000">
                <a:solidFill>
                  <a:schemeClr val="tx2"/>
                </a:solidFill>
              </a:rPr>
              <a:t>‹#›</a:t>
            </a:fld>
          </a:p>
        </p:txBody>
      </p:sp>
      <p:sp>
        <p:nvSpPr>
          <p:cNvPr id="6" name="Rounded Rectangle 5"/>
          <p:cNvSpPr/>
          <p:nvPr/>
        </p:nvSpPr>
        <p:spPr>
          <a:xfrm>
            <a:off x="685800" y="1783080"/>
            <a:ext cx="10817352" cy="1508760"/>
          </a:xfrm>
          <a:prstGeom prst="roundRect">
            <a:avLst>
              <a:gd name="adj" fmla="val 5000"/>
            </a:avLst>
          </a:prstGeom>
          <a:solidFill>
            <a:schemeClr val="bg1"/>
          </a:solidFill>
          <a:ln w="9525">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60120" y="1874519"/>
            <a:ext cx="10268712" cy="640080"/>
          </a:xfrm>
          <a:prstGeom prst="rect">
            <a:avLst/>
          </a:prstGeom>
          <a:noFill/>
        </p:spPr>
        <p:txBody>
          <a:bodyPr wrap="square" lIns="0" rIns="0" tIns="0" bIns="0" anchor="t">
            <a:spAutoFit/>
          </a:bodyPr>
          <a:lstStyle/>
          <a:p>
            <a:pPr>
              <a:spcAft>
                <a:spcPts val="400"/>
              </a:spcAft>
            </a:pPr>
            <a:r>
              <a:rPr sz="2800" b="0" i="1">
                <a:solidFill>
                  <a:schemeClr val="tx1"/>
                </a:solidFill>
                <a:latin typeface="+mj-lt"/>
              </a:rPr>
              <a:t>∂ζ*/∂t + ū ∂ζ*/∂x + β v* = </a:t>
            </a:r>
            <a:r>
              <a:rPr sz="2800" b="0" i="1">
                <a:solidFill>
                  <a:schemeClr val="accent2"/>
                </a:solidFill>
                <a:latin typeface="+mj-lt"/>
              </a:rPr>
              <a:t>S</a:t>
            </a:r>
          </a:p>
        </p:txBody>
      </p:sp>
      <p:sp>
        <p:nvSpPr>
          <p:cNvPr id="8" name="TextBox 7"/>
          <p:cNvSpPr txBox="1"/>
          <p:nvPr/>
        </p:nvSpPr>
        <p:spPr>
          <a:xfrm>
            <a:off x="960120" y="2606040"/>
            <a:ext cx="10268712" cy="640080"/>
          </a:xfrm>
          <a:prstGeom prst="rect">
            <a:avLst/>
          </a:prstGeom>
          <a:noFill/>
        </p:spPr>
        <p:txBody>
          <a:bodyPr wrap="square" lIns="0" rIns="0" tIns="0" bIns="0" anchor="t">
            <a:spAutoFit/>
          </a:bodyPr>
          <a:lstStyle/>
          <a:p>
            <a:r>
              <a:rPr sz="1500" b="1" i="0">
                <a:solidFill>
                  <a:schemeClr val="accent2"/>
                </a:solidFill>
              </a:rPr>
              <a:t>S</a:t>
            </a:r>
            <a:r>
              <a:rPr sz="1500" b="0" i="0">
                <a:solidFill>
                  <a:schemeClr val="tx2"/>
                </a:solidFill>
              </a:rPr>
              <a:t> is a push on the wave: anything that squeezes or stretches columns of air, and so changes their spin.</a:t>
            </a:r>
          </a:p>
        </p:txBody>
      </p:sp>
      <p:sp>
        <p:nvSpPr>
          <p:cNvPr id="9" name="Rounded Rectangle 8"/>
          <p:cNvSpPr/>
          <p:nvPr/>
        </p:nvSpPr>
        <p:spPr>
          <a:xfrm>
            <a:off x="685800" y="3474720"/>
            <a:ext cx="3483864" cy="1463040"/>
          </a:xfrm>
          <a:prstGeom prst="roundRect">
            <a:avLst>
              <a:gd name="adj" fmla="val 5000"/>
            </a:avLst>
          </a:prstGeom>
          <a:solidFill>
            <a:schemeClr val="bg1"/>
          </a:solidFill>
          <a:ln w="9525">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68680" y="3584448"/>
            <a:ext cx="3118104" cy="365760"/>
          </a:xfrm>
          <a:prstGeom prst="rect">
            <a:avLst/>
          </a:prstGeom>
          <a:noFill/>
        </p:spPr>
        <p:txBody>
          <a:bodyPr wrap="square" lIns="0" rIns="0" tIns="0" bIns="0" anchor="t">
            <a:spAutoFit/>
          </a:bodyPr>
          <a:lstStyle/>
          <a:p>
            <a:r>
              <a:rPr sz="1600" b="1" i="0">
                <a:solidFill>
                  <a:schemeClr val="tx1"/>
                </a:solidFill>
              </a:rPr>
              <a:t>Air forced over a slope</a:t>
            </a:r>
          </a:p>
        </p:txBody>
      </p:sp>
      <p:sp>
        <p:nvSpPr>
          <p:cNvPr id="11" name="TextBox 10"/>
          <p:cNvSpPr txBox="1"/>
          <p:nvPr/>
        </p:nvSpPr>
        <p:spPr>
          <a:xfrm>
            <a:off x="868680" y="3977639"/>
            <a:ext cx="3118104" cy="914400"/>
          </a:xfrm>
          <a:prstGeom prst="rect">
            <a:avLst/>
          </a:prstGeom>
          <a:noFill/>
        </p:spPr>
        <p:txBody>
          <a:bodyPr wrap="square" lIns="0" rIns="0" tIns="0" bIns="0" anchor="t">
            <a:spAutoFit/>
          </a:bodyPr>
          <a:lstStyle/>
          <a:p>
            <a:r>
              <a:rPr sz="1400" b="0" i="0">
                <a:solidFill>
                  <a:schemeClr val="tx2"/>
                </a:solidFill>
              </a:rPr>
              <a:t>A column pushed up a mountain is squeezed, which changes its spin.</a:t>
            </a:r>
          </a:p>
        </p:txBody>
      </p:sp>
      <p:sp>
        <p:nvSpPr>
          <p:cNvPr id="12" name="Rounded Rectangle 11"/>
          <p:cNvSpPr/>
          <p:nvPr/>
        </p:nvSpPr>
        <p:spPr>
          <a:xfrm>
            <a:off x="4352544" y="3474720"/>
            <a:ext cx="3483864" cy="1463040"/>
          </a:xfrm>
          <a:prstGeom prst="roundRect">
            <a:avLst>
              <a:gd name="adj" fmla="val 5000"/>
            </a:avLst>
          </a:prstGeom>
          <a:solidFill>
            <a:schemeClr val="bg1"/>
          </a:solidFill>
          <a:ln w="9525">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535424" y="3584448"/>
            <a:ext cx="3118104" cy="365760"/>
          </a:xfrm>
          <a:prstGeom prst="rect">
            <a:avLst/>
          </a:prstGeom>
          <a:noFill/>
        </p:spPr>
        <p:txBody>
          <a:bodyPr wrap="square" lIns="0" rIns="0" tIns="0" bIns="0" anchor="t">
            <a:spAutoFit/>
          </a:bodyPr>
          <a:lstStyle/>
          <a:p>
            <a:r>
              <a:rPr sz="1600" b="1" i="0">
                <a:solidFill>
                  <a:schemeClr val="tx1"/>
                </a:solidFill>
              </a:rPr>
              <a:t>Heating that lifts air</a:t>
            </a:r>
          </a:p>
        </p:txBody>
      </p:sp>
      <p:sp>
        <p:nvSpPr>
          <p:cNvPr id="14" name="TextBox 13"/>
          <p:cNvSpPr txBox="1"/>
          <p:nvPr/>
        </p:nvSpPr>
        <p:spPr>
          <a:xfrm>
            <a:off x="4535424" y="3977639"/>
            <a:ext cx="3118104" cy="914400"/>
          </a:xfrm>
          <a:prstGeom prst="rect">
            <a:avLst/>
          </a:prstGeom>
          <a:noFill/>
        </p:spPr>
        <p:txBody>
          <a:bodyPr wrap="square" lIns="0" rIns="0" tIns="0" bIns="0" anchor="t">
            <a:spAutoFit/>
          </a:bodyPr>
          <a:lstStyle/>
          <a:p>
            <a:r>
              <a:rPr sz="1400" b="0" i="0">
                <a:solidFill>
                  <a:schemeClr val="tx2"/>
                </a:solidFill>
              </a:rPr>
              <a:t>Columns are stretched below the heating and squeezed above it.</a:t>
            </a:r>
          </a:p>
        </p:txBody>
      </p:sp>
      <p:sp>
        <p:nvSpPr>
          <p:cNvPr id="15" name="Rounded Rectangle 14"/>
          <p:cNvSpPr/>
          <p:nvPr/>
        </p:nvSpPr>
        <p:spPr>
          <a:xfrm>
            <a:off x="8019288" y="3474720"/>
            <a:ext cx="3483864" cy="1463040"/>
          </a:xfrm>
          <a:prstGeom prst="roundRect">
            <a:avLst>
              <a:gd name="adj" fmla="val 5000"/>
            </a:avLst>
          </a:prstGeom>
          <a:solidFill>
            <a:schemeClr val="bg1"/>
          </a:solidFill>
          <a:ln w="9525">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202167" y="3584448"/>
            <a:ext cx="3118104" cy="365760"/>
          </a:xfrm>
          <a:prstGeom prst="rect">
            <a:avLst/>
          </a:prstGeom>
          <a:noFill/>
        </p:spPr>
        <p:txBody>
          <a:bodyPr wrap="square" lIns="0" rIns="0" tIns="0" bIns="0" anchor="t">
            <a:spAutoFit/>
          </a:bodyPr>
          <a:lstStyle/>
          <a:p>
            <a:r>
              <a:rPr sz="1600" b="1" i="0">
                <a:solidFill>
                  <a:schemeClr val="tx1"/>
                </a:solidFill>
              </a:rPr>
              <a:t>Land–sea contrast</a:t>
            </a:r>
          </a:p>
        </p:txBody>
      </p:sp>
      <p:sp>
        <p:nvSpPr>
          <p:cNvPr id="17" name="TextBox 16"/>
          <p:cNvSpPr txBox="1"/>
          <p:nvPr/>
        </p:nvSpPr>
        <p:spPr>
          <a:xfrm>
            <a:off x="8202167" y="3977639"/>
            <a:ext cx="3118104" cy="914400"/>
          </a:xfrm>
          <a:prstGeom prst="rect">
            <a:avLst/>
          </a:prstGeom>
          <a:noFill/>
        </p:spPr>
        <p:txBody>
          <a:bodyPr wrap="square" lIns="0" rIns="0" tIns="0" bIns="0" anchor="t">
            <a:spAutoFit/>
          </a:bodyPr>
          <a:lstStyle/>
          <a:p>
            <a:r>
              <a:rPr sz="1400" b="0" i="0">
                <a:solidFill>
                  <a:schemeClr val="tx2"/>
                </a:solidFill>
              </a:rPr>
              <a:t>Land and ocean warm differently: like heating over one and cooling over the other.</a:t>
            </a:r>
          </a:p>
        </p:txBody>
      </p:sp>
      <p:sp>
        <p:nvSpPr>
          <p:cNvPr id="18" name="Rounded Rectangle 17"/>
          <p:cNvSpPr/>
          <p:nvPr/>
        </p:nvSpPr>
        <p:spPr>
          <a:xfrm>
            <a:off x="685800" y="5120640"/>
            <a:ext cx="10817352" cy="914400"/>
          </a:xfrm>
          <a:prstGeom prst="roundRect">
            <a:avLst>
              <a:gd name="adj" fmla="val 5000"/>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60120" y="5257800"/>
            <a:ext cx="3931920" cy="640080"/>
          </a:xfrm>
          <a:prstGeom prst="rect">
            <a:avLst/>
          </a:prstGeom>
          <a:noFill/>
        </p:spPr>
        <p:txBody>
          <a:bodyPr wrap="square" lIns="0" rIns="0" tIns="0" bIns="0" anchor="t">
            <a:spAutoFit/>
          </a:bodyPr>
          <a:lstStyle/>
          <a:p>
            <a:pPr>
              <a:spcAft>
                <a:spcPts val="400"/>
              </a:spcAft>
            </a:pPr>
            <a:r>
              <a:rPr sz="2200" b="0" i="1">
                <a:solidFill>
                  <a:schemeClr val="bg2"/>
                </a:solidFill>
                <a:latin typeface="+mj-lt"/>
              </a:rPr>
              <a:t>ψ* = S / [ik(β − ūK²)]</a:t>
            </a:r>
          </a:p>
        </p:txBody>
      </p:sp>
      <p:sp>
        <p:nvSpPr>
          <p:cNvPr id="20" name="TextBox 19"/>
          <p:cNvSpPr txBox="1"/>
          <p:nvPr/>
        </p:nvSpPr>
        <p:spPr>
          <a:xfrm>
            <a:off x="5074920" y="5212080"/>
            <a:ext cx="6126480" cy="777240"/>
          </a:xfrm>
          <a:prstGeom prst="rect">
            <a:avLst/>
          </a:prstGeom>
          <a:noFill/>
        </p:spPr>
        <p:txBody>
          <a:bodyPr wrap="square" lIns="0" rIns="0" tIns="0" bIns="0" anchor="t">
            <a:spAutoFit/>
          </a:bodyPr>
          <a:lstStyle/>
          <a:p>
            <a:r>
              <a:rPr sz="1400" b="0" i="0">
                <a:solidFill>
                  <a:schemeClr val="accent5"/>
                </a:solidFill>
              </a:rPr>
              <a:t>The steady response is strongest when the size of the push matches Ks, the stationary wavenumber from the last slide: Ks = √(β/ū), where c = 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777240"/>
            <a:ext cx="10817352" cy="868680"/>
          </a:xfrm>
        </p:spPr>
        <p:txBody>
          <a:bodyPr wrap="square" lIns="0" rIns="0" tIns="0" bIns="0" anchor="t"/>
          <a:lstStyle/>
          <a:p>
            <a:pPr algn="l"/>
            <a:r>
              <a:rPr sz="3600" b="1">
                <a:solidFill>
                  <a:schemeClr val="tx1"/>
                </a:solidFill>
                <a:latin typeface="+mj-lt"/>
              </a:rPr>
              <a:t>Heat, Pressure and Air Motion</a:t>
            </a:r>
          </a:p>
        </p:txBody>
      </p:sp>
      <p:sp>
        <p:nvSpPr>
          <p:cNvPr id="3" name="TextBox 2"/>
          <p:cNvSpPr txBox="1"/>
          <p:nvPr/>
        </p:nvSpPr>
        <p:spPr>
          <a:xfrm>
            <a:off x="685800" y="457200"/>
            <a:ext cx="10817352" cy="274320"/>
          </a:xfrm>
          <a:prstGeom prst="rect">
            <a:avLst/>
          </a:prstGeom>
          <a:noFill/>
        </p:spPr>
        <p:txBody>
          <a:bodyPr wrap="square" lIns="0" rIns="0" tIns="0" bIns="0" anchor="t">
            <a:spAutoFit/>
          </a:bodyPr>
          <a:lstStyle/>
          <a:p>
            <a:r>
              <a:rPr sz="1200" b="1" i="0" spc="300">
                <a:solidFill>
                  <a:schemeClr val="accent1"/>
                </a:solidFill>
              </a:rPr>
              <a:t>PART 2 · SIMPLE EQUATIONS</a:t>
            </a:r>
          </a:p>
        </p:txBody>
      </p:sp>
      <p:sp>
        <p:nvSpPr>
          <p:cNvPr id="4" name="TextBox 3"/>
          <p:cNvSpPr txBox="1"/>
          <p:nvPr/>
        </p:nvSpPr>
        <p:spPr>
          <a:xfrm>
            <a:off x="685800" y="6400800"/>
            <a:ext cx="6400800" cy="274320"/>
          </a:xfrm>
          <a:prstGeom prst="rect">
            <a:avLst/>
          </a:prstGeom>
          <a:noFill/>
        </p:spPr>
        <p:txBody>
          <a:bodyPr wrap="square" lIns="0" rIns="0" tIns="0" bIns="0" anchor="t">
            <a:spAutoFit/>
          </a:bodyPr>
          <a:lstStyle/>
          <a:p>
            <a:r>
              <a:rPr sz="1000" b="0" i="0">
                <a:solidFill>
                  <a:schemeClr val="tx2"/>
                </a:solidFill>
              </a:rPr>
              <a:t>Telly · stationary Rossby waves</a:t>
            </a:r>
          </a:p>
        </p:txBody>
      </p:sp>
      <p:sp>
        <p:nvSpPr>
          <p:cNvPr id="5" name="TextBox 4"/>
          <p:cNvSpPr txBox="1"/>
          <p:nvPr/>
        </p:nvSpPr>
        <p:spPr>
          <a:xfrm>
            <a:off x="10972800" y="6400800"/>
            <a:ext cx="548640" cy="274320"/>
          </a:xfrm>
          <a:prstGeom prst="rect">
            <a:avLst/>
          </a:prstGeom>
          <a:noFill/>
        </p:spPr>
        <p:txBody>
          <a:bodyPr wrap="none" lIns="0" rIns="0" tIns="0" bIns="0">
            <a:spAutoFit/>
          </a:bodyPr>
          <a:lstStyle/>
          <a:p>
            <a:pPr algn="r"/>
            <a:fld id="{B6F15528-21DE-4FAA-801E-634DDDAF4B2B}" type="slidenum">
              <a:rPr lang="en-US" sz="1000">
                <a:solidFill>
                  <a:schemeClr val="tx2"/>
                </a:solidFill>
              </a:rPr>
              <a:t>‹#›</a:t>
            </a:fld>
          </a:p>
        </p:txBody>
      </p:sp>
      <p:sp>
        <p:nvSpPr>
          <p:cNvPr id="6" name="Rounded Rectangle 5"/>
          <p:cNvSpPr/>
          <p:nvPr/>
        </p:nvSpPr>
        <p:spPr>
          <a:xfrm>
            <a:off x="685800" y="1783080"/>
            <a:ext cx="10817352" cy="1234440"/>
          </a:xfrm>
          <a:prstGeom prst="roundRect">
            <a:avLst>
              <a:gd name="adj" fmla="val 5000"/>
            </a:avLst>
          </a:prstGeom>
          <a:solidFill>
            <a:schemeClr val="bg1"/>
          </a:solidFill>
          <a:ln w="9525">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60120" y="1920240"/>
            <a:ext cx="4023360" cy="365760"/>
          </a:xfrm>
          <a:prstGeom prst="rect">
            <a:avLst/>
          </a:prstGeom>
          <a:noFill/>
        </p:spPr>
        <p:txBody>
          <a:bodyPr wrap="square" lIns="0" rIns="0" tIns="0" bIns="0" anchor="t">
            <a:spAutoFit/>
          </a:bodyPr>
          <a:lstStyle/>
          <a:p>
            <a:r>
              <a:rPr sz="1800" b="1" i="0">
                <a:solidFill>
                  <a:schemeClr val="accent1"/>
                </a:solidFill>
              </a:rPr>
              <a:t>Temperature</a:t>
            </a:r>
          </a:p>
        </p:txBody>
      </p:sp>
      <p:sp>
        <p:nvSpPr>
          <p:cNvPr id="8" name="TextBox 7"/>
          <p:cNvSpPr txBox="1"/>
          <p:nvPr/>
        </p:nvSpPr>
        <p:spPr>
          <a:xfrm>
            <a:off x="960120" y="2313432"/>
            <a:ext cx="4023360" cy="685800"/>
          </a:xfrm>
          <a:prstGeom prst="rect">
            <a:avLst/>
          </a:prstGeom>
          <a:noFill/>
        </p:spPr>
        <p:txBody>
          <a:bodyPr wrap="square" lIns="0" rIns="0" tIns="0" bIns="0" anchor="t">
            <a:spAutoFit/>
          </a:bodyPr>
          <a:lstStyle/>
          <a:p>
            <a:r>
              <a:rPr sz="1400" b="0" i="0">
                <a:solidFill>
                  <a:schemeClr val="tx2"/>
                </a:solidFill>
              </a:rPr>
              <a:t>The wind carries temperature; heating Q warms the air. There is no compression term yet.</a:t>
            </a:r>
          </a:p>
        </p:txBody>
      </p:sp>
      <p:sp>
        <p:nvSpPr>
          <p:cNvPr id="9" name="TextBox 8"/>
          <p:cNvSpPr txBox="1"/>
          <p:nvPr/>
        </p:nvSpPr>
        <p:spPr>
          <a:xfrm>
            <a:off x="5349240" y="2057400"/>
            <a:ext cx="5943600" cy="731520"/>
          </a:xfrm>
          <a:prstGeom prst="rect">
            <a:avLst/>
          </a:prstGeom>
          <a:noFill/>
        </p:spPr>
        <p:txBody>
          <a:bodyPr wrap="square" lIns="0" rIns="0" tIns="0" bIns="0" anchor="t">
            <a:spAutoFit/>
          </a:bodyPr>
          <a:lstStyle/>
          <a:p>
            <a:pPr>
              <a:spcAft>
                <a:spcPts val="400"/>
              </a:spcAft>
            </a:pPr>
            <a:r>
              <a:rPr sz="2200" b="0" i="1">
                <a:solidFill>
                  <a:schemeClr val="tx1"/>
                </a:solidFill>
                <a:latin typeface="+mj-lt"/>
              </a:rPr>
              <a:t>∂T/∂t + u ∂T/∂x + v ∂T/∂y + ω ∂T/∂p = </a:t>
            </a:r>
            <a:r>
              <a:rPr sz="2200" b="0" i="1">
                <a:solidFill>
                  <a:schemeClr val="accent2"/>
                </a:solidFill>
                <a:latin typeface="+mj-lt"/>
              </a:rPr>
              <a:t>Q/cp</a:t>
            </a:r>
          </a:p>
        </p:txBody>
      </p:sp>
      <p:sp>
        <p:nvSpPr>
          <p:cNvPr id="10" name="Rounded Rectangle 9"/>
          <p:cNvSpPr/>
          <p:nvPr/>
        </p:nvSpPr>
        <p:spPr>
          <a:xfrm>
            <a:off x="685800" y="3154680"/>
            <a:ext cx="10817352" cy="1234440"/>
          </a:xfrm>
          <a:prstGeom prst="roundRect">
            <a:avLst>
              <a:gd name="adj" fmla="val 5000"/>
            </a:avLst>
          </a:prstGeom>
          <a:solidFill>
            <a:schemeClr val="bg1"/>
          </a:solidFill>
          <a:ln w="9525">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60120" y="3291840"/>
            <a:ext cx="4023360" cy="365760"/>
          </a:xfrm>
          <a:prstGeom prst="rect">
            <a:avLst/>
          </a:prstGeom>
          <a:noFill/>
        </p:spPr>
        <p:txBody>
          <a:bodyPr wrap="square" lIns="0" rIns="0" tIns="0" bIns="0" anchor="t">
            <a:spAutoFit/>
          </a:bodyPr>
          <a:lstStyle/>
          <a:p>
            <a:r>
              <a:rPr sz="1800" b="1" i="0">
                <a:solidFill>
                  <a:schemeClr val="accent1"/>
                </a:solidFill>
              </a:rPr>
              <a:t>Hydrostatic</a:t>
            </a:r>
          </a:p>
        </p:txBody>
      </p:sp>
      <p:sp>
        <p:nvSpPr>
          <p:cNvPr id="12" name="TextBox 11"/>
          <p:cNvSpPr txBox="1"/>
          <p:nvPr/>
        </p:nvSpPr>
        <p:spPr>
          <a:xfrm>
            <a:off x="960120" y="3685032"/>
            <a:ext cx="4023360" cy="685800"/>
          </a:xfrm>
          <a:prstGeom prst="rect">
            <a:avLst/>
          </a:prstGeom>
          <a:noFill/>
        </p:spPr>
        <p:txBody>
          <a:bodyPr wrap="square" lIns="0" rIns="0" tIns="0" bIns="0" anchor="t">
            <a:spAutoFit/>
          </a:bodyPr>
          <a:lstStyle/>
          <a:p>
            <a:r>
              <a:rPr sz="1400" b="0" i="0">
                <a:solidFill>
                  <a:schemeClr val="tx2"/>
                </a:solidFill>
              </a:rPr>
              <a:t>Temperature sets how far apart the pressure surfaces are.</a:t>
            </a:r>
          </a:p>
        </p:txBody>
      </p:sp>
      <p:sp>
        <p:nvSpPr>
          <p:cNvPr id="13" name="TextBox 12"/>
          <p:cNvSpPr txBox="1"/>
          <p:nvPr/>
        </p:nvSpPr>
        <p:spPr>
          <a:xfrm>
            <a:off x="5349240" y="3429000"/>
            <a:ext cx="5943600" cy="731520"/>
          </a:xfrm>
          <a:prstGeom prst="rect">
            <a:avLst/>
          </a:prstGeom>
          <a:noFill/>
        </p:spPr>
        <p:txBody>
          <a:bodyPr wrap="square" lIns="0" rIns="0" tIns="0" bIns="0" anchor="t">
            <a:spAutoFit/>
          </a:bodyPr>
          <a:lstStyle/>
          <a:p>
            <a:pPr>
              <a:spcAft>
                <a:spcPts val="400"/>
              </a:spcAft>
            </a:pPr>
            <a:r>
              <a:rPr sz="2200" b="0" i="1">
                <a:solidFill>
                  <a:schemeClr val="tx1"/>
                </a:solidFill>
                <a:latin typeface="+mj-lt"/>
              </a:rPr>
              <a:t>∂Φ/∂p = −RT/p</a:t>
            </a:r>
          </a:p>
        </p:txBody>
      </p:sp>
      <p:sp>
        <p:nvSpPr>
          <p:cNvPr id="14" name="Rounded Rectangle 13"/>
          <p:cNvSpPr/>
          <p:nvPr/>
        </p:nvSpPr>
        <p:spPr>
          <a:xfrm>
            <a:off x="685800" y="4526280"/>
            <a:ext cx="10817352" cy="1234440"/>
          </a:xfrm>
          <a:prstGeom prst="roundRect">
            <a:avLst>
              <a:gd name="adj" fmla="val 5000"/>
            </a:avLst>
          </a:prstGeom>
          <a:solidFill>
            <a:schemeClr val="bg1"/>
          </a:solidFill>
          <a:ln w="9525">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60120" y="4663440"/>
            <a:ext cx="4023360" cy="365760"/>
          </a:xfrm>
          <a:prstGeom prst="rect">
            <a:avLst/>
          </a:prstGeom>
          <a:noFill/>
        </p:spPr>
        <p:txBody>
          <a:bodyPr wrap="square" lIns="0" rIns="0" tIns="0" bIns="0" anchor="t">
            <a:spAutoFit/>
          </a:bodyPr>
          <a:lstStyle/>
          <a:p>
            <a:r>
              <a:rPr sz="1800" b="1" i="0">
                <a:solidFill>
                  <a:schemeClr val="accent1"/>
                </a:solidFill>
              </a:rPr>
              <a:t>Continuity</a:t>
            </a:r>
          </a:p>
        </p:txBody>
      </p:sp>
      <p:sp>
        <p:nvSpPr>
          <p:cNvPr id="16" name="TextBox 15"/>
          <p:cNvSpPr txBox="1"/>
          <p:nvPr/>
        </p:nvSpPr>
        <p:spPr>
          <a:xfrm>
            <a:off x="960120" y="5056632"/>
            <a:ext cx="4023360" cy="685800"/>
          </a:xfrm>
          <a:prstGeom prst="rect">
            <a:avLst/>
          </a:prstGeom>
          <a:noFill/>
        </p:spPr>
        <p:txBody>
          <a:bodyPr wrap="square" lIns="0" rIns="0" tIns="0" bIns="0" anchor="t">
            <a:spAutoFit/>
          </a:bodyPr>
          <a:lstStyle/>
          <a:p>
            <a:r>
              <a:rPr sz="1400" b="0" i="0">
                <a:solidFill>
                  <a:schemeClr val="tx2"/>
                </a:solidFill>
              </a:rPr>
              <a:t>Air that converges sideways must move vertically.</a:t>
            </a:r>
          </a:p>
        </p:txBody>
      </p:sp>
      <p:sp>
        <p:nvSpPr>
          <p:cNvPr id="17" name="TextBox 16"/>
          <p:cNvSpPr txBox="1"/>
          <p:nvPr/>
        </p:nvSpPr>
        <p:spPr>
          <a:xfrm>
            <a:off x="5349240" y="4800600"/>
            <a:ext cx="5943600" cy="731520"/>
          </a:xfrm>
          <a:prstGeom prst="rect">
            <a:avLst/>
          </a:prstGeom>
          <a:noFill/>
        </p:spPr>
        <p:txBody>
          <a:bodyPr wrap="square" lIns="0" rIns="0" tIns="0" bIns="0" anchor="t">
            <a:spAutoFit/>
          </a:bodyPr>
          <a:lstStyle/>
          <a:p>
            <a:pPr>
              <a:spcAft>
                <a:spcPts val="400"/>
              </a:spcAft>
            </a:pPr>
            <a:r>
              <a:rPr sz="2200" b="0" i="1">
                <a:solidFill>
                  <a:schemeClr val="tx1"/>
                </a:solidFill>
                <a:latin typeface="+mj-lt"/>
              </a:rPr>
              <a:t>∂u/∂x + ∂v/∂y + ∂ω/∂p = 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777240"/>
            <a:ext cx="10817352" cy="868680"/>
          </a:xfrm>
        </p:spPr>
        <p:txBody>
          <a:bodyPr wrap="square" lIns="0" rIns="0" tIns="0" bIns="0" anchor="t"/>
          <a:lstStyle/>
          <a:p>
            <a:pPr algn="l"/>
            <a:r>
              <a:rPr sz="3600" b="1">
                <a:solidFill>
                  <a:schemeClr val="tx1"/>
                </a:solidFill>
                <a:latin typeface="+mj-lt"/>
              </a:rPr>
              <a:t>What Is in Q?</a:t>
            </a:r>
          </a:p>
        </p:txBody>
      </p:sp>
      <p:sp>
        <p:nvSpPr>
          <p:cNvPr id="3" name="TextBox 2"/>
          <p:cNvSpPr txBox="1"/>
          <p:nvPr/>
        </p:nvSpPr>
        <p:spPr>
          <a:xfrm>
            <a:off x="685800" y="457200"/>
            <a:ext cx="10817352" cy="274320"/>
          </a:xfrm>
          <a:prstGeom prst="rect">
            <a:avLst/>
          </a:prstGeom>
          <a:noFill/>
        </p:spPr>
        <p:txBody>
          <a:bodyPr wrap="square" lIns="0" rIns="0" tIns="0" bIns="0" anchor="t">
            <a:spAutoFit/>
          </a:bodyPr>
          <a:lstStyle/>
          <a:p>
            <a:r>
              <a:rPr sz="1200" b="1" i="0" spc="300">
                <a:solidFill>
                  <a:schemeClr val="accent1"/>
                </a:solidFill>
              </a:rPr>
              <a:t>PART 2 · SIMPLE EQUATIONS</a:t>
            </a:r>
          </a:p>
        </p:txBody>
      </p:sp>
      <p:sp>
        <p:nvSpPr>
          <p:cNvPr id="4" name="TextBox 3"/>
          <p:cNvSpPr txBox="1"/>
          <p:nvPr/>
        </p:nvSpPr>
        <p:spPr>
          <a:xfrm>
            <a:off x="685800" y="6400800"/>
            <a:ext cx="6400800" cy="274320"/>
          </a:xfrm>
          <a:prstGeom prst="rect">
            <a:avLst/>
          </a:prstGeom>
          <a:noFill/>
        </p:spPr>
        <p:txBody>
          <a:bodyPr wrap="square" lIns="0" rIns="0" tIns="0" bIns="0" anchor="t">
            <a:spAutoFit/>
          </a:bodyPr>
          <a:lstStyle/>
          <a:p>
            <a:r>
              <a:rPr sz="1000" b="0" i="0">
                <a:solidFill>
                  <a:schemeClr val="tx2"/>
                </a:solidFill>
              </a:rPr>
              <a:t>Telly · stationary Rossby waves</a:t>
            </a:r>
          </a:p>
        </p:txBody>
      </p:sp>
      <p:sp>
        <p:nvSpPr>
          <p:cNvPr id="5" name="TextBox 4"/>
          <p:cNvSpPr txBox="1"/>
          <p:nvPr/>
        </p:nvSpPr>
        <p:spPr>
          <a:xfrm>
            <a:off x="10972800" y="6400800"/>
            <a:ext cx="548640" cy="274320"/>
          </a:xfrm>
          <a:prstGeom prst="rect">
            <a:avLst/>
          </a:prstGeom>
          <a:noFill/>
        </p:spPr>
        <p:txBody>
          <a:bodyPr wrap="none" lIns="0" rIns="0" tIns="0" bIns="0">
            <a:spAutoFit/>
          </a:bodyPr>
          <a:lstStyle/>
          <a:p>
            <a:pPr algn="r"/>
            <a:fld id="{B6F15528-21DE-4FAA-801E-634DDDAF4B2B}" type="slidenum">
              <a:rPr lang="en-US" sz="1000">
                <a:solidFill>
                  <a:schemeClr val="tx2"/>
                </a:solidFill>
              </a:rPr>
              <a:t>‹#›</a:t>
            </a:fld>
          </a:p>
        </p:txBody>
      </p:sp>
      <p:sp>
        <p:nvSpPr>
          <p:cNvPr id="6" name="Rounded Rectangle 5"/>
          <p:cNvSpPr/>
          <p:nvPr/>
        </p:nvSpPr>
        <p:spPr>
          <a:xfrm>
            <a:off x="685800" y="1783080"/>
            <a:ext cx="10817352" cy="777240"/>
          </a:xfrm>
          <a:prstGeom prst="roundRect">
            <a:avLst>
              <a:gd name="adj" fmla="val 5000"/>
            </a:avLst>
          </a:prstGeom>
          <a:solidFill>
            <a:schemeClr val="bg1"/>
          </a:solidFill>
          <a:ln w="9525">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85800" y="1920240"/>
            <a:ext cx="10817352" cy="548640"/>
          </a:xfrm>
          <a:prstGeom prst="rect">
            <a:avLst/>
          </a:prstGeom>
          <a:noFill/>
        </p:spPr>
        <p:txBody>
          <a:bodyPr wrap="square" lIns="0" rIns="0" tIns="0" bIns="0" anchor="t">
            <a:spAutoFit/>
          </a:bodyPr>
          <a:lstStyle/>
          <a:p>
            <a:pPr algn="ctr">
              <a:spcAft>
                <a:spcPts val="400"/>
              </a:spcAft>
            </a:pPr>
            <a:r>
              <a:rPr sz="2800" b="0" i="1">
                <a:solidFill>
                  <a:schemeClr val="tx1"/>
                </a:solidFill>
                <a:latin typeface="+mj-lt"/>
              </a:rPr>
              <a:t>Q = Qrad + </a:t>
            </a:r>
            <a:r>
              <a:rPr sz="2800" b="0" i="1">
                <a:solidFill>
                  <a:schemeClr val="accent2"/>
                </a:solidFill>
                <a:latin typeface="+mj-lt"/>
              </a:rPr>
              <a:t>Qlatent</a:t>
            </a:r>
            <a:r>
              <a:rPr sz="2800" b="0" i="1">
                <a:solidFill>
                  <a:schemeClr val="tx1"/>
                </a:solidFill>
                <a:latin typeface="+mj-lt"/>
              </a:rPr>
              <a:t> + Qsurface</a:t>
            </a:r>
          </a:p>
        </p:txBody>
      </p:sp>
      <p:graphicFrame>
        <p:nvGraphicFramePr>
          <p:cNvPr id="8" name="Table 7"/>
          <p:cNvGraphicFramePr>
            <a:graphicFrameLocks noGrp="1"/>
          </p:cNvGraphicFramePr>
          <p:nvPr/>
        </p:nvGraphicFramePr>
        <p:xfrm>
          <a:off x="685800" y="2743200"/>
          <a:ext cx="10817352" cy="1828800"/>
        </p:xfrm>
        <a:graphic>
          <a:graphicData uri="http://schemas.openxmlformats.org/drawingml/2006/table">
            <a:tbl>
              <a:tblPr firstRow="1" bandRow="1">
                <a:tableStyleId>{5C22544A-7EE6-4342-B048-85BDC9FD1C3A}</a:tableStyleId>
              </a:tblPr>
              <a:tblGrid>
                <a:gridCol w="1737360"/>
                <a:gridCol w="4572000"/>
                <a:gridCol w="4507992"/>
              </a:tblGrid>
              <a:tr h="457200">
                <a:tc>
                  <a:txBody>
                    <a:bodyPr wrap="square"/>
                    <a:lstStyle/>
                    <a:p>
                      <a:r>
                        <a:rPr sz="1400" b="1" i="0">
                          <a:solidFill>
                            <a:schemeClr val="bg2"/>
                          </a:solidFill>
                        </a:rPr>
                        <a:t>Process</a:t>
                      </a:r>
                    </a:p>
                  </a:txBody>
                  <a:tcPr marL="109728" marR="109728" marT="45720" marB="45720" anchor="ctr">
                    <a:solidFill>
                      <a:schemeClr val="tx1"/>
                    </a:solidFill>
                  </a:tcPr>
                </a:tc>
                <a:tc>
                  <a:txBody>
                    <a:bodyPr wrap="square"/>
                    <a:lstStyle/>
                    <a:p>
                      <a:r>
                        <a:rPr sz="1400" b="1" i="0">
                          <a:solidFill>
                            <a:schemeClr val="bg2"/>
                          </a:solidFill>
                        </a:rPr>
                        <a:t>What it is</a:t>
                      </a:r>
                    </a:p>
                  </a:txBody>
                  <a:tcPr marL="109728" marR="109728" marT="45720" marB="45720" anchor="ctr">
                    <a:solidFill>
                      <a:schemeClr val="tx1"/>
                    </a:solidFill>
                  </a:tcPr>
                </a:tc>
                <a:tc>
                  <a:txBody>
                    <a:bodyPr wrap="square"/>
                    <a:lstStyle/>
                    <a:p>
                      <a:r>
                        <a:rPr sz="1400" b="1" i="0">
                          <a:solidFill>
                            <a:schemeClr val="bg2"/>
                          </a:solidFill>
                        </a:rPr>
                        <a:t>In Telly</a:t>
                      </a:r>
                    </a:p>
                  </a:txBody>
                  <a:tcPr marL="109728" marR="109728" marT="45720" marB="45720" anchor="ctr">
                    <a:solidFill>
                      <a:schemeClr val="tx1"/>
                    </a:solidFill>
                  </a:tcPr>
                </a:tc>
              </a:tr>
              <a:tr h="457200">
                <a:tc>
                  <a:txBody>
                    <a:bodyPr wrap="square"/>
                    <a:lstStyle/>
                    <a:p>
                      <a:r>
                        <a:rPr sz="1400" b="1" i="0">
                          <a:solidFill>
                            <a:schemeClr val="tx1"/>
                          </a:solidFill>
                        </a:rPr>
                        <a:t>Radiation</a:t>
                      </a:r>
                    </a:p>
                  </a:txBody>
                  <a:tcPr marL="109728" marR="109728" marT="45720" marB="45720" anchor="ctr">
                    <a:solidFill>
                      <a:schemeClr val="bg1"/>
                    </a:solidFill>
                  </a:tcPr>
                </a:tc>
                <a:tc>
                  <a:txBody>
                    <a:bodyPr wrap="square"/>
                    <a:lstStyle/>
                    <a:p>
                      <a:r>
                        <a:rPr sz="1400" b="0" i="0">
                          <a:solidFill>
                            <a:schemeClr val="tx1"/>
                          </a:solidFill>
                        </a:rPr>
                        <a:t>Sunlight absorbed, infrared emitted: warms the tropics, cools the poles</a:t>
                      </a:r>
                    </a:p>
                  </a:txBody>
                  <a:tcPr marL="109728" marR="109728" marT="45720" marB="45720" anchor="ctr">
                    <a:solidFill>
                      <a:schemeClr val="bg1"/>
                    </a:solidFill>
                  </a:tcPr>
                </a:tc>
                <a:tc>
                  <a:txBody>
                    <a:bodyPr wrap="square"/>
                    <a:lstStyle/>
                    <a:p>
                      <a:r>
                        <a:rPr sz="1400" b="0" i="0">
                          <a:solidFill>
                            <a:schemeClr val="tx1"/>
                          </a:solidFill>
                        </a:rPr>
                        <a:t>Not computed; the pull toward the background temperature stands in for it</a:t>
                      </a:r>
                    </a:p>
                  </a:txBody>
                  <a:tcPr marL="109728" marR="109728" marT="45720" marB="45720" anchor="ctr">
                    <a:solidFill>
                      <a:schemeClr val="bg1"/>
                    </a:solidFill>
                  </a:tcPr>
                </a:tc>
              </a:tr>
              <a:tr h="457200">
                <a:tc>
                  <a:txBody>
                    <a:bodyPr wrap="square"/>
                    <a:lstStyle/>
                    <a:p>
                      <a:r>
                        <a:rPr sz="1400" b="1" i="0">
                          <a:solidFill>
                            <a:schemeClr val="accent2"/>
                          </a:solidFill>
                        </a:rPr>
                        <a:t>Latent heating</a:t>
                      </a:r>
                    </a:p>
                  </a:txBody>
                  <a:tcPr marL="109728" marR="109728" marT="45720" marB="45720" anchor="ctr">
                    <a:solidFill>
                      <a:schemeClr val="accent6">
                        <a:lumMod val="45000"/>
                        <a:lumOff val="55000"/>
                      </a:schemeClr>
                    </a:solidFill>
                  </a:tcPr>
                </a:tc>
                <a:tc>
                  <a:txBody>
                    <a:bodyPr wrap="square"/>
                    <a:lstStyle/>
                    <a:p>
                      <a:r>
                        <a:rPr sz="1400" b="0" i="0">
                          <a:solidFill>
                            <a:schemeClr val="tx1"/>
                          </a:solidFill>
                        </a:rPr>
                        <a:t>Heat released when water vapor condenses into rain</a:t>
                      </a:r>
                    </a:p>
                  </a:txBody>
                  <a:tcPr marL="109728" marR="109728" marT="45720" marB="45720" anchor="ctr">
                    <a:solidFill>
                      <a:schemeClr val="accent6">
                        <a:lumMod val="45000"/>
                        <a:lumOff val="55000"/>
                      </a:schemeClr>
                    </a:solidFill>
                  </a:tcPr>
                </a:tc>
                <a:tc>
                  <a:txBody>
                    <a:bodyPr wrap="square"/>
                    <a:lstStyle/>
                    <a:p>
                      <a:r>
                        <a:rPr sz="1400" b="0" i="0">
                          <a:solidFill>
                            <a:schemeClr val="tx1"/>
                          </a:solidFill>
                        </a:rPr>
                        <a:t>Prescribed from observed rainfall: the Q/cp term</a:t>
                      </a:r>
                    </a:p>
                  </a:txBody>
                  <a:tcPr marL="109728" marR="109728" marT="45720" marB="45720" anchor="ctr">
                    <a:solidFill>
                      <a:schemeClr val="accent6">
                        <a:lumMod val="45000"/>
                        <a:lumOff val="55000"/>
                      </a:schemeClr>
                    </a:solidFill>
                  </a:tcPr>
                </a:tc>
              </a:tr>
              <a:tr h="457200">
                <a:tc>
                  <a:txBody>
                    <a:bodyPr wrap="square"/>
                    <a:lstStyle/>
                    <a:p>
                      <a:r>
                        <a:rPr sz="1400" b="1" i="0">
                          <a:solidFill>
                            <a:schemeClr val="tx1"/>
                          </a:solidFill>
                        </a:rPr>
                        <a:t>Surface heating</a:t>
                      </a:r>
                    </a:p>
                  </a:txBody>
                  <a:tcPr marL="109728" marR="109728" marT="45720" marB="45720" anchor="ctr">
                    <a:solidFill>
                      <a:schemeClr val="bg1"/>
                    </a:solidFill>
                  </a:tcPr>
                </a:tc>
                <a:tc>
                  <a:txBody>
                    <a:bodyPr wrap="square"/>
                    <a:lstStyle/>
                    <a:p>
                      <a:r>
                        <a:rPr sz="1400" b="0" i="0">
                          <a:solidFill>
                            <a:schemeClr val="tx1"/>
                          </a:solidFill>
                        </a:rPr>
                        <a:t>Warm land or ocean heats the air above it by mixing</a:t>
                      </a:r>
                    </a:p>
                  </a:txBody>
                  <a:tcPr marL="109728" marR="109728" marT="45720" marB="45720" anchor="ctr">
                    <a:solidFill>
                      <a:schemeClr val="bg1"/>
                    </a:solidFill>
                  </a:tcPr>
                </a:tc>
                <a:tc>
                  <a:txBody>
                    <a:bodyPr wrap="square"/>
                    <a:lstStyle/>
                    <a:p>
                      <a:r>
                        <a:rPr sz="1400" b="0" i="0">
                          <a:solidFill>
                            <a:schemeClr val="tx1"/>
                          </a:solidFill>
                        </a:rPr>
                        <a:t>Not computed; carried by the background temperature (the land–sea contrast)</a:t>
                      </a:r>
                    </a:p>
                  </a:txBody>
                  <a:tcPr marL="109728" marR="109728" marT="45720" marB="45720" anchor="ctr">
                    <a:solidFill>
                      <a:schemeClr val="bg1"/>
                    </a:solidFill>
                  </a:tcPr>
                </a:tc>
              </a:tr>
            </a:tbl>
          </a:graphicData>
        </a:graphic>
      </p:graphicFrame>
      <p:sp>
        <p:nvSpPr>
          <p:cNvPr id="9" name="TextBox 8"/>
          <p:cNvSpPr txBox="1"/>
          <p:nvPr/>
        </p:nvSpPr>
        <p:spPr>
          <a:xfrm>
            <a:off x="685800" y="5074920"/>
            <a:ext cx="10817352" cy="365760"/>
          </a:xfrm>
          <a:prstGeom prst="rect">
            <a:avLst/>
          </a:prstGeom>
          <a:noFill/>
        </p:spPr>
        <p:txBody>
          <a:bodyPr wrap="square" lIns="0" rIns="0" tIns="0" bIns="0" anchor="t">
            <a:spAutoFit/>
          </a:bodyPr>
          <a:lstStyle/>
          <a:p>
            <a:r>
              <a:rPr sz="1700" b="1" i="0">
                <a:solidFill>
                  <a:schemeClr val="accent1"/>
                </a:solidFill>
              </a:rPr>
              <a:t>So far we have thought of Q as radiative heating. In Telly, Q is the latent heating only.</a:t>
            </a:r>
          </a:p>
        </p:txBody>
      </p:sp>
      <p:sp>
        <p:nvSpPr>
          <p:cNvPr id="10" name="TextBox 9"/>
          <p:cNvSpPr txBox="1"/>
          <p:nvPr/>
        </p:nvSpPr>
        <p:spPr>
          <a:xfrm>
            <a:off x="685800" y="5486400"/>
            <a:ext cx="10817352" cy="640080"/>
          </a:xfrm>
          <a:prstGeom prst="rect">
            <a:avLst/>
          </a:prstGeom>
          <a:noFill/>
        </p:spPr>
        <p:txBody>
          <a:bodyPr wrap="square" lIns="0" rIns="0" tIns="0" bIns="0" anchor="t">
            <a:spAutoFit/>
          </a:bodyPr>
          <a:lstStyle/>
          <a:p>
            <a:r>
              <a:rPr sz="1400" b="0" i="0">
                <a:solidFill>
                  <a:schemeClr val="tx2"/>
                </a:solidFill>
              </a:rPr>
              <a:t>Telly has no solar heating or outgoing longwave radiation, so no energy balance: the equator-to-pole temperature contrast is imposed by the background state, not produced.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chemeClr val="tx1"/>
        </a:solidFill>
        <a:effectLst/>
      </p:bgPr>
    </p:bg>
    <p:spTree>
      <p:nvGrpSpPr>
        <p:cNvPr id="1" name=""/>
        <p:cNvGrpSpPr/>
        <p:nvPr/>
      </p:nvGrpSpPr>
      <p:grpSpPr/>
      <p:sp>
        <p:nvSpPr>
          <p:cNvPr id="2" name="Title 1"/>
          <p:cNvSpPr>
            <a:spLocks noGrp="1"/>
          </p:cNvSpPr>
          <p:nvPr>
            <p:ph type="title"/>
          </p:nvPr>
        </p:nvSpPr>
        <p:spPr>
          <a:xfrm>
            <a:off x="822960" y="3657600"/>
            <a:ext cx="10515600" cy="1097280"/>
          </a:xfrm>
        </p:spPr>
        <p:txBody>
          <a:bodyPr wrap="square" lIns="0" rIns="0" tIns="0" bIns="0" anchor="t"/>
          <a:lstStyle/>
          <a:p>
            <a:pPr algn="l"/>
            <a:r>
              <a:rPr sz="6000" b="1">
                <a:solidFill>
                  <a:schemeClr val="bg2"/>
                </a:solidFill>
                <a:latin typeface="+mj-lt"/>
              </a:rPr>
              <a:t>Telly</a:t>
            </a:r>
          </a:p>
        </p:txBody>
      </p:sp>
      <p:sp>
        <p:nvSpPr>
          <p:cNvPr id="3" name="TextBox 2"/>
          <p:cNvSpPr txBox="1"/>
          <p:nvPr/>
        </p:nvSpPr>
        <p:spPr>
          <a:xfrm>
            <a:off x="822960" y="3246120"/>
            <a:ext cx="10058400" cy="365760"/>
          </a:xfrm>
          <a:prstGeom prst="rect">
            <a:avLst/>
          </a:prstGeom>
          <a:noFill/>
        </p:spPr>
        <p:txBody>
          <a:bodyPr wrap="square" lIns="0" rIns="0" tIns="0" bIns="0" anchor="t">
            <a:spAutoFit/>
          </a:bodyPr>
          <a:lstStyle/>
          <a:p>
            <a:r>
              <a:rPr sz="1400" b="1" i="0" spc="400">
                <a:solidFill>
                  <a:schemeClr val="accent4"/>
                </a:solidFill>
              </a:rPr>
              <a:t>PART 3</a:t>
            </a:r>
          </a:p>
        </p:txBody>
      </p:sp>
      <p:sp>
        <p:nvSpPr>
          <p:cNvPr id="4" name="TextBox 3"/>
          <p:cNvSpPr txBox="1"/>
          <p:nvPr/>
        </p:nvSpPr>
        <p:spPr>
          <a:xfrm>
            <a:off x="822960" y="4892040"/>
            <a:ext cx="10058400" cy="548640"/>
          </a:xfrm>
          <a:prstGeom prst="rect">
            <a:avLst/>
          </a:prstGeom>
          <a:noFill/>
        </p:spPr>
        <p:txBody>
          <a:bodyPr wrap="square" lIns="0" rIns="0" tIns="0" bIns="0" anchor="t">
            <a:spAutoFit/>
          </a:bodyPr>
          <a:lstStyle/>
          <a:p>
            <a:r>
              <a:rPr sz="2200" b="0" i="0">
                <a:solidFill>
                  <a:schemeClr val="accent5"/>
                </a:solidFill>
              </a:rPr>
              <a:t>From the class equations to a model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777240"/>
            <a:ext cx="10817352" cy="868680"/>
          </a:xfrm>
        </p:spPr>
        <p:txBody>
          <a:bodyPr wrap="square" lIns="0" rIns="0" tIns="0" bIns="0" anchor="t"/>
          <a:lstStyle/>
          <a:p>
            <a:pPr algn="l"/>
            <a:r>
              <a:rPr sz="3600" b="1">
                <a:solidFill>
                  <a:schemeClr val="tx1"/>
                </a:solidFill>
                <a:latin typeface="+mj-lt"/>
              </a:rPr>
              <a:t>Where Telly Fits</a:t>
            </a:r>
          </a:p>
        </p:txBody>
      </p:sp>
      <p:sp>
        <p:nvSpPr>
          <p:cNvPr id="3" name="TextBox 2"/>
          <p:cNvSpPr txBox="1"/>
          <p:nvPr/>
        </p:nvSpPr>
        <p:spPr>
          <a:xfrm>
            <a:off x="685800" y="457200"/>
            <a:ext cx="10817352" cy="274320"/>
          </a:xfrm>
          <a:prstGeom prst="rect">
            <a:avLst/>
          </a:prstGeom>
          <a:noFill/>
        </p:spPr>
        <p:txBody>
          <a:bodyPr wrap="square" lIns="0" rIns="0" tIns="0" bIns="0" anchor="t">
            <a:spAutoFit/>
          </a:bodyPr>
          <a:lstStyle/>
          <a:p>
            <a:r>
              <a:rPr sz="1200" b="1" i="0" spc="300">
                <a:solidFill>
                  <a:schemeClr val="accent1"/>
                </a:solidFill>
              </a:rPr>
              <a:t>PART 3 · TELLY</a:t>
            </a:r>
          </a:p>
        </p:txBody>
      </p:sp>
      <p:sp>
        <p:nvSpPr>
          <p:cNvPr id="4" name="TextBox 3"/>
          <p:cNvSpPr txBox="1"/>
          <p:nvPr/>
        </p:nvSpPr>
        <p:spPr>
          <a:xfrm>
            <a:off x="685800" y="6400800"/>
            <a:ext cx="6400800" cy="274320"/>
          </a:xfrm>
          <a:prstGeom prst="rect">
            <a:avLst/>
          </a:prstGeom>
          <a:noFill/>
        </p:spPr>
        <p:txBody>
          <a:bodyPr wrap="square" lIns="0" rIns="0" tIns="0" bIns="0" anchor="t">
            <a:spAutoFit/>
          </a:bodyPr>
          <a:lstStyle/>
          <a:p>
            <a:r>
              <a:rPr sz="1000" b="0" i="0">
                <a:solidFill>
                  <a:schemeClr val="tx2"/>
                </a:solidFill>
              </a:rPr>
              <a:t>Telly · stationary Rossby waves</a:t>
            </a:r>
          </a:p>
        </p:txBody>
      </p:sp>
      <p:sp>
        <p:nvSpPr>
          <p:cNvPr id="5" name="TextBox 4"/>
          <p:cNvSpPr txBox="1"/>
          <p:nvPr/>
        </p:nvSpPr>
        <p:spPr>
          <a:xfrm>
            <a:off x="10972800" y="6400800"/>
            <a:ext cx="548640" cy="274320"/>
          </a:xfrm>
          <a:prstGeom prst="rect">
            <a:avLst/>
          </a:prstGeom>
          <a:noFill/>
        </p:spPr>
        <p:txBody>
          <a:bodyPr wrap="none" lIns="0" rIns="0" tIns="0" bIns="0">
            <a:spAutoFit/>
          </a:bodyPr>
          <a:lstStyle/>
          <a:p>
            <a:pPr algn="r"/>
            <a:fld id="{B6F15528-21DE-4FAA-801E-634DDDAF4B2B}" type="slidenum">
              <a:rPr lang="en-US" sz="1000">
                <a:solidFill>
                  <a:schemeClr val="tx2"/>
                </a:solidFill>
              </a:rPr>
              <a:t>‹#›</a:t>
            </a:fld>
          </a:p>
        </p:txBody>
      </p:sp>
      <p:sp>
        <p:nvSpPr>
          <p:cNvPr id="6" name="Rounded Rectangle 5"/>
          <p:cNvSpPr/>
          <p:nvPr/>
        </p:nvSpPr>
        <p:spPr>
          <a:xfrm>
            <a:off x="685800" y="1783080"/>
            <a:ext cx="3154680" cy="2926080"/>
          </a:xfrm>
          <a:prstGeom prst="roundRect">
            <a:avLst>
              <a:gd name="adj" fmla="val 5000"/>
            </a:avLst>
          </a:prstGeom>
          <a:solidFill>
            <a:schemeClr val="bg1"/>
          </a:solidFill>
          <a:ln w="9525">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14400" y="1920240"/>
            <a:ext cx="2697480" cy="274320"/>
          </a:xfrm>
          <a:prstGeom prst="rect">
            <a:avLst/>
          </a:prstGeom>
          <a:noFill/>
        </p:spPr>
        <p:txBody>
          <a:bodyPr wrap="square" lIns="0" rIns="0" tIns="0" bIns="0" anchor="t">
            <a:spAutoFit/>
          </a:bodyPr>
          <a:lstStyle/>
          <a:p>
            <a:r>
              <a:rPr sz="1200" b="1" i="0" spc="300">
                <a:solidFill>
                  <a:schemeClr val="tx2"/>
                </a:solidFill>
              </a:rPr>
              <a:t>OBSERVATIONS</a:t>
            </a:r>
          </a:p>
        </p:txBody>
      </p:sp>
      <p:sp>
        <p:nvSpPr>
          <p:cNvPr id="8" name="TextBox 7"/>
          <p:cNvSpPr txBox="1"/>
          <p:nvPr/>
        </p:nvSpPr>
        <p:spPr>
          <a:xfrm>
            <a:off x="914400" y="2286000"/>
            <a:ext cx="2697480" cy="548640"/>
          </a:xfrm>
          <a:prstGeom prst="rect">
            <a:avLst/>
          </a:prstGeom>
          <a:noFill/>
        </p:spPr>
        <p:txBody>
          <a:bodyPr wrap="square" lIns="0" rIns="0" tIns="0" bIns="0" anchor="t">
            <a:spAutoFit/>
          </a:bodyPr>
          <a:lstStyle/>
          <a:p>
            <a:r>
              <a:rPr sz="2000" b="1" i="0">
                <a:solidFill>
                  <a:schemeClr val="tx1"/>
                </a:solidFill>
              </a:rPr>
              <a:t>Real atmosphere</a:t>
            </a:r>
          </a:p>
        </p:txBody>
      </p:sp>
      <p:sp>
        <p:nvSpPr>
          <p:cNvPr id="9" name="TextBox 8"/>
          <p:cNvSpPr txBox="1"/>
          <p:nvPr/>
        </p:nvSpPr>
        <p:spPr>
          <a:xfrm>
            <a:off x="914400" y="3657600"/>
            <a:ext cx="2697480" cy="1005840"/>
          </a:xfrm>
          <a:prstGeom prst="rect">
            <a:avLst/>
          </a:prstGeom>
          <a:noFill/>
        </p:spPr>
        <p:txBody>
          <a:bodyPr wrap="square" lIns="0" rIns="0" tIns="0" bIns="0" anchor="t">
            <a:spAutoFit/>
          </a:bodyPr>
          <a:lstStyle/>
          <a:p>
            <a:r>
              <a:rPr sz="1500" b="0" i="0">
                <a:solidFill>
                  <a:schemeClr val="tx2"/>
                </a:solidFill>
              </a:rPr>
              <a:t>Everything acts at once, so the causes are hard to separate.</a:t>
            </a:r>
          </a:p>
        </p:txBody>
      </p:sp>
      <p:sp>
        <p:nvSpPr>
          <p:cNvPr id="10" name="Right Arrow 9"/>
          <p:cNvSpPr/>
          <p:nvPr/>
        </p:nvSpPr>
        <p:spPr>
          <a:xfrm>
            <a:off x="3950208" y="3063240"/>
            <a:ext cx="457200" cy="384048"/>
          </a:xfrm>
          <a:prstGeom prst="rightArrow">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517136" y="1783080"/>
            <a:ext cx="3154680" cy="2926080"/>
          </a:xfrm>
          <a:prstGeom prst="roundRect">
            <a:avLst>
              <a:gd name="adj" fmla="val 5000"/>
            </a:avLst>
          </a:prstGeom>
          <a:solidFill>
            <a:schemeClr val="bg1"/>
          </a:solidFill>
          <a:ln w="9525">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4745736" y="1920240"/>
            <a:ext cx="2697480" cy="274320"/>
          </a:xfrm>
          <a:prstGeom prst="rect">
            <a:avLst/>
          </a:prstGeom>
          <a:noFill/>
        </p:spPr>
        <p:txBody>
          <a:bodyPr wrap="square" lIns="0" rIns="0" tIns="0" bIns="0" anchor="t">
            <a:spAutoFit/>
          </a:bodyPr>
          <a:lstStyle/>
          <a:p>
            <a:r>
              <a:rPr sz="1200" b="1" i="0" spc="300">
                <a:solidFill>
                  <a:schemeClr val="tx2"/>
                </a:solidFill>
              </a:rPr>
              <a:t>CLASS</a:t>
            </a:r>
          </a:p>
        </p:txBody>
      </p:sp>
      <p:sp>
        <p:nvSpPr>
          <p:cNvPr id="13" name="TextBox 12"/>
          <p:cNvSpPr txBox="1"/>
          <p:nvPr/>
        </p:nvSpPr>
        <p:spPr>
          <a:xfrm>
            <a:off x="4745736" y="2286000"/>
            <a:ext cx="2697480" cy="548640"/>
          </a:xfrm>
          <a:prstGeom prst="rect">
            <a:avLst/>
          </a:prstGeom>
          <a:noFill/>
        </p:spPr>
        <p:txBody>
          <a:bodyPr wrap="square" lIns="0" rIns="0" tIns="0" bIns="0" anchor="t">
            <a:spAutoFit/>
          </a:bodyPr>
          <a:lstStyle/>
          <a:p>
            <a:r>
              <a:rPr sz="2000" b="1" i="0">
                <a:solidFill>
                  <a:schemeClr val="tx1"/>
                </a:solidFill>
              </a:rPr>
              <a:t>Simple equations</a:t>
            </a:r>
          </a:p>
        </p:txBody>
      </p:sp>
      <p:sp>
        <p:nvSpPr>
          <p:cNvPr id="14" name="TextBox 13"/>
          <p:cNvSpPr txBox="1"/>
          <p:nvPr/>
        </p:nvSpPr>
        <p:spPr>
          <a:xfrm>
            <a:off x="4745736" y="3657600"/>
            <a:ext cx="2697480" cy="1005840"/>
          </a:xfrm>
          <a:prstGeom prst="rect">
            <a:avLst/>
          </a:prstGeom>
          <a:noFill/>
        </p:spPr>
        <p:txBody>
          <a:bodyPr wrap="square" lIns="0" rIns="0" tIns="0" bIns="0" anchor="t">
            <a:spAutoFit/>
          </a:bodyPr>
          <a:lstStyle/>
          <a:p>
            <a:r>
              <a:rPr sz="1500" b="0" i="0">
                <a:solidFill>
                  <a:schemeClr val="tx2"/>
                </a:solidFill>
              </a:rPr>
              <a:t>Easy to understand, but many things are dropped.</a:t>
            </a:r>
          </a:p>
        </p:txBody>
      </p:sp>
      <p:sp>
        <p:nvSpPr>
          <p:cNvPr id="15" name="Right Arrow 14"/>
          <p:cNvSpPr/>
          <p:nvPr/>
        </p:nvSpPr>
        <p:spPr>
          <a:xfrm>
            <a:off x="7781544" y="3063240"/>
            <a:ext cx="457200" cy="384048"/>
          </a:xfrm>
          <a:prstGeom prst="rightArrow">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348472" y="1783080"/>
            <a:ext cx="3154680" cy="2926080"/>
          </a:xfrm>
          <a:prstGeom prst="roundRect">
            <a:avLst>
              <a:gd name="adj" fmla="val 5000"/>
            </a:avLst>
          </a:prstGeom>
          <a:solidFill>
            <a:schemeClr val="bg1"/>
          </a:solid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577072" y="1920240"/>
            <a:ext cx="2697480" cy="274320"/>
          </a:xfrm>
          <a:prstGeom prst="rect">
            <a:avLst/>
          </a:prstGeom>
          <a:noFill/>
        </p:spPr>
        <p:txBody>
          <a:bodyPr wrap="square" lIns="0" rIns="0" tIns="0" bIns="0" anchor="t">
            <a:spAutoFit/>
          </a:bodyPr>
          <a:lstStyle/>
          <a:p>
            <a:r>
              <a:rPr sz="1200" b="1" i="0" spc="300">
                <a:solidFill>
                  <a:schemeClr val="accent1"/>
                </a:solidFill>
              </a:rPr>
              <a:t>TODAY</a:t>
            </a:r>
          </a:p>
        </p:txBody>
      </p:sp>
      <p:sp>
        <p:nvSpPr>
          <p:cNvPr id="18" name="TextBox 17"/>
          <p:cNvSpPr txBox="1"/>
          <p:nvPr/>
        </p:nvSpPr>
        <p:spPr>
          <a:xfrm>
            <a:off x="8577072" y="2286000"/>
            <a:ext cx="2697480" cy="548640"/>
          </a:xfrm>
          <a:prstGeom prst="rect">
            <a:avLst/>
          </a:prstGeom>
          <a:noFill/>
        </p:spPr>
        <p:txBody>
          <a:bodyPr wrap="square" lIns="0" rIns="0" tIns="0" bIns="0" anchor="t">
            <a:spAutoFit/>
          </a:bodyPr>
          <a:lstStyle/>
          <a:p>
            <a:r>
              <a:rPr sz="2000" b="1" i="0">
                <a:solidFill>
                  <a:schemeClr val="tx1"/>
                </a:solidFill>
              </a:rPr>
              <a:t>Telly</a:t>
            </a:r>
          </a:p>
        </p:txBody>
      </p:sp>
      <p:sp>
        <p:nvSpPr>
          <p:cNvPr id="19" name="TextBox 18"/>
          <p:cNvSpPr txBox="1"/>
          <p:nvPr/>
        </p:nvSpPr>
        <p:spPr>
          <a:xfrm>
            <a:off x="8577072" y="3657600"/>
            <a:ext cx="2697480" cy="1005840"/>
          </a:xfrm>
          <a:prstGeom prst="rect">
            <a:avLst/>
          </a:prstGeom>
          <a:noFill/>
        </p:spPr>
        <p:txBody>
          <a:bodyPr wrap="square" lIns="0" rIns="0" tIns="0" bIns="0" anchor="t">
            <a:spAutoFit/>
          </a:bodyPr>
          <a:lstStyle/>
          <a:p>
            <a:r>
              <a:rPr sz="1500" b="0" i="0">
                <a:solidFill>
                  <a:schemeClr val="tx2"/>
                </a:solidFill>
              </a:rPr>
              <a:t>Keeps the main physics, and each forcing can be switched on or off.</a:t>
            </a:r>
          </a:p>
        </p:txBody>
      </p:sp>
      <p:sp>
        <p:nvSpPr>
          <p:cNvPr id="20" name="TextBox 19"/>
          <p:cNvSpPr txBox="1"/>
          <p:nvPr/>
        </p:nvSpPr>
        <p:spPr>
          <a:xfrm>
            <a:off x="685800" y="5029200"/>
            <a:ext cx="9601200" cy="914400"/>
          </a:xfrm>
          <a:prstGeom prst="rect">
            <a:avLst/>
          </a:prstGeom>
          <a:noFill/>
        </p:spPr>
        <p:txBody>
          <a:bodyPr wrap="square" lIns="0" rIns="0" tIns="0" bIns="0" anchor="t">
            <a:spAutoFit/>
          </a:bodyPr>
          <a:lstStyle/>
          <a:p>
            <a:r>
              <a:rPr sz="1700" b="1" i="0">
                <a:solidFill>
                  <a:schemeClr val="accent1"/>
                </a:solidFill>
              </a:rPr>
              <a:t>Each step answers a different question: what do we see, why does it happen, and how much does each cause matter?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777240"/>
            <a:ext cx="10817352" cy="868680"/>
          </a:xfrm>
        </p:spPr>
        <p:txBody>
          <a:bodyPr wrap="square" lIns="0" rIns="0" tIns="0" bIns="0" anchor="t"/>
          <a:lstStyle/>
          <a:p>
            <a:pPr algn="l"/>
            <a:r>
              <a:rPr sz="3600" b="1">
                <a:solidFill>
                  <a:schemeClr val="tx1"/>
                </a:solidFill>
                <a:latin typeface="+mj-lt"/>
              </a:rPr>
              <a:t>What Telly Is</a:t>
            </a:r>
          </a:p>
        </p:txBody>
      </p:sp>
      <p:sp>
        <p:nvSpPr>
          <p:cNvPr id="3" name="TextBox 2"/>
          <p:cNvSpPr txBox="1"/>
          <p:nvPr/>
        </p:nvSpPr>
        <p:spPr>
          <a:xfrm>
            <a:off x="685800" y="457200"/>
            <a:ext cx="10817352" cy="274320"/>
          </a:xfrm>
          <a:prstGeom prst="rect">
            <a:avLst/>
          </a:prstGeom>
          <a:noFill/>
        </p:spPr>
        <p:txBody>
          <a:bodyPr wrap="square" lIns="0" rIns="0" tIns="0" bIns="0" anchor="t">
            <a:spAutoFit/>
          </a:bodyPr>
          <a:lstStyle/>
          <a:p>
            <a:r>
              <a:rPr sz="1200" b="1" i="0" spc="300">
                <a:solidFill>
                  <a:schemeClr val="accent1"/>
                </a:solidFill>
              </a:rPr>
              <a:t>PART 3 · TELLY</a:t>
            </a:r>
          </a:p>
        </p:txBody>
      </p:sp>
      <p:sp>
        <p:nvSpPr>
          <p:cNvPr id="4" name="TextBox 3"/>
          <p:cNvSpPr txBox="1"/>
          <p:nvPr/>
        </p:nvSpPr>
        <p:spPr>
          <a:xfrm>
            <a:off x="685800" y="6400800"/>
            <a:ext cx="6400800" cy="274320"/>
          </a:xfrm>
          <a:prstGeom prst="rect">
            <a:avLst/>
          </a:prstGeom>
          <a:noFill/>
        </p:spPr>
        <p:txBody>
          <a:bodyPr wrap="square" lIns="0" rIns="0" tIns="0" bIns="0" anchor="t">
            <a:spAutoFit/>
          </a:bodyPr>
          <a:lstStyle/>
          <a:p>
            <a:r>
              <a:rPr sz="1000" b="0" i="0">
                <a:solidFill>
                  <a:schemeClr val="tx2"/>
                </a:solidFill>
              </a:rPr>
              <a:t>Telly · stationary Rossby waves</a:t>
            </a:r>
          </a:p>
        </p:txBody>
      </p:sp>
      <p:sp>
        <p:nvSpPr>
          <p:cNvPr id="5" name="TextBox 4"/>
          <p:cNvSpPr txBox="1"/>
          <p:nvPr/>
        </p:nvSpPr>
        <p:spPr>
          <a:xfrm>
            <a:off x="10972800" y="6400800"/>
            <a:ext cx="548640" cy="274320"/>
          </a:xfrm>
          <a:prstGeom prst="rect">
            <a:avLst/>
          </a:prstGeom>
          <a:noFill/>
        </p:spPr>
        <p:txBody>
          <a:bodyPr wrap="none" lIns="0" rIns="0" tIns="0" bIns="0">
            <a:spAutoFit/>
          </a:bodyPr>
          <a:lstStyle/>
          <a:p>
            <a:pPr algn="r"/>
            <a:fld id="{B6F15528-21DE-4FAA-801E-634DDDAF4B2B}" type="slidenum">
              <a:rPr lang="en-US" sz="1000">
                <a:solidFill>
                  <a:schemeClr val="tx2"/>
                </a:solidFill>
              </a:rPr>
              <a:t>‹#›</a:t>
            </a:fld>
          </a:p>
        </p:txBody>
      </p:sp>
      <p:sp>
        <p:nvSpPr>
          <p:cNvPr id="6" name="TextBox 5"/>
          <p:cNvSpPr txBox="1"/>
          <p:nvPr/>
        </p:nvSpPr>
        <p:spPr>
          <a:xfrm>
            <a:off x="685800" y="6053328"/>
            <a:ext cx="10058400" cy="274320"/>
          </a:xfrm>
          <a:prstGeom prst="rect">
            <a:avLst/>
          </a:prstGeom>
          <a:noFill/>
        </p:spPr>
        <p:txBody>
          <a:bodyPr wrap="square" lIns="0" rIns="0" tIns="0" bIns="0" anchor="t">
            <a:spAutoFit/>
          </a:bodyPr>
          <a:lstStyle/>
          <a:p>
            <a:r>
              <a:rPr sz="1100" b="0" i="0">
                <a:solidFill>
                  <a:schemeClr val="tx2"/>
                </a:solidFill>
              </a:rPr>
              <a:t>Telly · Kirtman et al. (2025), Bull. Amer. Meteor. Soc., 106, E2073–E2086</a:t>
            </a:r>
          </a:p>
        </p:txBody>
      </p:sp>
      <p:graphicFrame>
        <p:nvGraphicFramePr>
          <p:cNvPr id="7" name="Table 6"/>
          <p:cNvGraphicFramePr>
            <a:graphicFrameLocks noGrp="1"/>
          </p:cNvGraphicFramePr>
          <p:nvPr/>
        </p:nvGraphicFramePr>
        <p:xfrm>
          <a:off x="685800" y="1783080"/>
          <a:ext cx="10817352" cy="3840480"/>
        </p:xfrm>
        <a:graphic>
          <a:graphicData uri="http://schemas.openxmlformats.org/drawingml/2006/table">
            <a:tbl>
              <a:tblPr firstRow="1" bandRow="1">
                <a:tableStyleId>{5C22544A-7EE6-4342-B048-85BDC9FD1C3A}</a:tableStyleId>
              </a:tblPr>
              <a:tblGrid>
                <a:gridCol w="2743200"/>
                <a:gridCol w="8074152"/>
              </a:tblGrid>
              <a:tr h="640080">
                <a:tc>
                  <a:txBody>
                    <a:bodyPr wrap="square"/>
                    <a:lstStyle/>
                    <a:p>
                      <a:r>
                        <a:rPr sz="1600" b="1" i="0">
                          <a:solidFill>
                            <a:schemeClr val="bg2"/>
                          </a:solidFill>
                        </a:rPr>
                        <a:t>Property</a:t>
                      </a:r>
                    </a:p>
                  </a:txBody>
                  <a:tcPr marL="109728" marR="109728" marT="45720" marB="45720" anchor="ctr">
                    <a:solidFill>
                      <a:schemeClr val="tx1"/>
                    </a:solidFill>
                  </a:tcPr>
                </a:tc>
                <a:tc>
                  <a:txBody>
                    <a:bodyPr wrap="square"/>
                    <a:lstStyle/>
                    <a:p>
                      <a:r>
                        <a:rPr sz="1600" b="1" i="0">
                          <a:solidFill>
                            <a:schemeClr val="bg2"/>
                          </a:solidFill>
                        </a:rPr>
                        <a:t>Description</a:t>
                      </a:r>
                    </a:p>
                  </a:txBody>
                  <a:tcPr marL="109728" marR="109728" marT="45720" marB="45720" anchor="ctr">
                    <a:solidFill>
                      <a:schemeClr val="tx1"/>
                    </a:solidFill>
                  </a:tcPr>
                </a:tc>
              </a:tr>
              <a:tr h="640080">
                <a:tc>
                  <a:txBody>
                    <a:bodyPr wrap="square"/>
                    <a:lstStyle/>
                    <a:p>
                      <a:r>
                        <a:rPr sz="1600" b="1" i="0">
                          <a:solidFill>
                            <a:schemeClr val="tx1"/>
                          </a:solidFill>
                        </a:rPr>
                        <a:t>The physics</a:t>
                      </a:r>
                    </a:p>
                  </a:txBody>
                  <a:tcPr marL="109728" marR="109728" marT="45720" marB="45720" anchor="ctr">
                    <a:solidFill>
                      <a:schemeClr val="bg1"/>
                    </a:solidFill>
                  </a:tcPr>
                </a:tc>
                <a:tc>
                  <a:txBody>
                    <a:bodyPr wrap="square"/>
                    <a:lstStyle/>
                    <a:p>
                      <a:r>
                        <a:rPr sz="1600" b="0" i="0">
                          <a:solidFill>
                            <a:schemeClr val="tx1"/>
                          </a:solidFill>
                        </a:rPr>
                        <a:t>The class equations for motion, heat and mass, without the simplifications</a:t>
                      </a:r>
                    </a:p>
                  </a:txBody>
                  <a:tcPr marL="109728" marR="109728" marT="45720" marB="45720" anchor="ctr">
                    <a:solidFill>
                      <a:schemeClr val="bg1"/>
                    </a:solidFill>
                  </a:tcPr>
                </a:tc>
              </a:tr>
              <a:tr h="640080">
                <a:tc>
                  <a:txBody>
                    <a:bodyPr wrap="square"/>
                    <a:lstStyle/>
                    <a:p>
                      <a:r>
                        <a:rPr sz="1600" b="1" i="0">
                          <a:solidFill>
                            <a:schemeClr val="tx1"/>
                          </a:solidFill>
                        </a:rPr>
                        <a:t>The grid</a:t>
                      </a:r>
                    </a:p>
                  </a:txBody>
                  <a:tcPr marL="109728" marR="109728" marT="45720" marB="45720" anchor="ctr">
                    <a:solidFill>
                      <a:schemeClr val="accent6">
                        <a:lumMod val="45000"/>
                        <a:lumOff val="55000"/>
                      </a:schemeClr>
                    </a:solidFill>
                  </a:tcPr>
                </a:tc>
                <a:tc>
                  <a:txBody>
                    <a:bodyPr wrap="square"/>
                    <a:lstStyle/>
                    <a:p>
                      <a:r>
                        <a:rPr sz="1600" b="0" i="0">
                          <a:solidFill>
                            <a:schemeClr val="tx1"/>
                          </a:solidFill>
                        </a:rPr>
                        <a:t>Boxes about 2° wide (about 200 km), in 26 layers up to about 2 hPa</a:t>
                      </a:r>
                    </a:p>
                  </a:txBody>
                  <a:tcPr marL="109728" marR="109728" marT="45720" marB="45720" anchor="ctr">
                    <a:solidFill>
                      <a:schemeClr val="accent6">
                        <a:lumMod val="45000"/>
                        <a:lumOff val="55000"/>
                      </a:schemeClr>
                    </a:solidFill>
                  </a:tcPr>
                </a:tc>
              </a:tr>
              <a:tr h="640080">
                <a:tc>
                  <a:txBody>
                    <a:bodyPr wrap="square"/>
                    <a:lstStyle/>
                    <a:p>
                      <a:r>
                        <a:rPr sz="1600" b="1" i="0">
                          <a:solidFill>
                            <a:schemeClr val="tx1"/>
                          </a:solidFill>
                        </a:rPr>
                        <a:t>What it tracks</a:t>
                      </a:r>
                    </a:p>
                  </a:txBody>
                  <a:tcPr marL="109728" marR="109728" marT="45720" marB="45720" anchor="ctr">
                    <a:solidFill>
                      <a:schemeClr val="bg1"/>
                    </a:solidFill>
                  </a:tcPr>
                </a:tc>
                <a:tc>
                  <a:txBody>
                    <a:bodyPr wrap="square"/>
                    <a:lstStyle/>
                    <a:p>
                      <a:r>
                        <a:rPr sz="1600" b="0" i="0">
                          <a:solidFill>
                            <a:schemeClr val="tx1"/>
                          </a:solidFill>
                        </a:rPr>
                        <a:t>Vorticity, divergence, temperature and surface pressure</a:t>
                      </a:r>
                    </a:p>
                  </a:txBody>
                  <a:tcPr marL="109728" marR="109728" marT="45720" marB="45720" anchor="ctr">
                    <a:solidFill>
                      <a:schemeClr val="bg1"/>
                    </a:solidFill>
                  </a:tcPr>
                </a:tc>
              </a:tr>
              <a:tr h="640080">
                <a:tc>
                  <a:txBody>
                    <a:bodyPr wrap="square"/>
                    <a:lstStyle/>
                    <a:p>
                      <a:r>
                        <a:rPr sz="1600" b="1" i="0">
                          <a:solidFill>
                            <a:schemeClr val="tx1"/>
                          </a:solidFill>
                        </a:rPr>
                        <a:t>Simple stand-ins</a:t>
                      </a:r>
                    </a:p>
                  </a:txBody>
                  <a:tcPr marL="109728" marR="109728" marT="45720" marB="45720" anchor="ctr">
                    <a:solidFill>
                      <a:schemeClr val="accent6">
                        <a:lumMod val="45000"/>
                        <a:lumOff val="55000"/>
                      </a:schemeClr>
                    </a:solidFill>
                  </a:tcPr>
                </a:tc>
                <a:tc>
                  <a:txBody>
                    <a:bodyPr wrap="square"/>
                    <a:lstStyle/>
                    <a:p>
                      <a:r>
                        <a:rPr sz="1600" b="0" i="0">
                          <a:solidFill>
                            <a:schemeClr val="tx1"/>
                          </a:solidFill>
                        </a:rPr>
                        <a:t>Friction, smoothing, a pull toward a background state, and heating from prescribed rainfall patterns</a:t>
                      </a:r>
                    </a:p>
                  </a:txBody>
                  <a:tcPr marL="109728" marR="109728" marT="45720" marB="45720" anchor="ctr">
                    <a:solidFill>
                      <a:schemeClr val="accent6">
                        <a:lumMod val="45000"/>
                        <a:lumOff val="55000"/>
                      </a:schemeClr>
                    </a:solidFill>
                  </a:tcPr>
                </a:tc>
              </a:tr>
              <a:tr h="640080">
                <a:tc>
                  <a:txBody>
                    <a:bodyPr wrap="square"/>
                    <a:lstStyle/>
                    <a:p>
                      <a:r>
                        <a:rPr sz="1600" b="1" i="0">
                          <a:solidFill>
                            <a:schemeClr val="tx1"/>
                          </a:solidFill>
                        </a:rPr>
                        <a:t>Left out</a:t>
                      </a:r>
                    </a:p>
                  </a:txBody>
                  <a:tcPr marL="109728" marR="109728" marT="45720" marB="45720" anchor="ctr">
                    <a:solidFill>
                      <a:schemeClr val="bg1"/>
                    </a:solidFill>
                  </a:tcPr>
                </a:tc>
                <a:tc>
                  <a:txBody>
                    <a:bodyPr wrap="square"/>
                    <a:lstStyle/>
                    <a:p>
                      <a:r>
                        <a:rPr sz="1600" b="0" i="0">
                          <a:solidFill>
                            <a:schemeClr val="tx1"/>
                          </a:solidFill>
                        </a:rPr>
                        <a:t>Detailed treatment of radiation, clouds, the boundary layer and the land surface</a:t>
                      </a:r>
                    </a:p>
                  </a:txBody>
                  <a:tcPr marL="109728" marR="109728" marT="45720" marB="45720" anchor="ctr">
                    <a:solidFill>
                      <a:schemeClr val="bg1"/>
                    </a:solidFill>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777240"/>
            <a:ext cx="10817352" cy="868680"/>
          </a:xfrm>
        </p:spPr>
        <p:txBody>
          <a:bodyPr wrap="square" lIns="0" rIns="0" tIns="0" bIns="0" anchor="t"/>
          <a:lstStyle/>
          <a:p>
            <a:pPr algn="l"/>
            <a:r>
              <a:rPr sz="3600" b="1">
                <a:solidFill>
                  <a:schemeClr val="tx1"/>
                </a:solidFill>
                <a:latin typeface="+mj-lt"/>
              </a:rPr>
              <a:t>Model Anatomy</a:t>
            </a:r>
          </a:p>
        </p:txBody>
      </p:sp>
      <p:sp>
        <p:nvSpPr>
          <p:cNvPr id="3" name="TextBox 2"/>
          <p:cNvSpPr txBox="1"/>
          <p:nvPr/>
        </p:nvSpPr>
        <p:spPr>
          <a:xfrm>
            <a:off x="685800" y="457200"/>
            <a:ext cx="10817352" cy="274320"/>
          </a:xfrm>
          <a:prstGeom prst="rect">
            <a:avLst/>
          </a:prstGeom>
          <a:noFill/>
        </p:spPr>
        <p:txBody>
          <a:bodyPr wrap="square" lIns="0" rIns="0" tIns="0" bIns="0" anchor="t">
            <a:spAutoFit/>
          </a:bodyPr>
          <a:lstStyle/>
          <a:p>
            <a:r>
              <a:rPr sz="1200" b="1" i="0" spc="300">
                <a:solidFill>
                  <a:schemeClr val="accent1"/>
                </a:solidFill>
              </a:rPr>
              <a:t>PART 3 · TELLY</a:t>
            </a:r>
          </a:p>
        </p:txBody>
      </p:sp>
      <p:sp>
        <p:nvSpPr>
          <p:cNvPr id="4" name="TextBox 3"/>
          <p:cNvSpPr txBox="1"/>
          <p:nvPr/>
        </p:nvSpPr>
        <p:spPr>
          <a:xfrm>
            <a:off x="685800" y="6400800"/>
            <a:ext cx="6400800" cy="274320"/>
          </a:xfrm>
          <a:prstGeom prst="rect">
            <a:avLst/>
          </a:prstGeom>
          <a:noFill/>
        </p:spPr>
        <p:txBody>
          <a:bodyPr wrap="square" lIns="0" rIns="0" tIns="0" bIns="0" anchor="t">
            <a:spAutoFit/>
          </a:bodyPr>
          <a:lstStyle/>
          <a:p>
            <a:r>
              <a:rPr sz="1000" b="0" i="0">
                <a:solidFill>
                  <a:schemeClr val="tx2"/>
                </a:solidFill>
              </a:rPr>
              <a:t>Telly · stationary Rossby waves</a:t>
            </a:r>
          </a:p>
        </p:txBody>
      </p:sp>
      <p:sp>
        <p:nvSpPr>
          <p:cNvPr id="5" name="TextBox 4"/>
          <p:cNvSpPr txBox="1"/>
          <p:nvPr/>
        </p:nvSpPr>
        <p:spPr>
          <a:xfrm>
            <a:off x="10972800" y="6400800"/>
            <a:ext cx="548640" cy="274320"/>
          </a:xfrm>
          <a:prstGeom prst="rect">
            <a:avLst/>
          </a:prstGeom>
          <a:noFill/>
        </p:spPr>
        <p:txBody>
          <a:bodyPr wrap="none" lIns="0" rIns="0" tIns="0" bIns="0">
            <a:spAutoFit/>
          </a:bodyPr>
          <a:lstStyle/>
          <a:p>
            <a:pPr algn="r"/>
            <a:fld id="{B6F15528-21DE-4FAA-801E-634DDDAF4B2B}" type="slidenum">
              <a:rPr lang="en-US" sz="1000">
                <a:solidFill>
                  <a:schemeClr val="tx2"/>
                </a:solidFill>
              </a:rPr>
              <a:t>‹#›</a:t>
            </a:fld>
          </a:p>
        </p:txBody>
      </p:sp>
      <p:sp>
        <p:nvSpPr>
          <p:cNvPr id="6" name="Rounded Rectangle 5"/>
          <p:cNvSpPr/>
          <p:nvPr/>
        </p:nvSpPr>
        <p:spPr>
          <a:xfrm>
            <a:off x="685800" y="1783080"/>
            <a:ext cx="3200400" cy="1234440"/>
          </a:xfrm>
          <a:prstGeom prst="roundRect">
            <a:avLst>
              <a:gd name="adj" fmla="val 5000"/>
            </a:avLst>
          </a:prstGeom>
          <a:solidFill>
            <a:schemeClr val="bg1"/>
          </a:solidFill>
          <a:ln w="9525">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68680" y="1892807"/>
            <a:ext cx="2834640" cy="365760"/>
          </a:xfrm>
          <a:prstGeom prst="rect">
            <a:avLst/>
          </a:prstGeom>
          <a:noFill/>
        </p:spPr>
        <p:txBody>
          <a:bodyPr wrap="square" lIns="0" rIns="0" tIns="0" bIns="0" anchor="t">
            <a:spAutoFit/>
          </a:bodyPr>
          <a:lstStyle/>
          <a:p>
            <a:r>
              <a:rPr sz="1800" b="1" i="0">
                <a:solidFill>
                  <a:schemeClr val="accent2"/>
                </a:solidFill>
              </a:rPr>
              <a:t>Heating, Q</a:t>
            </a:r>
          </a:p>
        </p:txBody>
      </p:sp>
      <p:sp>
        <p:nvSpPr>
          <p:cNvPr id="8" name="TextBox 7"/>
          <p:cNvSpPr txBox="1"/>
          <p:nvPr/>
        </p:nvSpPr>
        <p:spPr>
          <a:xfrm>
            <a:off x="868680" y="2286000"/>
            <a:ext cx="2834640" cy="731520"/>
          </a:xfrm>
          <a:prstGeom prst="rect">
            <a:avLst/>
          </a:prstGeom>
          <a:noFill/>
        </p:spPr>
        <p:txBody>
          <a:bodyPr wrap="square" lIns="0" rIns="0" tIns="0" bIns="0" anchor="t">
            <a:spAutoFit/>
          </a:bodyPr>
          <a:lstStyle/>
          <a:p>
            <a:r>
              <a:rPr sz="1400" b="0" i="0">
                <a:solidFill>
                  <a:schemeClr val="tx2"/>
                </a:solidFill>
              </a:rPr>
              <a:t>Rainfall with a prescribed pattern warms the air</a:t>
            </a:r>
          </a:p>
        </p:txBody>
      </p:sp>
      <p:sp>
        <p:nvSpPr>
          <p:cNvPr id="9" name="Rounded Rectangle 8"/>
          <p:cNvSpPr/>
          <p:nvPr/>
        </p:nvSpPr>
        <p:spPr>
          <a:xfrm>
            <a:off x="685800" y="3154680"/>
            <a:ext cx="3200400" cy="1234440"/>
          </a:xfrm>
          <a:prstGeom prst="roundRect">
            <a:avLst>
              <a:gd name="adj" fmla="val 5000"/>
            </a:avLst>
          </a:prstGeom>
          <a:solidFill>
            <a:schemeClr val="bg1"/>
          </a:solidFill>
          <a:ln w="9525">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68680" y="3264408"/>
            <a:ext cx="2834640" cy="365760"/>
          </a:xfrm>
          <a:prstGeom prst="rect">
            <a:avLst/>
          </a:prstGeom>
          <a:noFill/>
        </p:spPr>
        <p:txBody>
          <a:bodyPr wrap="square" lIns="0" rIns="0" tIns="0" bIns="0" anchor="t">
            <a:spAutoFit/>
          </a:bodyPr>
          <a:lstStyle/>
          <a:p>
            <a:r>
              <a:rPr sz="1800" b="1" i="0">
                <a:solidFill>
                  <a:schemeClr val="accent2"/>
                </a:solidFill>
              </a:rPr>
              <a:t>Topography, Φs</a:t>
            </a:r>
          </a:p>
        </p:txBody>
      </p:sp>
      <p:sp>
        <p:nvSpPr>
          <p:cNvPr id="11" name="TextBox 10"/>
          <p:cNvSpPr txBox="1"/>
          <p:nvPr/>
        </p:nvSpPr>
        <p:spPr>
          <a:xfrm>
            <a:off x="868680" y="3657600"/>
            <a:ext cx="2834640" cy="731520"/>
          </a:xfrm>
          <a:prstGeom prst="rect">
            <a:avLst/>
          </a:prstGeom>
          <a:noFill/>
        </p:spPr>
        <p:txBody>
          <a:bodyPr wrap="square" lIns="0" rIns="0" tIns="0" bIns="0" anchor="t">
            <a:spAutoFit/>
          </a:bodyPr>
          <a:lstStyle/>
          <a:p>
            <a:r>
              <a:rPr sz="1400" b="0" i="0">
                <a:solidFill>
                  <a:schemeClr val="tx2"/>
                </a:solidFill>
              </a:rPr>
              <a:t>Ground height sets the bottom of the atmosphere</a:t>
            </a:r>
          </a:p>
        </p:txBody>
      </p:sp>
      <p:sp>
        <p:nvSpPr>
          <p:cNvPr id="12" name="Rounded Rectangle 11"/>
          <p:cNvSpPr/>
          <p:nvPr/>
        </p:nvSpPr>
        <p:spPr>
          <a:xfrm>
            <a:off x="685800" y="4526280"/>
            <a:ext cx="3200400" cy="1234440"/>
          </a:xfrm>
          <a:prstGeom prst="roundRect">
            <a:avLst>
              <a:gd name="adj" fmla="val 5000"/>
            </a:avLst>
          </a:prstGeom>
          <a:solidFill>
            <a:schemeClr val="bg1"/>
          </a:solidFill>
          <a:ln w="9525">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68680" y="4636008"/>
            <a:ext cx="2834640" cy="365760"/>
          </a:xfrm>
          <a:prstGeom prst="rect">
            <a:avLst/>
          </a:prstGeom>
          <a:noFill/>
        </p:spPr>
        <p:txBody>
          <a:bodyPr wrap="square" lIns="0" rIns="0" tIns="0" bIns="0" anchor="t">
            <a:spAutoFit/>
          </a:bodyPr>
          <a:lstStyle/>
          <a:p>
            <a:r>
              <a:rPr sz="1800" b="1" i="0">
                <a:solidFill>
                  <a:schemeClr val="accent1"/>
                </a:solidFill>
              </a:rPr>
              <a:t>Background state</a:t>
            </a:r>
          </a:p>
        </p:txBody>
      </p:sp>
      <p:sp>
        <p:nvSpPr>
          <p:cNvPr id="14" name="TextBox 13"/>
          <p:cNvSpPr txBox="1"/>
          <p:nvPr/>
        </p:nvSpPr>
        <p:spPr>
          <a:xfrm>
            <a:off x="868680" y="5029200"/>
            <a:ext cx="2834640" cy="731520"/>
          </a:xfrm>
          <a:prstGeom prst="rect">
            <a:avLst/>
          </a:prstGeom>
          <a:noFill/>
        </p:spPr>
        <p:txBody>
          <a:bodyPr wrap="square" lIns="0" rIns="0" tIns="0" bIns="0" anchor="t">
            <a:spAutoFit/>
          </a:bodyPr>
          <a:lstStyle/>
          <a:p>
            <a:r>
              <a:rPr sz="1400" b="0" i="0">
                <a:solidFill>
                  <a:schemeClr val="tx2"/>
                </a:solidFill>
              </a:rPr>
              <a:t>Average winds and temperatures the model is gently pulled toward</a:t>
            </a:r>
          </a:p>
        </p:txBody>
      </p:sp>
      <p:sp>
        <p:nvSpPr>
          <p:cNvPr id="15" name="Right Arrow 14"/>
          <p:cNvSpPr/>
          <p:nvPr/>
        </p:nvSpPr>
        <p:spPr>
          <a:xfrm>
            <a:off x="4023360" y="3429000"/>
            <a:ext cx="548640" cy="457200"/>
          </a:xfrm>
          <a:prstGeom prst="rightArrow">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709160" y="1783080"/>
            <a:ext cx="3291840" cy="3977639"/>
          </a:xfrm>
          <a:prstGeom prst="roundRect">
            <a:avLst>
              <a:gd name="adj" fmla="val 5000"/>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4937760" y="1965960"/>
            <a:ext cx="2834640" cy="777240"/>
          </a:xfrm>
          <a:prstGeom prst="rect">
            <a:avLst/>
          </a:prstGeom>
          <a:noFill/>
        </p:spPr>
        <p:txBody>
          <a:bodyPr wrap="square" lIns="0" rIns="0" tIns="0" bIns="0" anchor="t">
            <a:spAutoFit/>
          </a:bodyPr>
          <a:lstStyle/>
          <a:p>
            <a:r>
              <a:rPr sz="2000" b="1" i="0">
                <a:solidFill>
                  <a:schemeClr val="bg2"/>
                </a:solidFill>
              </a:rPr>
              <a:t>What the model tracks</a:t>
            </a:r>
          </a:p>
        </p:txBody>
      </p:sp>
      <p:sp>
        <p:nvSpPr>
          <p:cNvPr id="18" name="TextBox 17"/>
          <p:cNvSpPr txBox="1"/>
          <p:nvPr/>
        </p:nvSpPr>
        <p:spPr>
          <a:xfrm>
            <a:off x="4937760" y="3108960"/>
            <a:ext cx="2834640" cy="914400"/>
          </a:xfrm>
          <a:prstGeom prst="rect">
            <a:avLst/>
          </a:prstGeom>
          <a:noFill/>
        </p:spPr>
        <p:txBody>
          <a:bodyPr wrap="square" lIns="0" rIns="0" tIns="0" bIns="0" anchor="t">
            <a:spAutoFit/>
          </a:bodyPr>
          <a:lstStyle/>
          <a:p>
            <a:pPr>
              <a:spcAft>
                <a:spcPts val="400"/>
              </a:spcAft>
            </a:pPr>
            <a:r>
              <a:rPr sz="2600" b="0" i="1">
                <a:solidFill>
                  <a:schemeClr val="accent4"/>
                </a:solidFill>
                <a:latin typeface="+mj-lt"/>
              </a:rPr>
              <a:t>ζ, D, T, ln ps</a:t>
            </a:r>
          </a:p>
        </p:txBody>
      </p:sp>
      <p:sp>
        <p:nvSpPr>
          <p:cNvPr id="19" name="TextBox 18"/>
          <p:cNvSpPr txBox="1"/>
          <p:nvPr/>
        </p:nvSpPr>
        <p:spPr>
          <a:xfrm>
            <a:off x="4937760" y="4846320"/>
            <a:ext cx="2834640" cy="731520"/>
          </a:xfrm>
          <a:prstGeom prst="rect">
            <a:avLst/>
          </a:prstGeom>
          <a:noFill/>
        </p:spPr>
        <p:txBody>
          <a:bodyPr wrap="square" lIns="0" rIns="0" tIns="0" bIns="0" anchor="t">
            <a:spAutoFit/>
          </a:bodyPr>
          <a:lstStyle/>
          <a:p>
            <a:r>
              <a:rPr sz="1400" b="0" i="0">
                <a:solidFill>
                  <a:schemeClr val="accent5"/>
                </a:solidFill>
              </a:rPr>
              <a:t>Friction and smoothing keep it stable</a:t>
            </a:r>
          </a:p>
        </p:txBody>
      </p:sp>
      <p:sp>
        <p:nvSpPr>
          <p:cNvPr id="20" name="Right Arrow 19"/>
          <p:cNvSpPr/>
          <p:nvPr/>
        </p:nvSpPr>
        <p:spPr>
          <a:xfrm>
            <a:off x="8138160" y="3429000"/>
            <a:ext cx="548640" cy="457200"/>
          </a:xfrm>
          <a:prstGeom prst="rightArrow">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823960" y="1783080"/>
            <a:ext cx="2679192" cy="3977639"/>
          </a:xfrm>
          <a:prstGeom prst="roundRect">
            <a:avLst>
              <a:gd name="adj" fmla="val 5000"/>
            </a:avLst>
          </a:prstGeom>
          <a:solidFill>
            <a:schemeClr val="bg1"/>
          </a:solidFill>
          <a:ln w="9525">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006840" y="1965960"/>
            <a:ext cx="2331720" cy="457200"/>
          </a:xfrm>
          <a:prstGeom prst="rect">
            <a:avLst/>
          </a:prstGeom>
          <a:noFill/>
        </p:spPr>
        <p:txBody>
          <a:bodyPr wrap="square" lIns="0" rIns="0" tIns="0" bIns="0" anchor="t">
            <a:spAutoFit/>
          </a:bodyPr>
          <a:lstStyle/>
          <a:p>
            <a:r>
              <a:rPr sz="2000" b="1" i="0">
                <a:solidFill>
                  <a:schemeClr val="tx1"/>
                </a:solidFill>
              </a:rPr>
              <a:t>Daily output</a:t>
            </a:r>
          </a:p>
        </p:txBody>
      </p:sp>
      <p:sp>
        <p:nvSpPr>
          <p:cNvPr id="23" name="TextBox 22"/>
          <p:cNvSpPr txBox="1"/>
          <p:nvPr/>
        </p:nvSpPr>
        <p:spPr>
          <a:xfrm>
            <a:off x="9006840" y="3108960"/>
            <a:ext cx="2331720" cy="2468880"/>
          </a:xfrm>
          <a:prstGeom prst="rect">
            <a:avLst/>
          </a:prstGeom>
          <a:noFill/>
        </p:spPr>
        <p:txBody>
          <a:bodyPr wrap="square" lIns="0" rIns="0" tIns="0" bIns="0" anchor="t">
            <a:spAutoFit/>
          </a:bodyPr>
          <a:lstStyle/>
          <a:p>
            <a:r>
              <a:rPr sz="1400" b="0" i="0">
                <a:solidFill>
                  <a:schemeClr val="tx2"/>
                </a:solidFill>
              </a:rPr>
              <a:t>Winds, temperature, height, heating and surface pressure, every day, in 30-day files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777240"/>
            <a:ext cx="10817352" cy="868680"/>
          </a:xfrm>
        </p:spPr>
        <p:txBody>
          <a:bodyPr wrap="square" lIns="0" rIns="0" tIns="0" bIns="0" anchor="t"/>
          <a:lstStyle/>
          <a:p>
            <a:pPr algn="l"/>
            <a:r>
              <a:rPr sz="3600" b="1">
                <a:solidFill>
                  <a:schemeClr val="tx1"/>
                </a:solidFill>
                <a:latin typeface="+mj-lt"/>
              </a:rPr>
              <a:t>The Model Grid</a:t>
            </a:r>
          </a:p>
        </p:txBody>
      </p:sp>
      <p:sp>
        <p:nvSpPr>
          <p:cNvPr id="3" name="TextBox 2"/>
          <p:cNvSpPr txBox="1"/>
          <p:nvPr/>
        </p:nvSpPr>
        <p:spPr>
          <a:xfrm>
            <a:off x="685800" y="457200"/>
            <a:ext cx="10817352" cy="274320"/>
          </a:xfrm>
          <a:prstGeom prst="rect">
            <a:avLst/>
          </a:prstGeom>
          <a:noFill/>
        </p:spPr>
        <p:txBody>
          <a:bodyPr wrap="square" lIns="0" rIns="0" tIns="0" bIns="0" anchor="t">
            <a:spAutoFit/>
          </a:bodyPr>
          <a:lstStyle/>
          <a:p>
            <a:r>
              <a:rPr sz="1200" b="1" i="0" spc="300">
                <a:solidFill>
                  <a:schemeClr val="accent1"/>
                </a:solidFill>
              </a:rPr>
              <a:t>PART 3 · TELLY</a:t>
            </a:r>
          </a:p>
        </p:txBody>
      </p:sp>
      <p:sp>
        <p:nvSpPr>
          <p:cNvPr id="4" name="TextBox 3"/>
          <p:cNvSpPr txBox="1"/>
          <p:nvPr/>
        </p:nvSpPr>
        <p:spPr>
          <a:xfrm>
            <a:off x="685800" y="6400800"/>
            <a:ext cx="6400800" cy="274320"/>
          </a:xfrm>
          <a:prstGeom prst="rect">
            <a:avLst/>
          </a:prstGeom>
          <a:noFill/>
        </p:spPr>
        <p:txBody>
          <a:bodyPr wrap="square" lIns="0" rIns="0" tIns="0" bIns="0" anchor="t">
            <a:spAutoFit/>
          </a:bodyPr>
          <a:lstStyle/>
          <a:p>
            <a:r>
              <a:rPr sz="1000" b="0" i="0">
                <a:solidFill>
                  <a:schemeClr val="tx2"/>
                </a:solidFill>
              </a:rPr>
              <a:t>Telly · stationary Rossby waves</a:t>
            </a:r>
          </a:p>
        </p:txBody>
      </p:sp>
      <p:sp>
        <p:nvSpPr>
          <p:cNvPr id="5" name="TextBox 4"/>
          <p:cNvSpPr txBox="1"/>
          <p:nvPr/>
        </p:nvSpPr>
        <p:spPr>
          <a:xfrm>
            <a:off x="10972800" y="6400800"/>
            <a:ext cx="548640" cy="274320"/>
          </a:xfrm>
          <a:prstGeom prst="rect">
            <a:avLst/>
          </a:prstGeom>
          <a:noFill/>
        </p:spPr>
        <p:txBody>
          <a:bodyPr wrap="none" lIns="0" rIns="0" tIns="0" bIns="0">
            <a:spAutoFit/>
          </a:bodyPr>
          <a:lstStyle/>
          <a:p>
            <a:pPr algn="r"/>
            <a:fld id="{B6F15528-21DE-4FAA-801E-634DDDAF4B2B}" type="slidenum">
              <a:rPr lang="en-US" sz="1000">
                <a:solidFill>
                  <a:schemeClr val="tx2"/>
                </a:solidFill>
              </a:rPr>
              <a:t>‹#›</a:t>
            </a:fld>
          </a:p>
        </p:txBody>
      </p:sp>
      <p:pic>
        <p:nvPicPr>
          <p:cNvPr id="6" name="Picture 5" descr="Two panels: on the left, the model's grid boxes about 2 degrees wide over North America, shaded land or ocean with one box highlighted; on the right, a vertical cross-section with 26 layers that follow the ground, which is about 560 hPa over a high plateau and 1000 hPa over the ocean"/>
          <p:cNvPicPr>
            <a:picLocks noChangeAspect="1"/>
          </p:cNvPicPr>
          <p:nvPr/>
        </p:nvPicPr>
        <p:blipFill>
          <a:blip r:embed="rId2"/>
          <a:stretch>
            <a:fillRect/>
          </a:stretch>
        </p:blipFill>
        <p:spPr>
          <a:xfrm>
            <a:off x="685800" y="1783080"/>
            <a:ext cx="10817352" cy="3649227"/>
          </a:xfrm>
          <a:prstGeom prst="rect">
            <a:avLst/>
          </a:prstGeom>
        </p:spPr>
      </p:pic>
      <p:sp>
        <p:nvSpPr>
          <p:cNvPr id="7" name="TextBox 6"/>
          <p:cNvSpPr txBox="1"/>
          <p:nvPr/>
        </p:nvSpPr>
        <p:spPr>
          <a:xfrm>
            <a:off x="685800" y="5623560"/>
            <a:ext cx="10058400" cy="457200"/>
          </a:xfrm>
          <a:prstGeom prst="rect">
            <a:avLst/>
          </a:prstGeom>
          <a:noFill/>
        </p:spPr>
        <p:txBody>
          <a:bodyPr wrap="square" lIns="0" rIns="0" tIns="0" bIns="0" anchor="t">
            <a:spAutoFit/>
          </a:bodyPr>
          <a:lstStyle/>
          <a:p>
            <a:r>
              <a:rPr sz="1600" b="0" i="0">
                <a:solidFill>
                  <a:schemeClr val="tx1"/>
                </a:solidFill>
              </a:rPr>
              <a:t>About 480,000 boxes in all: 192 × 96 around the globe, in 26 layers.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777240"/>
            <a:ext cx="10817352" cy="868680"/>
          </a:xfrm>
        </p:spPr>
        <p:txBody>
          <a:bodyPr wrap="square" lIns="0" rIns="0" tIns="0" bIns="0" anchor="t"/>
          <a:lstStyle/>
          <a:p>
            <a:pPr algn="l"/>
            <a:r>
              <a:rPr sz="3600" b="1">
                <a:solidFill>
                  <a:schemeClr val="tx1"/>
                </a:solidFill>
                <a:latin typeface="+mj-lt"/>
              </a:rPr>
              <a:t>Step 1: Keep the Whole Flow</a:t>
            </a:r>
          </a:p>
        </p:txBody>
      </p:sp>
      <p:sp>
        <p:nvSpPr>
          <p:cNvPr id="3" name="TextBox 2"/>
          <p:cNvSpPr txBox="1"/>
          <p:nvPr/>
        </p:nvSpPr>
        <p:spPr>
          <a:xfrm>
            <a:off x="685800" y="457200"/>
            <a:ext cx="10817352" cy="274320"/>
          </a:xfrm>
          <a:prstGeom prst="rect">
            <a:avLst/>
          </a:prstGeom>
          <a:noFill/>
        </p:spPr>
        <p:txBody>
          <a:bodyPr wrap="square" lIns="0" rIns="0" tIns="0" bIns="0" anchor="t">
            <a:spAutoFit/>
          </a:bodyPr>
          <a:lstStyle/>
          <a:p>
            <a:r>
              <a:rPr sz="1200" b="1" i="0" spc="300">
                <a:solidFill>
                  <a:schemeClr val="accent1"/>
                </a:solidFill>
              </a:rPr>
              <a:t>PART 3 · FROM CLASS TO TELLY</a:t>
            </a:r>
          </a:p>
        </p:txBody>
      </p:sp>
      <p:sp>
        <p:nvSpPr>
          <p:cNvPr id="4" name="TextBox 3"/>
          <p:cNvSpPr txBox="1"/>
          <p:nvPr/>
        </p:nvSpPr>
        <p:spPr>
          <a:xfrm>
            <a:off x="685800" y="6400800"/>
            <a:ext cx="6400800" cy="274320"/>
          </a:xfrm>
          <a:prstGeom prst="rect">
            <a:avLst/>
          </a:prstGeom>
          <a:noFill/>
        </p:spPr>
        <p:txBody>
          <a:bodyPr wrap="square" lIns="0" rIns="0" tIns="0" bIns="0" anchor="t">
            <a:spAutoFit/>
          </a:bodyPr>
          <a:lstStyle/>
          <a:p>
            <a:r>
              <a:rPr sz="1000" b="0" i="0">
                <a:solidFill>
                  <a:schemeClr val="tx2"/>
                </a:solidFill>
              </a:rPr>
              <a:t>Telly · stationary Rossby waves</a:t>
            </a:r>
          </a:p>
        </p:txBody>
      </p:sp>
      <p:sp>
        <p:nvSpPr>
          <p:cNvPr id="5" name="TextBox 4"/>
          <p:cNvSpPr txBox="1"/>
          <p:nvPr/>
        </p:nvSpPr>
        <p:spPr>
          <a:xfrm>
            <a:off x="10972800" y="6400800"/>
            <a:ext cx="548640" cy="274320"/>
          </a:xfrm>
          <a:prstGeom prst="rect">
            <a:avLst/>
          </a:prstGeom>
          <a:noFill/>
        </p:spPr>
        <p:txBody>
          <a:bodyPr wrap="none" lIns="0" rIns="0" tIns="0" bIns="0">
            <a:spAutoFit/>
          </a:bodyPr>
          <a:lstStyle/>
          <a:p>
            <a:pPr algn="r"/>
            <a:fld id="{B6F15528-21DE-4FAA-801E-634DDDAF4B2B}" type="slidenum">
              <a:rPr lang="en-US" sz="1000">
                <a:solidFill>
                  <a:schemeClr val="tx2"/>
                </a:solidFill>
              </a:rPr>
              <a:t>‹#›</a:t>
            </a:fld>
          </a:p>
        </p:txBody>
      </p:sp>
      <p:sp>
        <p:nvSpPr>
          <p:cNvPr id="6" name="Rounded Rectangle 5"/>
          <p:cNvSpPr/>
          <p:nvPr/>
        </p:nvSpPr>
        <p:spPr>
          <a:xfrm>
            <a:off x="685800" y="1783080"/>
            <a:ext cx="5029200" cy="1371600"/>
          </a:xfrm>
          <a:prstGeom prst="roundRect">
            <a:avLst>
              <a:gd name="adj" fmla="val 5000"/>
            </a:avLst>
          </a:prstGeom>
          <a:solidFill>
            <a:schemeClr val="bg1"/>
          </a:solidFill>
          <a:ln w="9525">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60120" y="1901952"/>
            <a:ext cx="4480560" cy="274320"/>
          </a:xfrm>
          <a:prstGeom prst="rect">
            <a:avLst/>
          </a:prstGeom>
          <a:noFill/>
        </p:spPr>
        <p:txBody>
          <a:bodyPr wrap="square" lIns="0" rIns="0" tIns="0" bIns="0" anchor="t">
            <a:spAutoFit/>
          </a:bodyPr>
          <a:lstStyle/>
          <a:p>
            <a:r>
              <a:rPr sz="1100" b="1" i="0" spc="300">
                <a:solidFill>
                  <a:schemeClr val="tx2"/>
                </a:solidFill>
              </a:rPr>
              <a:t>CLASS</a:t>
            </a:r>
          </a:p>
        </p:txBody>
      </p:sp>
      <p:sp>
        <p:nvSpPr>
          <p:cNvPr id="8" name="TextBox 7"/>
          <p:cNvSpPr txBox="1"/>
          <p:nvPr/>
        </p:nvSpPr>
        <p:spPr>
          <a:xfrm>
            <a:off x="960120" y="2286000"/>
            <a:ext cx="4480560" cy="731520"/>
          </a:xfrm>
          <a:prstGeom prst="rect">
            <a:avLst/>
          </a:prstGeom>
          <a:noFill/>
        </p:spPr>
        <p:txBody>
          <a:bodyPr wrap="square" lIns="0" rIns="0" tIns="0" bIns="0" anchor="t">
            <a:spAutoFit/>
          </a:bodyPr>
          <a:lstStyle/>
          <a:p>
            <a:pPr>
              <a:spcAft>
                <a:spcPts val="400"/>
              </a:spcAft>
            </a:pPr>
            <a:r>
              <a:rPr sz="2000" b="0" i="1">
                <a:solidFill>
                  <a:schemeClr val="tx1"/>
                </a:solidFill>
                <a:latin typeface="+mj-lt"/>
              </a:rPr>
              <a:t>∂ζ*/∂t + ū ∂ζ*/∂x + β v* = 0</a:t>
            </a:r>
          </a:p>
        </p:txBody>
      </p:sp>
      <p:sp>
        <p:nvSpPr>
          <p:cNvPr id="9" name="Right Arrow 8"/>
          <p:cNvSpPr/>
          <p:nvPr/>
        </p:nvSpPr>
        <p:spPr>
          <a:xfrm>
            <a:off x="5897880" y="2240280"/>
            <a:ext cx="502920" cy="384048"/>
          </a:xfrm>
          <a:prstGeom prst="rightArrow">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492240" y="1783080"/>
            <a:ext cx="5010912" cy="1371600"/>
          </a:xfrm>
          <a:prstGeom prst="roundRect">
            <a:avLst>
              <a:gd name="adj" fmla="val 5000"/>
            </a:avLst>
          </a:prstGeom>
          <a:solidFill>
            <a:schemeClr val="bg1"/>
          </a:solid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766560" y="1901952"/>
            <a:ext cx="4480560" cy="274320"/>
          </a:xfrm>
          <a:prstGeom prst="rect">
            <a:avLst/>
          </a:prstGeom>
          <a:noFill/>
        </p:spPr>
        <p:txBody>
          <a:bodyPr wrap="square" lIns="0" rIns="0" tIns="0" bIns="0" anchor="t">
            <a:spAutoFit/>
          </a:bodyPr>
          <a:lstStyle/>
          <a:p>
            <a:r>
              <a:rPr sz="1100" b="1" i="0" spc="300">
                <a:solidFill>
                  <a:schemeClr val="accent1"/>
                </a:solidFill>
              </a:rPr>
              <a:t>TELLY</a:t>
            </a:r>
          </a:p>
        </p:txBody>
      </p:sp>
      <p:sp>
        <p:nvSpPr>
          <p:cNvPr id="12" name="TextBox 11"/>
          <p:cNvSpPr txBox="1"/>
          <p:nvPr/>
        </p:nvSpPr>
        <p:spPr>
          <a:xfrm>
            <a:off x="6766560" y="2286000"/>
            <a:ext cx="4480560" cy="731520"/>
          </a:xfrm>
          <a:prstGeom prst="rect">
            <a:avLst/>
          </a:prstGeom>
          <a:noFill/>
        </p:spPr>
        <p:txBody>
          <a:bodyPr wrap="square" lIns="0" rIns="0" tIns="0" bIns="0" anchor="t">
            <a:spAutoFit/>
          </a:bodyPr>
          <a:lstStyle/>
          <a:p>
            <a:pPr>
              <a:spcAft>
                <a:spcPts val="400"/>
              </a:spcAft>
            </a:pPr>
            <a:r>
              <a:rPr sz="2000" b="0" i="1">
                <a:solidFill>
                  <a:schemeClr val="tx1"/>
                </a:solidFill>
                <a:latin typeface="+mj-lt"/>
              </a:rPr>
              <a:t>∂ζ/∂t + u ∂ζ/∂x + v ∂ζ/∂y + β v = …</a:t>
            </a:r>
          </a:p>
        </p:txBody>
      </p:sp>
      <p:sp>
        <p:nvSpPr>
          <p:cNvPr id="13" name="TextBox 12"/>
          <p:cNvSpPr txBox="1"/>
          <p:nvPr/>
        </p:nvSpPr>
        <p:spPr>
          <a:xfrm>
            <a:off x="685800" y="3474720"/>
            <a:ext cx="10058400" cy="2468880"/>
          </a:xfrm>
          <a:prstGeom prst="rect">
            <a:avLst/>
          </a:prstGeom>
          <a:noFill/>
        </p:spPr>
        <p:txBody>
          <a:bodyPr wrap="square" lIns="0" rIns="0" tIns="0" bIns="0" anchor="t">
            <a:spAutoFit/>
          </a:bodyPr>
          <a:lstStyle/>
          <a:p>
            <a:pPr marL="285750" indent="-285750">
              <a:spcAft>
                <a:spcPts val="1000"/>
              </a:spcAft>
              <a:buChar char="•"/>
            </a:pPr>
            <a:r>
              <a:rPr sz="1600" b="0" i="0">
                <a:solidFill>
                  <a:schemeClr val="tx1"/>
                </a:solidFill>
              </a:rPr>
              <a:t>No split into ū, u*, u′: the model follows the total wind, so waves and weather act on each other</a:t>
            </a:r>
          </a:p>
          <a:p>
            <a:pPr marL="285750" indent="-285750">
              <a:spcAft>
                <a:spcPts val="1000"/>
              </a:spcAft>
              <a:buChar char="•"/>
            </a:pPr>
            <a:r>
              <a:rPr sz="1600" b="0" i="0">
                <a:solidFill>
                  <a:schemeClr val="tx1"/>
                </a:solidFill>
              </a:rPr>
              <a:t>No small-wave assumption: every advection term is kept</a:t>
            </a:r>
          </a:p>
          <a:p>
            <a:pPr marL="285750" indent="-285750">
              <a:spcAft>
                <a:spcPts val="1000"/>
              </a:spcAft>
              <a:buChar char="•"/>
            </a:pPr>
            <a:r>
              <a:rPr sz="1600" b="0" i="0">
                <a:solidFill>
                  <a:schemeClr val="tx1"/>
                </a:solidFill>
              </a:rPr>
              <a:t>The Earth is a sphere: f = 2Ω sin φ replaces f₀ + βy</a:t>
            </a:r>
          </a:p>
          <a:p>
            <a:pPr marL="285750" indent="-285750">
              <a:spcAft>
                <a:spcPts val="1000"/>
              </a:spcAft>
              <a:buChar char="•"/>
            </a:pPr>
            <a:r>
              <a:rPr sz="1600" b="0" i="0">
                <a:solidFill>
                  <a:schemeClr val="tx1"/>
                </a:solidFill>
              </a:rPr>
              <a:t>The stationary wave is found afterwards: the time mean minus the zonal mean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777240"/>
            <a:ext cx="10817352" cy="868680"/>
          </a:xfrm>
        </p:spPr>
        <p:txBody>
          <a:bodyPr wrap="square" lIns="0" rIns="0" tIns="0" bIns="0" anchor="t"/>
          <a:lstStyle/>
          <a:p>
            <a:pPr algn="l"/>
            <a:r>
              <a:rPr sz="3600" b="1">
                <a:solidFill>
                  <a:schemeClr val="tx1"/>
                </a:solidFill>
                <a:latin typeface="+mj-lt"/>
              </a:rPr>
              <a:t>Step 2: Let Columns Stretch</a:t>
            </a:r>
          </a:p>
        </p:txBody>
      </p:sp>
      <p:sp>
        <p:nvSpPr>
          <p:cNvPr id="3" name="TextBox 2"/>
          <p:cNvSpPr txBox="1"/>
          <p:nvPr/>
        </p:nvSpPr>
        <p:spPr>
          <a:xfrm>
            <a:off x="685800" y="457200"/>
            <a:ext cx="10817352" cy="274320"/>
          </a:xfrm>
          <a:prstGeom prst="rect">
            <a:avLst/>
          </a:prstGeom>
          <a:noFill/>
        </p:spPr>
        <p:txBody>
          <a:bodyPr wrap="square" lIns="0" rIns="0" tIns="0" bIns="0" anchor="t">
            <a:spAutoFit/>
          </a:bodyPr>
          <a:lstStyle/>
          <a:p>
            <a:r>
              <a:rPr sz="1200" b="1" i="0" spc="300">
                <a:solidFill>
                  <a:schemeClr val="accent1"/>
                </a:solidFill>
              </a:rPr>
              <a:t>PART 3 · FROM CLASS TO TELLY</a:t>
            </a:r>
          </a:p>
        </p:txBody>
      </p:sp>
      <p:sp>
        <p:nvSpPr>
          <p:cNvPr id="4" name="TextBox 3"/>
          <p:cNvSpPr txBox="1"/>
          <p:nvPr/>
        </p:nvSpPr>
        <p:spPr>
          <a:xfrm>
            <a:off x="685800" y="6400800"/>
            <a:ext cx="6400800" cy="274320"/>
          </a:xfrm>
          <a:prstGeom prst="rect">
            <a:avLst/>
          </a:prstGeom>
          <a:noFill/>
        </p:spPr>
        <p:txBody>
          <a:bodyPr wrap="square" lIns="0" rIns="0" tIns="0" bIns="0" anchor="t">
            <a:spAutoFit/>
          </a:bodyPr>
          <a:lstStyle/>
          <a:p>
            <a:r>
              <a:rPr sz="1000" b="0" i="0">
                <a:solidFill>
                  <a:schemeClr val="tx2"/>
                </a:solidFill>
              </a:rPr>
              <a:t>Telly · stationary Rossby waves</a:t>
            </a:r>
          </a:p>
        </p:txBody>
      </p:sp>
      <p:sp>
        <p:nvSpPr>
          <p:cNvPr id="5" name="TextBox 4"/>
          <p:cNvSpPr txBox="1"/>
          <p:nvPr/>
        </p:nvSpPr>
        <p:spPr>
          <a:xfrm>
            <a:off x="10972800" y="6400800"/>
            <a:ext cx="548640" cy="274320"/>
          </a:xfrm>
          <a:prstGeom prst="rect">
            <a:avLst/>
          </a:prstGeom>
          <a:noFill/>
        </p:spPr>
        <p:txBody>
          <a:bodyPr wrap="none" lIns="0" rIns="0" tIns="0" bIns="0">
            <a:spAutoFit/>
          </a:bodyPr>
          <a:lstStyle/>
          <a:p>
            <a:pPr algn="r"/>
            <a:fld id="{B6F15528-21DE-4FAA-801E-634DDDAF4B2B}" type="slidenum">
              <a:rPr lang="en-US" sz="1000">
                <a:solidFill>
                  <a:schemeClr val="tx2"/>
                </a:solidFill>
              </a:rPr>
              <a:t>‹#›</a:t>
            </a:fld>
          </a:p>
        </p:txBody>
      </p:sp>
      <p:sp>
        <p:nvSpPr>
          <p:cNvPr id="6" name="Rounded Rectangle 5"/>
          <p:cNvSpPr/>
          <p:nvPr/>
        </p:nvSpPr>
        <p:spPr>
          <a:xfrm>
            <a:off x="685800" y="1783080"/>
            <a:ext cx="10817352" cy="1371600"/>
          </a:xfrm>
          <a:prstGeom prst="roundRect">
            <a:avLst>
              <a:gd name="adj" fmla="val 5000"/>
            </a:avLst>
          </a:prstGeom>
          <a:solidFill>
            <a:schemeClr val="bg1"/>
          </a:solidFill>
          <a:ln w="9525">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60120" y="1874519"/>
            <a:ext cx="10268712" cy="640080"/>
          </a:xfrm>
          <a:prstGeom prst="rect">
            <a:avLst/>
          </a:prstGeom>
          <a:noFill/>
        </p:spPr>
        <p:txBody>
          <a:bodyPr wrap="square" lIns="0" rIns="0" tIns="0" bIns="0" anchor="t">
            <a:spAutoFit/>
          </a:bodyPr>
          <a:lstStyle/>
          <a:p>
            <a:pPr>
              <a:spcAft>
                <a:spcPts val="400"/>
              </a:spcAft>
            </a:pPr>
            <a:r>
              <a:rPr sz="2800" b="0" i="1">
                <a:solidFill>
                  <a:schemeClr val="tx1"/>
                </a:solidFill>
                <a:latin typeface="+mj-lt"/>
              </a:rPr>
              <a:t>∂ζ/∂t + V·∇ζ + β v = </a:t>
            </a:r>
            <a:r>
              <a:rPr sz="2800" b="0" i="1">
                <a:solidFill>
                  <a:schemeClr val="accent1"/>
                </a:solidFill>
                <a:latin typeface="+mj-lt"/>
              </a:rPr>
              <a:t>−(ζ + f) D</a:t>
            </a:r>
          </a:p>
        </p:txBody>
      </p:sp>
      <p:sp>
        <p:nvSpPr>
          <p:cNvPr id="8" name="TextBox 7"/>
          <p:cNvSpPr txBox="1"/>
          <p:nvPr/>
        </p:nvSpPr>
        <p:spPr>
          <a:xfrm>
            <a:off x="960120" y="2651760"/>
            <a:ext cx="10268712" cy="365760"/>
          </a:xfrm>
          <a:prstGeom prst="rect">
            <a:avLst/>
          </a:prstGeom>
          <a:noFill/>
        </p:spPr>
        <p:txBody>
          <a:bodyPr wrap="square" lIns="0" rIns="0" tIns="0" bIns="0" anchor="t">
            <a:spAutoFit/>
          </a:bodyPr>
          <a:lstStyle/>
          <a:p>
            <a:r>
              <a:rPr sz="1400" b="0" i="0">
                <a:solidFill>
                  <a:schemeClr val="tx2"/>
                </a:solidFill>
              </a:rPr>
              <a:t>D = ∂u/∂x + ∂v/∂y is the divergence of the wind.</a:t>
            </a:r>
          </a:p>
        </p:txBody>
      </p:sp>
      <p:sp>
        <p:nvSpPr>
          <p:cNvPr id="9" name="TextBox 8"/>
          <p:cNvSpPr txBox="1"/>
          <p:nvPr/>
        </p:nvSpPr>
        <p:spPr>
          <a:xfrm>
            <a:off x="685800" y="3429000"/>
            <a:ext cx="10241280" cy="1645920"/>
          </a:xfrm>
          <a:prstGeom prst="rect">
            <a:avLst/>
          </a:prstGeom>
          <a:noFill/>
        </p:spPr>
        <p:txBody>
          <a:bodyPr wrap="square" lIns="0" rIns="0" tIns="0" bIns="0" anchor="t">
            <a:spAutoFit/>
          </a:bodyPr>
          <a:lstStyle/>
          <a:p>
            <a:pPr marL="285750" indent="-285750">
              <a:spcAft>
                <a:spcPts val="800"/>
              </a:spcAft>
              <a:buChar char="•"/>
            </a:pPr>
            <a:r>
              <a:rPr sz="1600" b="0" i="0">
                <a:solidFill>
                  <a:schemeClr val="tx1"/>
                </a:solidFill>
              </a:rPr>
              <a:t>Class: the flow is nearly non-divergent, so this term is dropped</a:t>
            </a:r>
          </a:p>
          <a:p>
            <a:pPr marL="285750" indent="-285750">
              <a:spcAft>
                <a:spcPts val="800"/>
              </a:spcAft>
              <a:buChar char="•"/>
            </a:pPr>
            <a:r>
              <a:rPr sz="1600" b="0" i="0">
                <a:solidFill>
                  <a:schemeClr val="tx1"/>
                </a:solidFill>
              </a:rPr>
              <a:t>Telly keeps it: converging air stretches a column and spins it up; diverging air squeezes it</a:t>
            </a:r>
          </a:p>
          <a:p>
            <a:pPr marL="285750" indent="-285750">
              <a:spcAft>
                <a:spcPts val="800"/>
              </a:spcAft>
              <a:buChar char="•"/>
            </a:pPr>
            <a:r>
              <a:rPr sz="1600" b="0" i="0">
                <a:solidFill>
                  <a:schemeClr val="tx1"/>
                </a:solidFill>
              </a:rPr>
              <a:t>Mountains and heating act through D, so this is where the source S of the class equation appears in Telly</a:t>
            </a:r>
          </a:p>
        </p:txBody>
      </p:sp>
      <p:sp>
        <p:nvSpPr>
          <p:cNvPr id="10" name="Rounded Rectangle 9"/>
          <p:cNvSpPr/>
          <p:nvPr/>
        </p:nvSpPr>
        <p:spPr>
          <a:xfrm>
            <a:off x="685800" y="5212080"/>
            <a:ext cx="10817352" cy="777240"/>
          </a:xfrm>
          <a:prstGeom prst="roundRect">
            <a:avLst>
              <a:gd name="adj" fmla="val 5000"/>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60120" y="5321808"/>
            <a:ext cx="5852160" cy="548640"/>
          </a:xfrm>
          <a:prstGeom prst="rect">
            <a:avLst/>
          </a:prstGeom>
          <a:noFill/>
        </p:spPr>
        <p:txBody>
          <a:bodyPr wrap="square" lIns="0" rIns="0" tIns="0" bIns="0" anchor="t">
            <a:spAutoFit/>
          </a:bodyPr>
          <a:lstStyle/>
          <a:p>
            <a:pPr>
              <a:spcAft>
                <a:spcPts val="400"/>
              </a:spcAft>
            </a:pPr>
            <a:r>
              <a:rPr sz="2000" b="0" i="1">
                <a:solidFill>
                  <a:schemeClr val="bg2"/>
                </a:solidFill>
                <a:latin typeface="+mj-lt"/>
              </a:rPr>
              <a:t>−∇·(ηV) = −V·∇ζ − β v − (ζ + f) D</a:t>
            </a:r>
          </a:p>
        </p:txBody>
      </p:sp>
      <p:sp>
        <p:nvSpPr>
          <p:cNvPr id="12" name="TextBox 11"/>
          <p:cNvSpPr txBox="1"/>
          <p:nvPr/>
        </p:nvSpPr>
        <p:spPr>
          <a:xfrm>
            <a:off x="7086600" y="5394960"/>
            <a:ext cx="4206240" cy="457200"/>
          </a:xfrm>
          <a:prstGeom prst="rect">
            <a:avLst/>
          </a:prstGeom>
          <a:noFill/>
        </p:spPr>
        <p:txBody>
          <a:bodyPr wrap="square" lIns="0" rIns="0" tIns="0" bIns="0" anchor="t">
            <a:spAutoFit/>
          </a:bodyPr>
          <a:lstStyle/>
          <a:p>
            <a:r>
              <a:rPr sz="1500" b="0" i="0">
                <a:solidFill>
                  <a:schemeClr val="bg2"/>
                </a:solidFill>
              </a:rPr>
              <a:t>Telly computes all three terms at once, as one quantity: −∇·(ηV).</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777240"/>
            <a:ext cx="10817352" cy="868680"/>
          </a:xfrm>
        </p:spPr>
        <p:txBody>
          <a:bodyPr wrap="square" lIns="0" rIns="0" tIns="0" bIns="0" anchor="t"/>
          <a:lstStyle/>
          <a:p>
            <a:pPr algn="l"/>
            <a:r>
              <a:rPr sz="3600" b="1">
                <a:solidFill>
                  <a:schemeClr val="tx1"/>
                </a:solidFill>
                <a:latin typeface="+mj-lt"/>
              </a:rPr>
              <a:t>Step 3: Add Compression</a:t>
            </a:r>
          </a:p>
        </p:txBody>
      </p:sp>
      <p:sp>
        <p:nvSpPr>
          <p:cNvPr id="3" name="TextBox 2"/>
          <p:cNvSpPr txBox="1"/>
          <p:nvPr/>
        </p:nvSpPr>
        <p:spPr>
          <a:xfrm>
            <a:off x="685800" y="457200"/>
            <a:ext cx="10817352" cy="274320"/>
          </a:xfrm>
          <a:prstGeom prst="rect">
            <a:avLst/>
          </a:prstGeom>
          <a:noFill/>
        </p:spPr>
        <p:txBody>
          <a:bodyPr wrap="square" lIns="0" rIns="0" tIns="0" bIns="0" anchor="t">
            <a:spAutoFit/>
          </a:bodyPr>
          <a:lstStyle/>
          <a:p>
            <a:r>
              <a:rPr sz="1200" b="1" i="0" spc="300">
                <a:solidFill>
                  <a:schemeClr val="accent1"/>
                </a:solidFill>
              </a:rPr>
              <a:t>PART 3 · FROM CLASS TO TELLY</a:t>
            </a:r>
          </a:p>
        </p:txBody>
      </p:sp>
      <p:sp>
        <p:nvSpPr>
          <p:cNvPr id="4" name="TextBox 3"/>
          <p:cNvSpPr txBox="1"/>
          <p:nvPr/>
        </p:nvSpPr>
        <p:spPr>
          <a:xfrm>
            <a:off x="685800" y="6400800"/>
            <a:ext cx="6400800" cy="274320"/>
          </a:xfrm>
          <a:prstGeom prst="rect">
            <a:avLst/>
          </a:prstGeom>
          <a:noFill/>
        </p:spPr>
        <p:txBody>
          <a:bodyPr wrap="square" lIns="0" rIns="0" tIns="0" bIns="0" anchor="t">
            <a:spAutoFit/>
          </a:bodyPr>
          <a:lstStyle/>
          <a:p>
            <a:r>
              <a:rPr sz="1000" b="0" i="0">
                <a:solidFill>
                  <a:schemeClr val="tx2"/>
                </a:solidFill>
              </a:rPr>
              <a:t>Telly · stationary Rossby waves</a:t>
            </a:r>
          </a:p>
        </p:txBody>
      </p:sp>
      <p:sp>
        <p:nvSpPr>
          <p:cNvPr id="5" name="TextBox 4"/>
          <p:cNvSpPr txBox="1"/>
          <p:nvPr/>
        </p:nvSpPr>
        <p:spPr>
          <a:xfrm>
            <a:off x="10972800" y="6400800"/>
            <a:ext cx="548640" cy="274320"/>
          </a:xfrm>
          <a:prstGeom prst="rect">
            <a:avLst/>
          </a:prstGeom>
          <a:noFill/>
        </p:spPr>
        <p:txBody>
          <a:bodyPr wrap="none" lIns="0" rIns="0" tIns="0" bIns="0">
            <a:spAutoFit/>
          </a:bodyPr>
          <a:lstStyle/>
          <a:p>
            <a:pPr algn="r"/>
            <a:fld id="{B6F15528-21DE-4FAA-801E-634DDDAF4B2B}" type="slidenum">
              <a:rPr lang="en-US" sz="1000">
                <a:solidFill>
                  <a:schemeClr val="tx2"/>
                </a:solidFill>
              </a:rPr>
              <a:t>‹#›</a:t>
            </a:fld>
          </a:p>
        </p:txBody>
      </p:sp>
      <p:sp>
        <p:nvSpPr>
          <p:cNvPr id="6" name="TextBox 5"/>
          <p:cNvSpPr txBox="1"/>
          <p:nvPr/>
        </p:nvSpPr>
        <p:spPr>
          <a:xfrm>
            <a:off x="685800" y="6053328"/>
            <a:ext cx="10058400" cy="274320"/>
          </a:xfrm>
          <a:prstGeom prst="rect">
            <a:avLst/>
          </a:prstGeom>
          <a:noFill/>
        </p:spPr>
        <p:txBody>
          <a:bodyPr wrap="square" lIns="0" rIns="0" tIns="0" bIns="0" anchor="t">
            <a:spAutoFit/>
          </a:bodyPr>
          <a:lstStyle/>
          <a:p>
            <a:r>
              <a:rPr sz="1100" b="0" i="0">
                <a:solidFill>
                  <a:schemeClr val="tx2"/>
                </a:solidFill>
              </a:rPr>
              <a:t>Typical values: T = 250 K, lapse rate 6.5 K/km</a:t>
            </a:r>
          </a:p>
        </p:txBody>
      </p:sp>
      <p:sp>
        <p:nvSpPr>
          <p:cNvPr id="7" name="Rounded Rectangle 6"/>
          <p:cNvSpPr/>
          <p:nvPr/>
        </p:nvSpPr>
        <p:spPr>
          <a:xfrm>
            <a:off x="685800" y="1783080"/>
            <a:ext cx="10817352" cy="822960"/>
          </a:xfrm>
          <a:prstGeom prst="roundRect">
            <a:avLst>
              <a:gd name="adj" fmla="val 5000"/>
            </a:avLst>
          </a:prstGeom>
          <a:solidFill>
            <a:schemeClr val="bg1"/>
          </a:solidFill>
          <a:ln w="254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60120" y="1920240"/>
            <a:ext cx="10268712" cy="594360"/>
          </a:xfrm>
          <a:prstGeom prst="rect">
            <a:avLst/>
          </a:prstGeom>
          <a:noFill/>
        </p:spPr>
        <p:txBody>
          <a:bodyPr wrap="square" lIns="0" rIns="0" tIns="0" bIns="0" anchor="t">
            <a:spAutoFit/>
          </a:bodyPr>
          <a:lstStyle/>
          <a:p>
            <a:r>
              <a:rPr sz="1800" b="1" i="0">
                <a:solidFill>
                  <a:schemeClr val="accent1"/>
                </a:solidFill>
              </a:rPr>
              <a:t>Why: </a:t>
            </a:r>
            <a:r>
              <a:rPr sz="1800" b="1" i="0">
                <a:solidFill>
                  <a:schemeClr val="tx1"/>
                </a:solidFill>
              </a:rPr>
              <a:t>air that moves up or down changes pressure, and that changes its temperature even with no heating.</a:t>
            </a:r>
          </a:p>
        </p:txBody>
      </p:sp>
      <p:sp>
        <p:nvSpPr>
          <p:cNvPr id="9" name="TextBox 8"/>
          <p:cNvSpPr txBox="1"/>
          <p:nvPr/>
        </p:nvSpPr>
        <p:spPr>
          <a:xfrm>
            <a:off x="685800" y="2788920"/>
            <a:ext cx="6309360" cy="274320"/>
          </a:xfrm>
          <a:prstGeom prst="rect">
            <a:avLst/>
          </a:prstGeom>
          <a:noFill/>
        </p:spPr>
        <p:txBody>
          <a:bodyPr wrap="square" lIns="0" rIns="0" tIns="0" bIns="0" anchor="t">
            <a:spAutoFit/>
          </a:bodyPr>
          <a:lstStyle/>
          <a:p>
            <a:r>
              <a:rPr sz="1300" b="1" i="0">
                <a:solidFill>
                  <a:schemeClr val="accent1"/>
                </a:solidFill>
              </a:rPr>
              <a:t>1 · First law for a moving air parcel</a:t>
            </a:r>
          </a:p>
        </p:txBody>
      </p:sp>
      <p:sp>
        <p:nvSpPr>
          <p:cNvPr id="10" name="TextBox 9"/>
          <p:cNvSpPr txBox="1"/>
          <p:nvPr/>
        </p:nvSpPr>
        <p:spPr>
          <a:xfrm>
            <a:off x="685800" y="3099815"/>
            <a:ext cx="6309360" cy="548640"/>
          </a:xfrm>
          <a:prstGeom prst="rect">
            <a:avLst/>
          </a:prstGeom>
          <a:noFill/>
        </p:spPr>
        <p:txBody>
          <a:bodyPr wrap="square" lIns="0" rIns="0" tIns="0" bIns="0" anchor="t">
            <a:spAutoFit/>
          </a:bodyPr>
          <a:lstStyle/>
          <a:p>
            <a:pPr>
              <a:spcAft>
                <a:spcPts val="400"/>
              </a:spcAft>
            </a:pPr>
            <a:r>
              <a:rPr sz="2000" b="0" i="1">
                <a:solidFill>
                  <a:schemeClr val="tx1"/>
                </a:solidFill>
                <a:latin typeface="+mj-lt"/>
              </a:rPr>
              <a:t>cp DT/Dt − αω = Q</a:t>
            </a:r>
          </a:p>
        </p:txBody>
      </p:sp>
      <p:sp>
        <p:nvSpPr>
          <p:cNvPr id="11" name="TextBox 10"/>
          <p:cNvSpPr txBox="1"/>
          <p:nvPr/>
        </p:nvSpPr>
        <p:spPr>
          <a:xfrm>
            <a:off x="685800" y="3749039"/>
            <a:ext cx="6309360" cy="274320"/>
          </a:xfrm>
          <a:prstGeom prst="rect">
            <a:avLst/>
          </a:prstGeom>
          <a:noFill/>
        </p:spPr>
        <p:txBody>
          <a:bodyPr wrap="square" lIns="0" rIns="0" tIns="0" bIns="0" anchor="t">
            <a:spAutoFit/>
          </a:bodyPr>
          <a:lstStyle/>
          <a:p>
            <a:r>
              <a:rPr sz="1300" b="1" i="0">
                <a:solidFill>
                  <a:schemeClr val="accent1"/>
                </a:solidFill>
              </a:rPr>
              <a:t>2 · Use the ideal gas law, α = RT/p</a:t>
            </a:r>
          </a:p>
        </p:txBody>
      </p:sp>
      <p:sp>
        <p:nvSpPr>
          <p:cNvPr id="12" name="TextBox 11"/>
          <p:cNvSpPr txBox="1"/>
          <p:nvPr/>
        </p:nvSpPr>
        <p:spPr>
          <a:xfrm>
            <a:off x="685800" y="4059935"/>
            <a:ext cx="6309360" cy="548640"/>
          </a:xfrm>
          <a:prstGeom prst="rect">
            <a:avLst/>
          </a:prstGeom>
          <a:noFill/>
        </p:spPr>
        <p:txBody>
          <a:bodyPr wrap="square" lIns="0" rIns="0" tIns="0" bIns="0" anchor="t">
            <a:spAutoFit/>
          </a:bodyPr>
          <a:lstStyle/>
          <a:p>
            <a:pPr>
              <a:spcAft>
                <a:spcPts val="400"/>
              </a:spcAft>
            </a:pPr>
            <a:r>
              <a:rPr sz="2000" b="0" i="1">
                <a:solidFill>
                  <a:schemeClr val="tx1"/>
                </a:solidFill>
                <a:latin typeface="+mj-lt"/>
              </a:rPr>
              <a:t>DT/Dt = </a:t>
            </a:r>
            <a:r>
              <a:rPr sz="2000" b="0" i="1">
                <a:solidFill>
                  <a:schemeClr val="accent1"/>
                </a:solidFill>
                <a:latin typeface="+mj-lt"/>
              </a:rPr>
              <a:t>κTω/p</a:t>
            </a:r>
            <a:r>
              <a:rPr sz="2000" b="0" i="1">
                <a:solidFill>
                  <a:schemeClr val="tx1"/>
                </a:solidFill>
                <a:latin typeface="+mj-lt"/>
              </a:rPr>
              <a:t> + </a:t>
            </a:r>
            <a:r>
              <a:rPr sz="2000" b="0" i="1">
                <a:solidFill>
                  <a:schemeClr val="accent2"/>
                </a:solidFill>
                <a:latin typeface="+mj-lt"/>
              </a:rPr>
              <a:t>Q/cp</a:t>
            </a:r>
            <a:r>
              <a:rPr sz="2000" b="0" i="1">
                <a:solidFill>
                  <a:schemeClr val="tx1"/>
                </a:solidFill>
                <a:latin typeface="+mj-lt"/>
              </a:rPr>
              <a:t>,  κ = R/cp</a:t>
            </a:r>
          </a:p>
        </p:txBody>
      </p:sp>
      <p:sp>
        <p:nvSpPr>
          <p:cNvPr id="13" name="TextBox 12"/>
          <p:cNvSpPr txBox="1"/>
          <p:nvPr/>
        </p:nvSpPr>
        <p:spPr>
          <a:xfrm>
            <a:off x="685800" y="4709160"/>
            <a:ext cx="6309360" cy="274320"/>
          </a:xfrm>
          <a:prstGeom prst="rect">
            <a:avLst/>
          </a:prstGeom>
          <a:noFill/>
        </p:spPr>
        <p:txBody>
          <a:bodyPr wrap="square" lIns="0" rIns="0" tIns="0" bIns="0" anchor="t">
            <a:spAutoFit/>
          </a:bodyPr>
          <a:lstStyle/>
          <a:p>
            <a:r>
              <a:rPr sz="1300" b="1" i="0">
                <a:solidFill>
                  <a:schemeClr val="accent1"/>
                </a:solidFill>
              </a:rPr>
              <a:t>3 · Write out DT/Dt</a:t>
            </a:r>
          </a:p>
        </p:txBody>
      </p:sp>
      <p:sp>
        <p:nvSpPr>
          <p:cNvPr id="14" name="TextBox 13"/>
          <p:cNvSpPr txBox="1"/>
          <p:nvPr/>
        </p:nvSpPr>
        <p:spPr>
          <a:xfrm>
            <a:off x="685800" y="5020056"/>
            <a:ext cx="6309360" cy="548640"/>
          </a:xfrm>
          <a:prstGeom prst="rect">
            <a:avLst/>
          </a:prstGeom>
          <a:noFill/>
        </p:spPr>
        <p:txBody>
          <a:bodyPr wrap="square" lIns="0" rIns="0" tIns="0" bIns="0" anchor="t">
            <a:spAutoFit/>
          </a:bodyPr>
          <a:lstStyle/>
          <a:p>
            <a:pPr>
              <a:spcAft>
                <a:spcPts val="400"/>
              </a:spcAft>
            </a:pPr>
            <a:r>
              <a:rPr sz="1700" b="0" i="1">
                <a:solidFill>
                  <a:schemeClr val="tx1"/>
                </a:solidFill>
                <a:latin typeface="+mj-lt"/>
              </a:rPr>
              <a:t>∂T/∂t + u ∂T/∂x + v ∂T/∂y + ω ∂T/∂p </a:t>
            </a:r>
            <a:r>
              <a:rPr sz="1700" b="0" i="1">
                <a:solidFill>
                  <a:schemeClr val="accent1"/>
                </a:solidFill>
                <a:latin typeface="+mj-lt"/>
              </a:rPr>
              <a:t>− κTω/p</a:t>
            </a:r>
            <a:r>
              <a:rPr sz="1700" b="0" i="1">
                <a:solidFill>
                  <a:schemeClr val="tx1"/>
                </a:solidFill>
                <a:latin typeface="+mj-lt"/>
              </a:rPr>
              <a:t> = </a:t>
            </a:r>
            <a:r>
              <a:rPr sz="1700" b="0" i="1">
                <a:solidFill>
                  <a:schemeClr val="accent2"/>
                </a:solidFill>
                <a:latin typeface="+mj-lt"/>
              </a:rPr>
              <a:t>Q/cp</a:t>
            </a:r>
          </a:p>
        </p:txBody>
      </p:sp>
      <p:sp>
        <p:nvSpPr>
          <p:cNvPr id="15" name="Rounded Rectangle 14"/>
          <p:cNvSpPr/>
          <p:nvPr/>
        </p:nvSpPr>
        <p:spPr>
          <a:xfrm>
            <a:off x="7269480" y="2788920"/>
            <a:ext cx="4233672" cy="3154680"/>
          </a:xfrm>
          <a:prstGeom prst="roundRect">
            <a:avLst>
              <a:gd name="adj" fmla="val 5000"/>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7498079" y="2926080"/>
            <a:ext cx="3749039" cy="274320"/>
          </a:xfrm>
          <a:prstGeom prst="rect">
            <a:avLst/>
          </a:prstGeom>
          <a:noFill/>
        </p:spPr>
        <p:txBody>
          <a:bodyPr wrap="square" lIns="0" rIns="0" tIns="0" bIns="0" anchor="t">
            <a:spAutoFit/>
          </a:bodyPr>
          <a:lstStyle/>
          <a:p>
            <a:r>
              <a:rPr sz="1100" b="1" i="0" spc="300">
                <a:solidFill>
                  <a:schemeClr val="accent4"/>
                </a:solidFill>
              </a:rPr>
              <a:t>WHAT IT MEANS</a:t>
            </a:r>
          </a:p>
        </p:txBody>
      </p:sp>
      <p:sp>
        <p:nvSpPr>
          <p:cNvPr id="17" name="TextBox 16"/>
          <p:cNvSpPr txBox="1"/>
          <p:nvPr/>
        </p:nvSpPr>
        <p:spPr>
          <a:xfrm>
            <a:off x="7498079" y="3291840"/>
            <a:ext cx="3794760" cy="2606040"/>
          </a:xfrm>
          <a:prstGeom prst="rect">
            <a:avLst/>
          </a:prstGeom>
          <a:noFill/>
        </p:spPr>
        <p:txBody>
          <a:bodyPr wrap="square" lIns="0" rIns="0" tIns="0" bIns="0" anchor="t">
            <a:spAutoFit/>
          </a:bodyPr>
          <a:lstStyle/>
          <a:p>
            <a:pPr>
              <a:spcAft>
                <a:spcPts val="800"/>
              </a:spcAft>
            </a:pPr>
            <a:r>
              <a:rPr sz="1400" b="0" i="0">
                <a:solidFill>
                  <a:schemeClr val="bg2"/>
                </a:solidFill>
              </a:rPr>
              <a:t>Rising air (ω &lt; 0) expands and cools. Sinking air (ω &gt; 0) is compressed and warms.</a:t>
            </a:r>
          </a:p>
          <a:p>
            <a:pPr>
              <a:spcAft>
                <a:spcPts val="800"/>
              </a:spcAft>
            </a:pPr>
            <a:r>
              <a:rPr sz="1400" b="0" i="0">
                <a:solidFill>
                  <a:schemeClr val="bg2"/>
                </a:solidFill>
              </a:rPr>
              <a:t>The class term ω ∂T/∂p only carries temperature up or down. It has no expansion or compression in it.</a:t>
            </a:r>
          </a:p>
          <a:p>
            <a:pPr>
              <a:spcAft>
                <a:spcPts val="800"/>
              </a:spcAft>
            </a:pPr>
            <a:r>
              <a:rPr sz="1400" b="0" i="0">
                <a:solidFill>
                  <a:schemeClr val="accent4"/>
                </a:solidFill>
              </a:rPr>
              <a:t>At 500 hPa, ∂T/∂p ≈ 0.095 K/hPa but κT/p ≈ 0.14 K/hPa: leaving compression out gets the vertical response wrong by a factor of 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777240"/>
            <a:ext cx="10817352" cy="868680"/>
          </a:xfrm>
        </p:spPr>
        <p:txBody>
          <a:bodyPr wrap="square" lIns="0" rIns="0" tIns="0" bIns="0" anchor="t"/>
          <a:lstStyle/>
          <a:p>
            <a:pPr algn="l"/>
            <a:r>
              <a:rPr sz="3600" b="1">
                <a:solidFill>
                  <a:schemeClr val="tx1"/>
                </a:solidFill>
                <a:latin typeface="+mj-lt"/>
              </a:rPr>
              <a:t>Step 4: Stack Layers</a:t>
            </a:r>
          </a:p>
        </p:txBody>
      </p:sp>
      <p:sp>
        <p:nvSpPr>
          <p:cNvPr id="3" name="TextBox 2"/>
          <p:cNvSpPr txBox="1"/>
          <p:nvPr/>
        </p:nvSpPr>
        <p:spPr>
          <a:xfrm>
            <a:off x="685800" y="457200"/>
            <a:ext cx="10817352" cy="274320"/>
          </a:xfrm>
          <a:prstGeom prst="rect">
            <a:avLst/>
          </a:prstGeom>
          <a:noFill/>
        </p:spPr>
        <p:txBody>
          <a:bodyPr wrap="square" lIns="0" rIns="0" tIns="0" bIns="0" anchor="t">
            <a:spAutoFit/>
          </a:bodyPr>
          <a:lstStyle/>
          <a:p>
            <a:r>
              <a:rPr sz="1200" b="1" i="0" spc="300">
                <a:solidFill>
                  <a:schemeClr val="accent1"/>
                </a:solidFill>
              </a:rPr>
              <a:t>PART 3 · FROM CLASS TO TELLY</a:t>
            </a:r>
          </a:p>
        </p:txBody>
      </p:sp>
      <p:sp>
        <p:nvSpPr>
          <p:cNvPr id="4" name="TextBox 3"/>
          <p:cNvSpPr txBox="1"/>
          <p:nvPr/>
        </p:nvSpPr>
        <p:spPr>
          <a:xfrm>
            <a:off x="685800" y="6400800"/>
            <a:ext cx="6400800" cy="274320"/>
          </a:xfrm>
          <a:prstGeom prst="rect">
            <a:avLst/>
          </a:prstGeom>
          <a:noFill/>
        </p:spPr>
        <p:txBody>
          <a:bodyPr wrap="square" lIns="0" rIns="0" tIns="0" bIns="0" anchor="t">
            <a:spAutoFit/>
          </a:bodyPr>
          <a:lstStyle/>
          <a:p>
            <a:r>
              <a:rPr sz="1000" b="0" i="0">
                <a:solidFill>
                  <a:schemeClr val="tx2"/>
                </a:solidFill>
              </a:rPr>
              <a:t>Telly · stationary Rossby waves</a:t>
            </a:r>
          </a:p>
        </p:txBody>
      </p:sp>
      <p:sp>
        <p:nvSpPr>
          <p:cNvPr id="5" name="TextBox 4"/>
          <p:cNvSpPr txBox="1"/>
          <p:nvPr/>
        </p:nvSpPr>
        <p:spPr>
          <a:xfrm>
            <a:off x="10972800" y="6400800"/>
            <a:ext cx="548640" cy="274320"/>
          </a:xfrm>
          <a:prstGeom prst="rect">
            <a:avLst/>
          </a:prstGeom>
          <a:noFill/>
        </p:spPr>
        <p:txBody>
          <a:bodyPr wrap="none" lIns="0" rIns="0" tIns="0" bIns="0">
            <a:spAutoFit/>
          </a:bodyPr>
          <a:lstStyle/>
          <a:p>
            <a:pPr algn="r"/>
            <a:fld id="{B6F15528-21DE-4FAA-801E-634DDDAF4B2B}" type="slidenum">
              <a:rPr lang="en-US" sz="1000">
                <a:solidFill>
                  <a:schemeClr val="tx2"/>
                </a:solidFill>
              </a:rPr>
              <a:t>‹#›</a:t>
            </a:fld>
          </a:p>
        </p:txBody>
      </p:sp>
      <p:sp>
        <p:nvSpPr>
          <p:cNvPr id="6" name="Rounded Rectangle 5"/>
          <p:cNvSpPr/>
          <p:nvPr/>
        </p:nvSpPr>
        <p:spPr>
          <a:xfrm>
            <a:off x="685800" y="1783080"/>
            <a:ext cx="10817352" cy="1188720"/>
          </a:xfrm>
          <a:prstGeom prst="roundRect">
            <a:avLst>
              <a:gd name="adj" fmla="val 5000"/>
            </a:avLst>
          </a:prstGeom>
          <a:solidFill>
            <a:schemeClr val="bg1"/>
          </a:solidFill>
          <a:ln w="9525">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60120" y="1874519"/>
            <a:ext cx="10268712" cy="1005840"/>
          </a:xfrm>
          <a:prstGeom prst="rect">
            <a:avLst/>
          </a:prstGeom>
          <a:noFill/>
        </p:spPr>
        <p:txBody>
          <a:bodyPr wrap="square" lIns="0" rIns="0" tIns="0" bIns="0" anchor="t">
            <a:spAutoFit/>
          </a:bodyPr>
          <a:lstStyle/>
          <a:p>
            <a:pPr>
              <a:spcAft>
                <a:spcPts val="200"/>
              </a:spcAft>
            </a:pPr>
            <a:r>
              <a:rPr sz="2200" b="0" i="1">
                <a:solidFill>
                  <a:schemeClr val="tx1"/>
                </a:solidFill>
                <a:latin typeface="+mj-lt"/>
              </a:rPr>
              <a:t>Φ = </a:t>
            </a:r>
            <a:r>
              <a:rPr sz="2200" b="0" i="1">
                <a:solidFill>
                  <a:schemeClr val="accent2"/>
                </a:solidFill>
                <a:latin typeface="+mj-lt"/>
              </a:rPr>
              <a:t>Φs</a:t>
            </a:r>
            <a:r>
              <a:rPr sz="2200" b="0" i="1">
                <a:solidFill>
                  <a:schemeClr val="tx1"/>
                </a:solidFill>
                <a:latin typeface="+mj-lt"/>
              </a:rPr>
              <a:t> + R ∫ T d(ln p)</a:t>
            </a:r>
          </a:p>
          <a:p>
            <a:pPr>
              <a:spcAft>
                <a:spcPts val="200"/>
              </a:spcAft>
            </a:pPr>
            <a:r>
              <a:rPr sz="2200" b="0" i="1">
                <a:solidFill>
                  <a:schemeClr val="tx1"/>
                </a:solidFill>
                <a:latin typeface="+mj-lt"/>
              </a:rPr>
              <a:t>∂u/∂x + ∂v/∂y + ∂ω/∂p = 0</a:t>
            </a:r>
          </a:p>
        </p:txBody>
      </p:sp>
      <p:sp>
        <p:nvSpPr>
          <p:cNvPr id="8" name="Rounded Rectangle 7"/>
          <p:cNvSpPr/>
          <p:nvPr/>
        </p:nvSpPr>
        <p:spPr>
          <a:xfrm>
            <a:off x="685800" y="3200400"/>
            <a:ext cx="3483864" cy="2651760"/>
          </a:xfrm>
          <a:prstGeom prst="roundRect">
            <a:avLst>
              <a:gd name="adj" fmla="val 5000"/>
            </a:avLst>
          </a:prstGeom>
          <a:solidFill>
            <a:schemeClr val="bg1"/>
          </a:solidFill>
          <a:ln w="9525">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14400" y="3337560"/>
            <a:ext cx="3026664" cy="365760"/>
          </a:xfrm>
          <a:prstGeom prst="rect">
            <a:avLst/>
          </a:prstGeom>
          <a:noFill/>
        </p:spPr>
        <p:txBody>
          <a:bodyPr wrap="square" lIns="0" rIns="0" tIns="0" bIns="0" anchor="t">
            <a:spAutoFit/>
          </a:bodyPr>
          <a:lstStyle/>
          <a:p>
            <a:r>
              <a:rPr sz="1600" b="1" i="0">
                <a:solidFill>
                  <a:schemeClr val="accent1"/>
                </a:solidFill>
              </a:rPr>
              <a:t>Hydrostatic</a:t>
            </a:r>
          </a:p>
        </p:txBody>
      </p:sp>
      <p:sp>
        <p:nvSpPr>
          <p:cNvPr id="10" name="TextBox 9"/>
          <p:cNvSpPr txBox="1"/>
          <p:nvPr/>
        </p:nvSpPr>
        <p:spPr>
          <a:xfrm>
            <a:off x="914400" y="3794760"/>
            <a:ext cx="3026664" cy="1920240"/>
          </a:xfrm>
          <a:prstGeom prst="rect">
            <a:avLst/>
          </a:prstGeom>
          <a:noFill/>
        </p:spPr>
        <p:txBody>
          <a:bodyPr wrap="square" lIns="0" rIns="0" tIns="0" bIns="0" anchor="t">
            <a:spAutoFit/>
          </a:bodyPr>
          <a:lstStyle/>
          <a:p>
            <a:r>
              <a:rPr sz="1400" b="0" i="0">
                <a:solidFill>
                  <a:schemeClr val="tx2"/>
                </a:solidFill>
              </a:rPr>
              <a:t>The temperatures of all 26 layers give the height of every pressure surface. The ground height Φs is the bottom of the sum: this is where mountains enter.</a:t>
            </a:r>
          </a:p>
        </p:txBody>
      </p:sp>
      <p:sp>
        <p:nvSpPr>
          <p:cNvPr id="11" name="Rounded Rectangle 10"/>
          <p:cNvSpPr/>
          <p:nvPr/>
        </p:nvSpPr>
        <p:spPr>
          <a:xfrm>
            <a:off x="4352544" y="3200400"/>
            <a:ext cx="3483864" cy="2651760"/>
          </a:xfrm>
          <a:prstGeom prst="roundRect">
            <a:avLst>
              <a:gd name="adj" fmla="val 5000"/>
            </a:avLst>
          </a:prstGeom>
          <a:solidFill>
            <a:schemeClr val="bg1"/>
          </a:solidFill>
          <a:ln w="9525">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4581144" y="3337560"/>
            <a:ext cx="3026664" cy="365760"/>
          </a:xfrm>
          <a:prstGeom prst="rect">
            <a:avLst/>
          </a:prstGeom>
          <a:noFill/>
        </p:spPr>
        <p:txBody>
          <a:bodyPr wrap="square" lIns="0" rIns="0" tIns="0" bIns="0" anchor="t">
            <a:spAutoFit/>
          </a:bodyPr>
          <a:lstStyle/>
          <a:p>
            <a:r>
              <a:rPr sz="1600" b="1" i="0">
                <a:solidFill>
                  <a:schemeClr val="accent1"/>
                </a:solidFill>
              </a:rPr>
              <a:t>Continuity</a:t>
            </a:r>
          </a:p>
        </p:txBody>
      </p:sp>
      <p:sp>
        <p:nvSpPr>
          <p:cNvPr id="13" name="TextBox 12"/>
          <p:cNvSpPr txBox="1"/>
          <p:nvPr/>
        </p:nvSpPr>
        <p:spPr>
          <a:xfrm>
            <a:off x="4581144" y="3794760"/>
            <a:ext cx="3026664" cy="1920240"/>
          </a:xfrm>
          <a:prstGeom prst="rect">
            <a:avLst/>
          </a:prstGeom>
          <a:noFill/>
        </p:spPr>
        <p:txBody>
          <a:bodyPr wrap="square" lIns="0" rIns="0" tIns="0" bIns="0" anchor="t">
            <a:spAutoFit/>
          </a:bodyPr>
          <a:lstStyle/>
          <a:p>
            <a:r>
              <a:rPr sz="1400" b="0" i="0">
                <a:solidFill>
                  <a:schemeClr val="tx2"/>
                </a:solidFill>
              </a:rPr>
              <a:t>Convergence in each layer gives the vertical motion ω between layers.</a:t>
            </a:r>
          </a:p>
        </p:txBody>
      </p:sp>
      <p:sp>
        <p:nvSpPr>
          <p:cNvPr id="14" name="Rounded Rectangle 13"/>
          <p:cNvSpPr/>
          <p:nvPr/>
        </p:nvSpPr>
        <p:spPr>
          <a:xfrm>
            <a:off x="8019288" y="3200400"/>
            <a:ext cx="3483864" cy="2651760"/>
          </a:xfrm>
          <a:prstGeom prst="roundRect">
            <a:avLst>
              <a:gd name="adj" fmla="val 5000"/>
            </a:avLst>
          </a:prstGeom>
          <a:solidFill>
            <a:schemeClr val="bg1"/>
          </a:solidFill>
          <a:ln w="9525">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247888" y="3337560"/>
            <a:ext cx="3026664" cy="365760"/>
          </a:xfrm>
          <a:prstGeom prst="rect">
            <a:avLst/>
          </a:prstGeom>
          <a:noFill/>
        </p:spPr>
        <p:txBody>
          <a:bodyPr wrap="square" lIns="0" rIns="0" tIns="0" bIns="0" anchor="t">
            <a:spAutoFit/>
          </a:bodyPr>
          <a:lstStyle/>
          <a:p>
            <a:r>
              <a:rPr sz="1600" b="1" i="0">
                <a:solidFill>
                  <a:schemeClr val="accent1"/>
                </a:solidFill>
              </a:rPr>
              <a:t>All layers at once</a:t>
            </a:r>
          </a:p>
        </p:txBody>
      </p:sp>
      <p:sp>
        <p:nvSpPr>
          <p:cNvPr id="16" name="TextBox 15"/>
          <p:cNvSpPr txBox="1"/>
          <p:nvPr/>
        </p:nvSpPr>
        <p:spPr>
          <a:xfrm>
            <a:off x="8247888" y="3794760"/>
            <a:ext cx="3026664" cy="1920240"/>
          </a:xfrm>
          <a:prstGeom prst="rect">
            <a:avLst/>
          </a:prstGeom>
          <a:noFill/>
        </p:spPr>
        <p:txBody>
          <a:bodyPr wrap="square" lIns="0" rIns="0" tIns="0" bIns="0" anchor="t">
            <a:spAutoFit/>
          </a:bodyPr>
          <a:lstStyle/>
          <a:p>
            <a:r>
              <a:rPr sz="1400" b="0" i="0">
                <a:solidFill>
                  <a:schemeClr val="tx2"/>
                </a:solidFill>
              </a:rPr>
              <a:t>Each layer has its own wind, temperature and ω. The terms ω ∂T/∂p and compression link neighboring layers.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777240"/>
            <a:ext cx="10817352" cy="868680"/>
          </a:xfrm>
        </p:spPr>
        <p:txBody>
          <a:bodyPr wrap="square" lIns="0" rIns="0" tIns="0" bIns="0" anchor="t"/>
          <a:lstStyle/>
          <a:p>
            <a:pPr algn="l"/>
            <a:r>
              <a:rPr sz="3600" b="1">
                <a:solidFill>
                  <a:schemeClr val="tx1"/>
                </a:solidFill>
                <a:latin typeface="+mj-lt"/>
              </a:rPr>
              <a:t>Step 5: Simple Damping</a:t>
            </a:r>
          </a:p>
        </p:txBody>
      </p:sp>
      <p:sp>
        <p:nvSpPr>
          <p:cNvPr id="3" name="TextBox 2"/>
          <p:cNvSpPr txBox="1"/>
          <p:nvPr/>
        </p:nvSpPr>
        <p:spPr>
          <a:xfrm>
            <a:off x="685800" y="457200"/>
            <a:ext cx="10817352" cy="274320"/>
          </a:xfrm>
          <a:prstGeom prst="rect">
            <a:avLst/>
          </a:prstGeom>
          <a:noFill/>
        </p:spPr>
        <p:txBody>
          <a:bodyPr wrap="square" lIns="0" rIns="0" tIns="0" bIns="0" anchor="t">
            <a:spAutoFit/>
          </a:bodyPr>
          <a:lstStyle/>
          <a:p>
            <a:r>
              <a:rPr sz="1200" b="1" i="0" spc="300">
                <a:solidFill>
                  <a:schemeClr val="accent1"/>
                </a:solidFill>
              </a:rPr>
              <a:t>PART 3 · FROM CLASS TO TELLY</a:t>
            </a:r>
          </a:p>
        </p:txBody>
      </p:sp>
      <p:sp>
        <p:nvSpPr>
          <p:cNvPr id="4" name="TextBox 3"/>
          <p:cNvSpPr txBox="1"/>
          <p:nvPr/>
        </p:nvSpPr>
        <p:spPr>
          <a:xfrm>
            <a:off x="685800" y="6400800"/>
            <a:ext cx="6400800" cy="274320"/>
          </a:xfrm>
          <a:prstGeom prst="rect">
            <a:avLst/>
          </a:prstGeom>
          <a:noFill/>
        </p:spPr>
        <p:txBody>
          <a:bodyPr wrap="square" lIns="0" rIns="0" tIns="0" bIns="0" anchor="t">
            <a:spAutoFit/>
          </a:bodyPr>
          <a:lstStyle/>
          <a:p>
            <a:r>
              <a:rPr sz="1000" b="0" i="0">
                <a:solidFill>
                  <a:schemeClr val="tx2"/>
                </a:solidFill>
              </a:rPr>
              <a:t>Telly · stationary Rossby waves</a:t>
            </a:r>
          </a:p>
        </p:txBody>
      </p:sp>
      <p:sp>
        <p:nvSpPr>
          <p:cNvPr id="5" name="TextBox 4"/>
          <p:cNvSpPr txBox="1"/>
          <p:nvPr/>
        </p:nvSpPr>
        <p:spPr>
          <a:xfrm>
            <a:off x="10972800" y="6400800"/>
            <a:ext cx="548640" cy="274320"/>
          </a:xfrm>
          <a:prstGeom prst="rect">
            <a:avLst/>
          </a:prstGeom>
          <a:noFill/>
        </p:spPr>
        <p:txBody>
          <a:bodyPr wrap="none" lIns="0" rIns="0" tIns="0" bIns="0">
            <a:spAutoFit/>
          </a:bodyPr>
          <a:lstStyle/>
          <a:p>
            <a:pPr algn="r"/>
            <a:fld id="{B6F15528-21DE-4FAA-801E-634DDDAF4B2B}" type="slidenum">
              <a:rPr lang="en-US" sz="1000">
                <a:solidFill>
                  <a:schemeClr val="tx2"/>
                </a:solidFill>
              </a:rPr>
              <a:t>‹#›</a:t>
            </a:fld>
          </a:p>
        </p:txBody>
      </p:sp>
      <p:sp>
        <p:nvSpPr>
          <p:cNvPr id="6" name="TextBox 5"/>
          <p:cNvSpPr txBox="1"/>
          <p:nvPr/>
        </p:nvSpPr>
        <p:spPr>
          <a:xfrm>
            <a:off x="685800" y="1783080"/>
            <a:ext cx="10058400" cy="640080"/>
          </a:xfrm>
          <a:prstGeom prst="rect">
            <a:avLst/>
          </a:prstGeom>
          <a:noFill/>
        </p:spPr>
        <p:txBody>
          <a:bodyPr wrap="square" lIns="0" rIns="0" tIns="0" bIns="0" anchor="t">
            <a:spAutoFit/>
          </a:bodyPr>
          <a:lstStyle/>
          <a:p>
            <a:r>
              <a:rPr sz="1700" b="0" i="0">
                <a:solidFill>
                  <a:schemeClr val="tx1"/>
                </a:solidFill>
              </a:rPr>
              <a:t>Friction, smoothing and a gentle pull toward a background state keep the model realistic and stable.</a:t>
            </a:r>
          </a:p>
        </p:txBody>
      </p:sp>
      <p:graphicFrame>
        <p:nvGraphicFramePr>
          <p:cNvPr id="7" name="Table 6"/>
          <p:cNvGraphicFramePr>
            <a:graphicFrameLocks noGrp="1"/>
          </p:cNvGraphicFramePr>
          <p:nvPr/>
        </p:nvGraphicFramePr>
        <p:xfrm>
          <a:off x="685800" y="2606040"/>
          <a:ext cx="10817352" cy="2267712"/>
        </p:xfrm>
        <a:graphic>
          <a:graphicData uri="http://schemas.openxmlformats.org/drawingml/2006/table">
            <a:tbl>
              <a:tblPr firstRow="1" bandRow="1">
                <a:tableStyleId>{5C22544A-7EE6-4342-B048-85BDC9FD1C3A}</a:tableStyleId>
              </a:tblPr>
              <a:tblGrid>
                <a:gridCol w="4937760"/>
                <a:gridCol w="3108960"/>
                <a:gridCol w="2770632"/>
              </a:tblGrid>
              <a:tr h="566928">
                <a:tc>
                  <a:txBody>
                    <a:bodyPr wrap="square"/>
                    <a:lstStyle/>
                    <a:p>
                      <a:r>
                        <a:rPr sz="1500" b="1" i="0">
                          <a:solidFill>
                            <a:schemeClr val="bg2"/>
                          </a:solidFill>
                        </a:rPr>
                        <a:t>What it does</a:t>
                      </a:r>
                    </a:p>
                  </a:txBody>
                  <a:tcPr marL="109728" marR="109728" marT="45720" marB="45720" anchor="ctr">
                    <a:solidFill>
                      <a:schemeClr val="tx1"/>
                    </a:solidFill>
                  </a:tcPr>
                </a:tc>
                <a:tc>
                  <a:txBody>
                    <a:bodyPr wrap="square"/>
                    <a:lstStyle/>
                    <a:p>
                      <a:r>
                        <a:rPr sz="1500" b="1" i="0">
                          <a:solidFill>
                            <a:schemeClr val="bg2"/>
                          </a:solidFill>
                        </a:rPr>
                        <a:t>Written as</a:t>
                      </a:r>
                    </a:p>
                  </a:txBody>
                  <a:tcPr marL="109728" marR="109728" marT="45720" marB="45720" anchor="ctr">
                    <a:solidFill>
                      <a:schemeClr val="tx1"/>
                    </a:solidFill>
                  </a:tcPr>
                </a:tc>
                <a:tc>
                  <a:txBody>
                    <a:bodyPr wrap="square"/>
                    <a:lstStyle/>
                    <a:p>
                      <a:r>
                        <a:rPr sz="1500" b="1" i="0">
                          <a:solidFill>
                            <a:schemeClr val="bg2"/>
                          </a:solidFill>
                        </a:rPr>
                        <a:t>How fast</a:t>
                      </a:r>
                    </a:p>
                  </a:txBody>
                  <a:tcPr marL="109728" marR="109728" marT="45720" marB="45720" anchor="ctr">
                    <a:solidFill>
                      <a:schemeClr val="tx1"/>
                    </a:solidFill>
                  </a:tcPr>
                </a:tc>
              </a:tr>
              <a:tr h="566928">
                <a:tc>
                  <a:txBody>
                    <a:bodyPr wrap="square"/>
                    <a:lstStyle/>
                    <a:p>
                      <a:r>
                        <a:rPr sz="1500" b="1" i="0">
                          <a:solidFill>
                            <a:schemeClr val="tx1"/>
                          </a:solidFill>
                        </a:rPr>
                        <a:t>Pulls temperature and surface pressure toward the background state</a:t>
                      </a:r>
                    </a:p>
                  </a:txBody>
                  <a:tcPr marL="109728" marR="109728" marT="45720" marB="45720" anchor="ctr">
                    <a:solidFill>
                      <a:schemeClr val="bg1"/>
                    </a:solidFill>
                  </a:tcPr>
                </a:tc>
                <a:tc>
                  <a:txBody>
                    <a:bodyPr wrap="square"/>
                    <a:lstStyle/>
                    <a:p>
                      <a:r>
                        <a:rPr sz="1500" b="0" i="0">
                          <a:solidFill>
                            <a:schemeClr val="accent1"/>
                          </a:solidFill>
                        </a:rPr>
                        <a:t>−(T − Tref)/τ</a:t>
                      </a:r>
                    </a:p>
                  </a:txBody>
                  <a:tcPr marL="109728" marR="109728" marT="45720" marB="45720" anchor="ctr">
                    <a:solidFill>
                      <a:schemeClr val="bg1"/>
                    </a:solidFill>
                  </a:tcPr>
                </a:tc>
                <a:tc>
                  <a:txBody>
                    <a:bodyPr wrap="square"/>
                    <a:lstStyle/>
                    <a:p>
                      <a:r>
                        <a:rPr sz="1500" b="0" i="0">
                          <a:solidFill>
                            <a:schemeClr val="tx1"/>
                          </a:solidFill>
                        </a:rPr>
                        <a:t>40 days</a:t>
                      </a:r>
                    </a:p>
                  </a:txBody>
                  <a:tcPr marL="109728" marR="109728" marT="45720" marB="45720" anchor="ctr">
                    <a:solidFill>
                      <a:schemeClr val="bg1"/>
                    </a:solidFill>
                  </a:tcPr>
                </a:tc>
              </a:tr>
              <a:tr h="566928">
                <a:tc>
                  <a:txBody>
                    <a:bodyPr wrap="square"/>
                    <a:lstStyle/>
                    <a:p>
                      <a:r>
                        <a:rPr sz="1500" b="1" i="0">
                          <a:solidFill>
                            <a:schemeClr val="tx1"/>
                          </a:solidFill>
                        </a:rPr>
                        <a:t>Friction: pulls vorticity and divergence toward the background state</a:t>
                      </a:r>
                    </a:p>
                  </a:txBody>
                  <a:tcPr marL="109728" marR="109728" marT="45720" marB="45720" anchor="ctr">
                    <a:solidFill>
                      <a:schemeClr val="accent6">
                        <a:lumMod val="45000"/>
                        <a:lumOff val="55000"/>
                      </a:schemeClr>
                    </a:solidFill>
                  </a:tcPr>
                </a:tc>
                <a:tc>
                  <a:txBody>
                    <a:bodyPr wrap="square"/>
                    <a:lstStyle/>
                    <a:p>
                      <a:r>
                        <a:rPr sz="1500" b="0" i="0">
                          <a:solidFill>
                            <a:schemeClr val="accent1"/>
                          </a:solidFill>
                        </a:rPr>
                        <a:t>−(ζ − ζref)/τ</a:t>
                      </a:r>
                    </a:p>
                  </a:txBody>
                  <a:tcPr marL="109728" marR="109728" marT="45720" marB="45720" anchor="ctr">
                    <a:solidFill>
                      <a:schemeClr val="accent6">
                        <a:lumMod val="45000"/>
                        <a:lumOff val="55000"/>
                      </a:schemeClr>
                    </a:solidFill>
                  </a:tcPr>
                </a:tc>
                <a:tc>
                  <a:txBody>
                    <a:bodyPr wrap="square"/>
                    <a:lstStyle/>
                    <a:p>
                      <a:r>
                        <a:rPr sz="1500" b="0" i="0">
                          <a:solidFill>
                            <a:schemeClr val="tx1"/>
                          </a:solidFill>
                        </a:rPr>
                        <a:t>150 days</a:t>
                      </a:r>
                    </a:p>
                  </a:txBody>
                  <a:tcPr marL="109728" marR="109728" marT="45720" marB="45720" anchor="ctr">
                    <a:solidFill>
                      <a:schemeClr val="accent6">
                        <a:lumMod val="45000"/>
                        <a:lumOff val="55000"/>
                      </a:schemeClr>
                    </a:solidFill>
                  </a:tcPr>
                </a:tc>
              </a:tr>
              <a:tr h="566928">
                <a:tc>
                  <a:txBody>
                    <a:bodyPr wrap="square"/>
                    <a:lstStyle/>
                    <a:p>
                      <a:r>
                        <a:rPr sz="1500" b="1" i="0">
                          <a:solidFill>
                            <a:schemeClr val="tx1"/>
                          </a:solidFill>
                        </a:rPr>
                        <a:t>Smooths the smallest scales</a:t>
                      </a:r>
                    </a:p>
                  </a:txBody>
                  <a:tcPr marL="109728" marR="109728" marT="45720" marB="45720" anchor="ctr">
                    <a:solidFill>
                      <a:schemeClr val="bg1"/>
                    </a:solidFill>
                  </a:tcPr>
                </a:tc>
                <a:tc>
                  <a:txBody>
                    <a:bodyPr wrap="square"/>
                    <a:lstStyle/>
                    <a:p>
                      <a:r>
                        <a:rPr sz="1500" b="0" i="0">
                          <a:solidFill>
                            <a:schemeClr val="accent1"/>
                          </a:solidFill>
                        </a:rPr>
                        <a:t>diffusion</a:t>
                      </a:r>
                    </a:p>
                  </a:txBody>
                  <a:tcPr marL="109728" marR="109728" marT="45720" marB="45720" anchor="ctr">
                    <a:solidFill>
                      <a:schemeClr val="bg1"/>
                    </a:solidFill>
                  </a:tcPr>
                </a:tc>
                <a:tc>
                  <a:txBody>
                    <a:bodyPr wrap="square"/>
                    <a:lstStyle/>
                    <a:p>
                      <a:r>
                        <a:rPr sz="1500" b="0" i="0">
                          <a:solidFill>
                            <a:schemeClr val="tx1"/>
                          </a:solidFill>
                        </a:rPr>
                        <a:t>21 to 28 hours</a:t>
                      </a:r>
                    </a:p>
                  </a:txBody>
                  <a:tcPr marL="109728" marR="109728" marT="45720" marB="45720" anchor="ctr">
                    <a:solidFill>
                      <a:schemeClr val="bg1"/>
                    </a:solidFill>
                  </a:tcPr>
                </a:tc>
              </a:tr>
            </a:tbl>
          </a:graphicData>
        </a:graphic>
      </p:graphicFrame>
      <p:sp>
        <p:nvSpPr>
          <p:cNvPr id="8" name="TextBox 7"/>
          <p:cNvSpPr txBox="1"/>
          <p:nvPr/>
        </p:nvSpPr>
        <p:spPr>
          <a:xfrm>
            <a:off x="685800" y="4800600"/>
            <a:ext cx="10058400" cy="457200"/>
          </a:xfrm>
          <a:prstGeom prst="rect">
            <a:avLst/>
          </a:prstGeom>
          <a:noFill/>
        </p:spPr>
        <p:txBody>
          <a:bodyPr wrap="square" lIns="0" rIns="0" tIns="0" bIns="0" anchor="t">
            <a:spAutoFit/>
          </a:bodyPr>
          <a:lstStyle/>
          <a:p>
            <a:r>
              <a:rPr sz="1400" b="0" i="0">
                <a:solidFill>
                  <a:schemeClr val="tx2"/>
                </a:solidFill>
              </a:rPr>
              <a:t>The pull is faster for the zonal mean (7 days) and for the lowest two layers (2 to 3 days).</a:t>
            </a:r>
          </a:p>
        </p:txBody>
      </p:sp>
      <p:sp>
        <p:nvSpPr>
          <p:cNvPr id="9" name="TextBox 8"/>
          <p:cNvSpPr txBox="1"/>
          <p:nvPr/>
        </p:nvSpPr>
        <p:spPr>
          <a:xfrm>
            <a:off x="685800" y="5440680"/>
            <a:ext cx="10058400" cy="548640"/>
          </a:xfrm>
          <a:prstGeom prst="rect">
            <a:avLst/>
          </a:prstGeom>
          <a:noFill/>
        </p:spPr>
        <p:txBody>
          <a:bodyPr wrap="square" lIns="0" rIns="0" tIns="0" bIns="0" anchor="t">
            <a:spAutoFit/>
          </a:bodyPr>
          <a:lstStyle/>
          <a:p>
            <a:r>
              <a:rPr sz="1800" b="1" i="0">
                <a:solidFill>
                  <a:schemeClr val="accent1"/>
                </a:solidFill>
              </a:rPr>
              <a:t>The background state is a choice, and our experiments change it.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777240"/>
            <a:ext cx="10817352" cy="868680"/>
          </a:xfrm>
        </p:spPr>
        <p:txBody>
          <a:bodyPr wrap="square" lIns="0" rIns="0" tIns="0" bIns="0" anchor="t"/>
          <a:lstStyle/>
          <a:p>
            <a:pPr algn="l"/>
            <a:r>
              <a:rPr sz="3600" b="1">
                <a:solidFill>
                  <a:schemeClr val="tx1"/>
                </a:solidFill>
                <a:latin typeface="+mj-lt"/>
              </a:rPr>
              <a:t>Telly: Vorticity and Divergence</a:t>
            </a:r>
          </a:p>
        </p:txBody>
      </p:sp>
      <p:sp>
        <p:nvSpPr>
          <p:cNvPr id="3" name="TextBox 2"/>
          <p:cNvSpPr txBox="1"/>
          <p:nvPr/>
        </p:nvSpPr>
        <p:spPr>
          <a:xfrm>
            <a:off x="685800" y="457200"/>
            <a:ext cx="10817352" cy="274320"/>
          </a:xfrm>
          <a:prstGeom prst="rect">
            <a:avLst/>
          </a:prstGeom>
          <a:noFill/>
        </p:spPr>
        <p:txBody>
          <a:bodyPr wrap="square" lIns="0" rIns="0" tIns="0" bIns="0" anchor="t">
            <a:spAutoFit/>
          </a:bodyPr>
          <a:lstStyle/>
          <a:p>
            <a:r>
              <a:rPr sz="1200" b="1" i="0" spc="300">
                <a:solidFill>
                  <a:schemeClr val="accent1"/>
                </a:solidFill>
              </a:rPr>
              <a:t>PART 3 · TELLY</a:t>
            </a:r>
          </a:p>
        </p:txBody>
      </p:sp>
      <p:sp>
        <p:nvSpPr>
          <p:cNvPr id="4" name="TextBox 3"/>
          <p:cNvSpPr txBox="1"/>
          <p:nvPr/>
        </p:nvSpPr>
        <p:spPr>
          <a:xfrm>
            <a:off x="685800" y="6400800"/>
            <a:ext cx="6400800" cy="274320"/>
          </a:xfrm>
          <a:prstGeom prst="rect">
            <a:avLst/>
          </a:prstGeom>
          <a:noFill/>
        </p:spPr>
        <p:txBody>
          <a:bodyPr wrap="square" lIns="0" rIns="0" tIns="0" bIns="0" anchor="t">
            <a:spAutoFit/>
          </a:bodyPr>
          <a:lstStyle/>
          <a:p>
            <a:r>
              <a:rPr sz="1000" b="0" i="0">
                <a:solidFill>
                  <a:schemeClr val="tx2"/>
                </a:solidFill>
              </a:rPr>
              <a:t>Telly · stationary Rossby waves</a:t>
            </a:r>
          </a:p>
        </p:txBody>
      </p:sp>
      <p:sp>
        <p:nvSpPr>
          <p:cNvPr id="5" name="TextBox 4"/>
          <p:cNvSpPr txBox="1"/>
          <p:nvPr/>
        </p:nvSpPr>
        <p:spPr>
          <a:xfrm>
            <a:off x="10972800" y="6400800"/>
            <a:ext cx="548640" cy="274320"/>
          </a:xfrm>
          <a:prstGeom prst="rect">
            <a:avLst/>
          </a:prstGeom>
          <a:noFill/>
        </p:spPr>
        <p:txBody>
          <a:bodyPr wrap="none" lIns="0" rIns="0" tIns="0" bIns="0">
            <a:spAutoFit/>
          </a:bodyPr>
          <a:lstStyle/>
          <a:p>
            <a:pPr algn="r"/>
            <a:fld id="{B6F15528-21DE-4FAA-801E-634DDDAF4B2B}" type="slidenum">
              <a:rPr lang="en-US" sz="1000">
                <a:solidFill>
                  <a:schemeClr val="tx2"/>
                </a:solidFill>
              </a:rPr>
              <a:t>‹#›</a:t>
            </a:fld>
          </a:p>
        </p:txBody>
      </p:sp>
      <p:sp>
        <p:nvSpPr>
          <p:cNvPr id="6" name="TextBox 5"/>
          <p:cNvSpPr txBox="1"/>
          <p:nvPr/>
        </p:nvSpPr>
        <p:spPr>
          <a:xfrm>
            <a:off x="685800" y="6053328"/>
            <a:ext cx="10058400" cy="274320"/>
          </a:xfrm>
          <a:prstGeom prst="rect">
            <a:avLst/>
          </a:prstGeom>
          <a:noFill/>
        </p:spPr>
        <p:txBody>
          <a:bodyPr wrap="square" lIns="0" rIns="0" tIns="0" bIns="0" anchor="t">
            <a:spAutoFit/>
          </a:bodyPr>
          <a:lstStyle/>
          <a:p>
            <a:r>
              <a:rPr sz="1100" b="0" i="0">
                <a:solidFill>
                  <a:schemeClr val="tx2"/>
                </a:solidFill>
              </a:rPr>
              <a:t>Some vertical terms are left out of this view</a:t>
            </a:r>
          </a:p>
        </p:txBody>
      </p:sp>
      <p:sp>
        <p:nvSpPr>
          <p:cNvPr id="7" name="Rounded Rectangle 6"/>
          <p:cNvSpPr/>
          <p:nvPr/>
        </p:nvSpPr>
        <p:spPr>
          <a:xfrm>
            <a:off x="685800" y="1783080"/>
            <a:ext cx="10817352" cy="1828800"/>
          </a:xfrm>
          <a:prstGeom prst="roundRect">
            <a:avLst>
              <a:gd name="adj" fmla="val 5000"/>
            </a:avLst>
          </a:prstGeom>
          <a:solidFill>
            <a:schemeClr val="bg1"/>
          </a:solidFill>
          <a:ln w="9525">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60120" y="1920240"/>
            <a:ext cx="10268712" cy="1554480"/>
          </a:xfrm>
          <a:prstGeom prst="rect">
            <a:avLst/>
          </a:prstGeom>
          <a:noFill/>
        </p:spPr>
        <p:txBody>
          <a:bodyPr wrap="square" lIns="0" rIns="0" tIns="0" bIns="0" anchor="t">
            <a:spAutoFit/>
          </a:bodyPr>
          <a:lstStyle/>
          <a:p>
            <a:pPr>
              <a:spcAft>
                <a:spcPts val="1000"/>
              </a:spcAft>
            </a:pPr>
            <a:r>
              <a:rPr sz="1900" b="0" i="1">
                <a:solidFill>
                  <a:schemeClr val="tx1"/>
                </a:solidFill>
                <a:latin typeface="+mj-lt"/>
              </a:rPr>
              <a:t>∂ζ/∂t = −∇·(ηV)</a:t>
            </a:r>
            <a:r>
              <a:rPr sz="1900" b="0" i="1">
                <a:solidFill>
                  <a:schemeClr val="accent1"/>
                </a:solidFill>
                <a:latin typeface="+mj-lt"/>
              </a:rPr>
              <a:t> − R k·(∇T × ∇ln ps) − (ζ − ζref)/τ + smoothing</a:t>
            </a:r>
          </a:p>
          <a:p>
            <a:pPr>
              <a:spcAft>
                <a:spcPts val="1000"/>
              </a:spcAft>
            </a:pPr>
            <a:r>
              <a:rPr sz="1900" b="0" i="1">
                <a:solidFill>
                  <a:schemeClr val="accent1"/>
                </a:solidFill>
                <a:latin typeface="+mj-lt"/>
              </a:rPr>
              <a:t>∂D/∂t = k·∇×(ηV) − ∇²(</a:t>
            </a:r>
            <a:r>
              <a:rPr sz="1900" b="0" i="1">
                <a:solidFill>
                  <a:schemeClr val="accent2"/>
                </a:solidFill>
                <a:latin typeface="+mj-lt"/>
              </a:rPr>
              <a:t>Φ</a:t>
            </a:r>
            <a:r>
              <a:rPr sz="1900" b="0" i="1">
                <a:solidFill>
                  <a:schemeClr val="accent1"/>
                </a:solidFill>
                <a:latin typeface="+mj-lt"/>
              </a:rPr>
              <a:t> + ½V·V) − R ∇·(T ∇ln ps) − (D − Dref)/τ + smoothing</a:t>
            </a:r>
          </a:p>
        </p:txBody>
      </p:sp>
      <p:sp>
        <p:nvSpPr>
          <p:cNvPr id="9" name="TextBox 8"/>
          <p:cNvSpPr txBox="1"/>
          <p:nvPr/>
        </p:nvSpPr>
        <p:spPr>
          <a:xfrm>
            <a:off x="685800" y="3794760"/>
            <a:ext cx="10817352" cy="365760"/>
          </a:xfrm>
          <a:prstGeom prst="rect">
            <a:avLst/>
          </a:prstGeom>
          <a:noFill/>
        </p:spPr>
        <p:txBody>
          <a:bodyPr wrap="square" lIns="0" rIns="0" tIns="0" bIns="0" anchor="t">
            <a:spAutoFit/>
          </a:bodyPr>
          <a:lstStyle/>
          <a:p>
            <a:r>
              <a:rPr sz="1400" b="0" i="0">
                <a:solidFill>
                  <a:schemeClr val="tx1"/>
                </a:solidFill>
              </a:rPr>
              <a:t>■</a:t>
            </a:r>
            <a:r>
              <a:rPr sz="1400" b="0" i="0">
                <a:solidFill>
                  <a:schemeClr val="tx1"/>
                </a:solidFill>
              </a:rPr>
              <a:t> from class        </a:t>
            </a:r>
            <a:r>
              <a:rPr sz="1400" b="0" i="0">
                <a:solidFill>
                  <a:schemeClr val="accent1"/>
                </a:solidFill>
              </a:rPr>
              <a:t>■</a:t>
            </a:r>
            <a:r>
              <a:rPr sz="1400" b="0" i="0">
                <a:solidFill>
                  <a:schemeClr val="tx1"/>
                </a:solidFill>
              </a:rPr>
              <a:t> added in Telly        </a:t>
            </a:r>
            <a:r>
              <a:rPr sz="1400" b="0" i="0">
                <a:solidFill>
                  <a:schemeClr val="accent2"/>
                </a:solidFill>
              </a:rPr>
              <a:t>■</a:t>
            </a:r>
            <a:r>
              <a:rPr sz="1400" b="0" i="0">
                <a:solidFill>
                  <a:schemeClr val="tx1"/>
                </a:solidFill>
              </a:rPr>
              <a:t> forcing</a:t>
            </a:r>
          </a:p>
        </p:txBody>
      </p:sp>
      <p:sp>
        <p:nvSpPr>
          <p:cNvPr id="10" name="TextBox 9"/>
          <p:cNvSpPr txBox="1"/>
          <p:nvPr/>
        </p:nvSpPr>
        <p:spPr>
          <a:xfrm>
            <a:off x="685800" y="4297680"/>
            <a:ext cx="10058400" cy="1645920"/>
          </a:xfrm>
          <a:prstGeom prst="rect">
            <a:avLst/>
          </a:prstGeom>
          <a:noFill/>
        </p:spPr>
        <p:txBody>
          <a:bodyPr wrap="square" lIns="0" rIns="0" tIns="0" bIns="0" anchor="t">
            <a:spAutoFit/>
          </a:bodyPr>
          <a:lstStyle/>
          <a:p>
            <a:pPr>
              <a:spcAft>
                <a:spcPts val="800"/>
              </a:spcAft>
            </a:pPr>
            <a:r>
              <a:rPr sz="1500" b="0" i="0">
                <a:solidFill>
                  <a:schemeClr val="tx1"/>
                </a:solidFill>
              </a:rPr>
              <a:t>The first term is steps 1 and 2 together. Divergence D now has its own equation: it is how Telly follows columns stretching and squeezing.</a:t>
            </a:r>
          </a:p>
          <a:p>
            <a:pPr>
              <a:spcAft>
                <a:spcPts val="800"/>
              </a:spcAft>
            </a:pPr>
            <a:r>
              <a:rPr sz="1500" b="0" i="0">
                <a:solidFill>
                  <a:schemeClr val="tx1"/>
                </a:solidFill>
              </a:rPr>
              <a:t>The height Φ includes the ground height Φs, so terrain pushes on D.</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777240"/>
            <a:ext cx="10817352" cy="868680"/>
          </a:xfrm>
        </p:spPr>
        <p:txBody>
          <a:bodyPr wrap="square" lIns="0" rIns="0" tIns="0" bIns="0" anchor="t"/>
          <a:lstStyle/>
          <a:p>
            <a:pPr algn="l"/>
            <a:r>
              <a:rPr sz="3600" b="1">
                <a:solidFill>
                  <a:schemeClr val="tx1"/>
                </a:solidFill>
                <a:latin typeface="+mj-lt"/>
              </a:rPr>
              <a:t>Telly: Temperature and Pressure</a:t>
            </a:r>
          </a:p>
        </p:txBody>
      </p:sp>
      <p:sp>
        <p:nvSpPr>
          <p:cNvPr id="3" name="TextBox 2"/>
          <p:cNvSpPr txBox="1"/>
          <p:nvPr/>
        </p:nvSpPr>
        <p:spPr>
          <a:xfrm>
            <a:off x="685800" y="457200"/>
            <a:ext cx="10817352" cy="274320"/>
          </a:xfrm>
          <a:prstGeom prst="rect">
            <a:avLst/>
          </a:prstGeom>
          <a:noFill/>
        </p:spPr>
        <p:txBody>
          <a:bodyPr wrap="square" lIns="0" rIns="0" tIns="0" bIns="0" anchor="t">
            <a:spAutoFit/>
          </a:bodyPr>
          <a:lstStyle/>
          <a:p>
            <a:r>
              <a:rPr sz="1200" b="1" i="0" spc="300">
                <a:solidFill>
                  <a:schemeClr val="accent1"/>
                </a:solidFill>
              </a:rPr>
              <a:t>PART 3 · TELLY</a:t>
            </a:r>
          </a:p>
        </p:txBody>
      </p:sp>
      <p:sp>
        <p:nvSpPr>
          <p:cNvPr id="4" name="TextBox 3"/>
          <p:cNvSpPr txBox="1"/>
          <p:nvPr/>
        </p:nvSpPr>
        <p:spPr>
          <a:xfrm>
            <a:off x="685800" y="6400800"/>
            <a:ext cx="6400800" cy="274320"/>
          </a:xfrm>
          <a:prstGeom prst="rect">
            <a:avLst/>
          </a:prstGeom>
          <a:noFill/>
        </p:spPr>
        <p:txBody>
          <a:bodyPr wrap="square" lIns="0" rIns="0" tIns="0" bIns="0" anchor="t">
            <a:spAutoFit/>
          </a:bodyPr>
          <a:lstStyle/>
          <a:p>
            <a:r>
              <a:rPr sz="1000" b="0" i="0">
                <a:solidFill>
                  <a:schemeClr val="tx2"/>
                </a:solidFill>
              </a:rPr>
              <a:t>Telly · stationary Rossby waves</a:t>
            </a:r>
          </a:p>
        </p:txBody>
      </p:sp>
      <p:sp>
        <p:nvSpPr>
          <p:cNvPr id="5" name="TextBox 4"/>
          <p:cNvSpPr txBox="1"/>
          <p:nvPr/>
        </p:nvSpPr>
        <p:spPr>
          <a:xfrm>
            <a:off x="10972800" y="6400800"/>
            <a:ext cx="548640" cy="274320"/>
          </a:xfrm>
          <a:prstGeom prst="rect">
            <a:avLst/>
          </a:prstGeom>
          <a:noFill/>
        </p:spPr>
        <p:txBody>
          <a:bodyPr wrap="none" lIns="0" rIns="0" tIns="0" bIns="0">
            <a:spAutoFit/>
          </a:bodyPr>
          <a:lstStyle/>
          <a:p>
            <a:pPr algn="r"/>
            <a:fld id="{B6F15528-21DE-4FAA-801E-634DDDAF4B2B}" type="slidenum">
              <a:rPr lang="en-US" sz="1000">
                <a:solidFill>
                  <a:schemeClr val="tx2"/>
                </a:solidFill>
              </a:rPr>
              <a:t>‹#›</a:t>
            </a:fld>
          </a:p>
        </p:txBody>
      </p:sp>
      <p:sp>
        <p:nvSpPr>
          <p:cNvPr id="6" name="TextBox 5"/>
          <p:cNvSpPr txBox="1"/>
          <p:nvPr/>
        </p:nvSpPr>
        <p:spPr>
          <a:xfrm>
            <a:off x="685800" y="6053328"/>
            <a:ext cx="10058400" cy="274320"/>
          </a:xfrm>
          <a:prstGeom prst="rect">
            <a:avLst/>
          </a:prstGeom>
          <a:noFill/>
        </p:spPr>
        <p:txBody>
          <a:bodyPr wrap="square" lIns="0" rIns="0" tIns="0" bIns="0" anchor="t">
            <a:spAutoFit/>
          </a:bodyPr>
          <a:lstStyle/>
          <a:p>
            <a:r>
              <a:rPr sz="1100" b="0" i="0">
                <a:solidFill>
                  <a:schemeClr val="tx2"/>
                </a:solidFill>
              </a:rPr>
              <a:t>Telly writes the advection terms in an equivalent form</a:t>
            </a:r>
          </a:p>
        </p:txBody>
      </p:sp>
      <p:sp>
        <p:nvSpPr>
          <p:cNvPr id="7" name="Rounded Rectangle 6"/>
          <p:cNvSpPr/>
          <p:nvPr/>
        </p:nvSpPr>
        <p:spPr>
          <a:xfrm>
            <a:off x="685800" y="1783080"/>
            <a:ext cx="10817352" cy="2194560"/>
          </a:xfrm>
          <a:prstGeom prst="roundRect">
            <a:avLst>
              <a:gd name="adj" fmla="val 5000"/>
            </a:avLst>
          </a:prstGeom>
          <a:solidFill>
            <a:schemeClr val="bg1"/>
          </a:solidFill>
          <a:ln w="9525">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60120" y="1920240"/>
            <a:ext cx="10268712" cy="1920240"/>
          </a:xfrm>
          <a:prstGeom prst="rect">
            <a:avLst/>
          </a:prstGeom>
          <a:noFill/>
        </p:spPr>
        <p:txBody>
          <a:bodyPr wrap="square" lIns="0" rIns="0" tIns="0" bIns="0" anchor="t">
            <a:spAutoFit/>
          </a:bodyPr>
          <a:lstStyle/>
          <a:p>
            <a:pPr>
              <a:spcAft>
                <a:spcPts val="1000"/>
              </a:spcAft>
            </a:pPr>
            <a:r>
              <a:rPr sz="1900" b="0" i="1">
                <a:solidFill>
                  <a:schemeClr val="tx1"/>
                </a:solidFill>
                <a:latin typeface="+mj-lt"/>
              </a:rPr>
              <a:t>∂T/∂t = −V·∇T − ω ∂T/∂p</a:t>
            </a:r>
            <a:r>
              <a:rPr sz="1900" b="0" i="1">
                <a:solidFill>
                  <a:schemeClr val="accent1"/>
                </a:solidFill>
                <a:latin typeface="+mj-lt"/>
              </a:rPr>
              <a:t> + κTω/p</a:t>
            </a:r>
            <a:r>
              <a:rPr sz="1900" b="0" i="1">
                <a:solidFill>
                  <a:schemeClr val="accent2"/>
                </a:solidFill>
                <a:latin typeface="+mj-lt"/>
              </a:rPr>
              <a:t> + Q/cp</a:t>
            </a:r>
            <a:r>
              <a:rPr sz="1900" b="0" i="1">
                <a:solidFill>
                  <a:schemeClr val="accent1"/>
                </a:solidFill>
                <a:latin typeface="+mj-lt"/>
              </a:rPr>
              <a:t> − (T − Tref)/τ + smoothing</a:t>
            </a:r>
          </a:p>
          <a:p>
            <a:pPr>
              <a:spcAft>
                <a:spcPts val="1000"/>
              </a:spcAft>
            </a:pPr>
            <a:r>
              <a:rPr sz="1900" b="0" i="1">
                <a:solidFill>
                  <a:schemeClr val="accent1"/>
                </a:solidFill>
                <a:latin typeface="+mj-lt"/>
              </a:rPr>
              <a:t>∂(ln ps)/∂t = −V·∇(ln ps) − (sum of D over all layers) − (ln ps − ln psref)/τ</a:t>
            </a:r>
          </a:p>
          <a:p>
            <a:pPr>
              <a:spcAft>
                <a:spcPts val="1000"/>
              </a:spcAft>
            </a:pPr>
            <a:r>
              <a:rPr sz="1900" b="0" i="1">
                <a:solidFill>
                  <a:schemeClr val="tx1"/>
                </a:solidFill>
                <a:latin typeface="+mj-lt"/>
              </a:rPr>
              <a:t>Φ = </a:t>
            </a:r>
            <a:r>
              <a:rPr sz="1900" b="0" i="1">
                <a:solidFill>
                  <a:schemeClr val="accent2"/>
                </a:solidFill>
                <a:latin typeface="+mj-lt"/>
              </a:rPr>
              <a:t>Φs</a:t>
            </a:r>
            <a:r>
              <a:rPr sz="1900" b="0" i="1">
                <a:solidFill>
                  <a:schemeClr val="tx1"/>
                </a:solidFill>
                <a:latin typeface="+mj-lt"/>
              </a:rPr>
              <a:t> + R ∫ T d(ln p)</a:t>
            </a:r>
          </a:p>
        </p:txBody>
      </p:sp>
      <p:sp>
        <p:nvSpPr>
          <p:cNvPr id="9" name="TextBox 8"/>
          <p:cNvSpPr txBox="1"/>
          <p:nvPr/>
        </p:nvSpPr>
        <p:spPr>
          <a:xfrm>
            <a:off x="685800" y="4160520"/>
            <a:ext cx="10817352" cy="365760"/>
          </a:xfrm>
          <a:prstGeom prst="rect">
            <a:avLst/>
          </a:prstGeom>
          <a:noFill/>
        </p:spPr>
        <p:txBody>
          <a:bodyPr wrap="square" lIns="0" rIns="0" tIns="0" bIns="0" anchor="t">
            <a:spAutoFit/>
          </a:bodyPr>
          <a:lstStyle/>
          <a:p>
            <a:r>
              <a:rPr sz="1400" b="0" i="0">
                <a:solidFill>
                  <a:schemeClr val="tx1"/>
                </a:solidFill>
              </a:rPr>
              <a:t>■</a:t>
            </a:r>
            <a:r>
              <a:rPr sz="1400" b="0" i="0">
                <a:solidFill>
                  <a:schemeClr val="tx1"/>
                </a:solidFill>
              </a:rPr>
              <a:t> from class        </a:t>
            </a:r>
            <a:r>
              <a:rPr sz="1400" b="0" i="0">
                <a:solidFill>
                  <a:schemeClr val="accent1"/>
                </a:solidFill>
              </a:rPr>
              <a:t>■</a:t>
            </a:r>
            <a:r>
              <a:rPr sz="1400" b="0" i="0">
                <a:solidFill>
                  <a:schemeClr val="tx1"/>
                </a:solidFill>
              </a:rPr>
              <a:t> added in Telly        </a:t>
            </a:r>
            <a:r>
              <a:rPr sz="1400" b="0" i="0">
                <a:solidFill>
                  <a:schemeClr val="accent2"/>
                </a:solidFill>
              </a:rPr>
              <a:t>■</a:t>
            </a:r>
            <a:r>
              <a:rPr sz="1400" b="0" i="0">
                <a:solidFill>
                  <a:schemeClr val="tx1"/>
                </a:solidFill>
              </a:rPr>
              <a:t> forcing</a:t>
            </a:r>
          </a:p>
        </p:txBody>
      </p:sp>
      <p:sp>
        <p:nvSpPr>
          <p:cNvPr id="10" name="TextBox 9"/>
          <p:cNvSpPr txBox="1"/>
          <p:nvPr/>
        </p:nvSpPr>
        <p:spPr>
          <a:xfrm>
            <a:off x="685800" y="4663440"/>
            <a:ext cx="10058400" cy="1280160"/>
          </a:xfrm>
          <a:prstGeom prst="rect">
            <a:avLst/>
          </a:prstGeom>
          <a:noFill/>
        </p:spPr>
        <p:txBody>
          <a:bodyPr wrap="square" lIns="0" rIns="0" tIns="0" bIns="0" anchor="t">
            <a:spAutoFit/>
          </a:bodyPr>
          <a:lstStyle/>
          <a:p>
            <a:pPr>
              <a:spcAft>
                <a:spcPts val="800"/>
              </a:spcAft>
            </a:pPr>
            <a:r>
              <a:rPr sz="1500" b="0" i="0">
                <a:solidFill>
                  <a:schemeClr val="tx1"/>
                </a:solidFill>
              </a:rPr>
              <a:t>The temperature equation is the class equation plus compression, a pull toward the background state and smoothing.</a:t>
            </a:r>
          </a:p>
          <a:p>
            <a:pPr>
              <a:spcAft>
                <a:spcPts val="800"/>
              </a:spcAft>
            </a:pPr>
            <a:r>
              <a:rPr sz="1500" b="0" i="0">
                <a:solidFill>
                  <a:schemeClr val="tx1"/>
                </a:solidFill>
              </a:rPr>
              <a:t>Surface pressure is new: it changes where columns converge or diverge.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777240"/>
            <a:ext cx="10817352" cy="868680"/>
          </a:xfrm>
        </p:spPr>
        <p:txBody>
          <a:bodyPr wrap="square" lIns="0" rIns="0" tIns="0" bIns="0" anchor="t"/>
          <a:lstStyle/>
          <a:p>
            <a:pPr algn="l"/>
            <a:r>
              <a:rPr sz="3600" b="1">
                <a:solidFill>
                  <a:schemeClr val="tx1"/>
                </a:solidFill>
                <a:latin typeface="+mj-lt"/>
              </a:rPr>
              <a:t>Where the Forcings Enter</a:t>
            </a:r>
          </a:p>
        </p:txBody>
      </p:sp>
      <p:sp>
        <p:nvSpPr>
          <p:cNvPr id="3" name="TextBox 2"/>
          <p:cNvSpPr txBox="1"/>
          <p:nvPr/>
        </p:nvSpPr>
        <p:spPr>
          <a:xfrm>
            <a:off x="685800" y="457200"/>
            <a:ext cx="10817352" cy="274320"/>
          </a:xfrm>
          <a:prstGeom prst="rect">
            <a:avLst/>
          </a:prstGeom>
          <a:noFill/>
        </p:spPr>
        <p:txBody>
          <a:bodyPr wrap="square" lIns="0" rIns="0" tIns="0" bIns="0" anchor="t">
            <a:spAutoFit/>
          </a:bodyPr>
          <a:lstStyle/>
          <a:p>
            <a:r>
              <a:rPr sz="1200" b="1" i="0" spc="300">
                <a:solidFill>
                  <a:schemeClr val="accent1"/>
                </a:solidFill>
              </a:rPr>
              <a:t>PART 3 · TELLY</a:t>
            </a:r>
          </a:p>
        </p:txBody>
      </p:sp>
      <p:sp>
        <p:nvSpPr>
          <p:cNvPr id="4" name="TextBox 3"/>
          <p:cNvSpPr txBox="1"/>
          <p:nvPr/>
        </p:nvSpPr>
        <p:spPr>
          <a:xfrm>
            <a:off x="685800" y="6400800"/>
            <a:ext cx="6400800" cy="274320"/>
          </a:xfrm>
          <a:prstGeom prst="rect">
            <a:avLst/>
          </a:prstGeom>
          <a:noFill/>
        </p:spPr>
        <p:txBody>
          <a:bodyPr wrap="square" lIns="0" rIns="0" tIns="0" bIns="0" anchor="t">
            <a:spAutoFit/>
          </a:bodyPr>
          <a:lstStyle/>
          <a:p>
            <a:r>
              <a:rPr sz="1000" b="0" i="0">
                <a:solidFill>
                  <a:schemeClr val="tx2"/>
                </a:solidFill>
              </a:rPr>
              <a:t>Telly · stationary Rossby waves</a:t>
            </a:r>
          </a:p>
        </p:txBody>
      </p:sp>
      <p:sp>
        <p:nvSpPr>
          <p:cNvPr id="5" name="TextBox 4"/>
          <p:cNvSpPr txBox="1"/>
          <p:nvPr/>
        </p:nvSpPr>
        <p:spPr>
          <a:xfrm>
            <a:off x="10972800" y="6400800"/>
            <a:ext cx="548640" cy="274320"/>
          </a:xfrm>
          <a:prstGeom prst="rect">
            <a:avLst/>
          </a:prstGeom>
          <a:noFill/>
        </p:spPr>
        <p:txBody>
          <a:bodyPr wrap="none" lIns="0" rIns="0" tIns="0" bIns="0">
            <a:spAutoFit/>
          </a:bodyPr>
          <a:lstStyle/>
          <a:p>
            <a:pPr algn="r"/>
            <a:fld id="{B6F15528-21DE-4FAA-801E-634DDDAF4B2B}" type="slidenum">
              <a:rPr lang="en-US" sz="1000">
                <a:solidFill>
                  <a:schemeClr val="tx2"/>
                </a:solidFill>
              </a:rPr>
              <a:t>‹#›</a:t>
            </a:fld>
          </a:p>
        </p:txBody>
      </p:sp>
      <p:sp>
        <p:nvSpPr>
          <p:cNvPr id="6" name="Rounded Rectangle 5"/>
          <p:cNvSpPr/>
          <p:nvPr/>
        </p:nvSpPr>
        <p:spPr>
          <a:xfrm>
            <a:off x="685800" y="1783080"/>
            <a:ext cx="3483864" cy="3611880"/>
          </a:xfrm>
          <a:prstGeom prst="roundRect">
            <a:avLst>
              <a:gd name="adj" fmla="val 5000"/>
            </a:avLst>
          </a:prstGeom>
          <a:solidFill>
            <a:schemeClr val="bg1"/>
          </a:solidFill>
          <a:ln w="9525">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60120" y="1965960"/>
            <a:ext cx="2935224" cy="457200"/>
          </a:xfrm>
          <a:prstGeom prst="rect">
            <a:avLst/>
          </a:prstGeom>
          <a:noFill/>
        </p:spPr>
        <p:txBody>
          <a:bodyPr wrap="square" lIns="0" rIns="0" tIns="0" bIns="0" anchor="t">
            <a:spAutoFit/>
          </a:bodyPr>
          <a:lstStyle/>
          <a:p>
            <a:r>
              <a:rPr sz="2000" b="1" i="0">
                <a:solidFill>
                  <a:schemeClr val="tx1"/>
                </a:solidFill>
              </a:rPr>
              <a:t>Mountains</a:t>
            </a:r>
          </a:p>
        </p:txBody>
      </p:sp>
      <p:sp>
        <p:nvSpPr>
          <p:cNvPr id="8" name="TextBox 7"/>
          <p:cNvSpPr txBox="1"/>
          <p:nvPr/>
        </p:nvSpPr>
        <p:spPr>
          <a:xfrm>
            <a:off x="960120" y="2834640"/>
            <a:ext cx="2935224" cy="914400"/>
          </a:xfrm>
          <a:prstGeom prst="rect">
            <a:avLst/>
          </a:prstGeom>
          <a:noFill/>
        </p:spPr>
        <p:txBody>
          <a:bodyPr wrap="square" lIns="0" rIns="0" tIns="0" bIns="0" anchor="t">
            <a:spAutoFit/>
          </a:bodyPr>
          <a:lstStyle/>
          <a:p>
            <a:pPr>
              <a:spcAft>
                <a:spcPts val="400"/>
              </a:spcAft>
            </a:pPr>
            <a:r>
              <a:rPr sz="5400" b="0" i="1">
                <a:solidFill>
                  <a:schemeClr val="accent2"/>
                </a:solidFill>
                <a:latin typeface="+mj-lt"/>
              </a:rPr>
              <a:t>Φs</a:t>
            </a:r>
          </a:p>
        </p:txBody>
      </p:sp>
      <p:sp>
        <p:nvSpPr>
          <p:cNvPr id="9" name="TextBox 8"/>
          <p:cNvSpPr txBox="1"/>
          <p:nvPr/>
        </p:nvSpPr>
        <p:spPr>
          <a:xfrm>
            <a:off x="960120" y="4023360"/>
            <a:ext cx="2935224" cy="1280160"/>
          </a:xfrm>
          <a:prstGeom prst="rect">
            <a:avLst/>
          </a:prstGeom>
          <a:noFill/>
        </p:spPr>
        <p:txBody>
          <a:bodyPr wrap="square" lIns="0" rIns="0" tIns="0" bIns="0" anchor="t">
            <a:spAutoFit/>
          </a:bodyPr>
          <a:lstStyle/>
          <a:p>
            <a:r>
              <a:rPr sz="1400" b="0" i="0">
                <a:solidFill>
                  <a:schemeClr val="tx2"/>
                </a:solidFill>
              </a:rPr>
              <a:t>Ground height is the bottom of the height sum, so it pushes on the divergence</a:t>
            </a:r>
          </a:p>
        </p:txBody>
      </p:sp>
      <p:sp>
        <p:nvSpPr>
          <p:cNvPr id="10" name="Rounded Rectangle 9"/>
          <p:cNvSpPr/>
          <p:nvPr/>
        </p:nvSpPr>
        <p:spPr>
          <a:xfrm>
            <a:off x="4352544" y="1783080"/>
            <a:ext cx="3483864" cy="3611880"/>
          </a:xfrm>
          <a:prstGeom prst="roundRect">
            <a:avLst>
              <a:gd name="adj" fmla="val 5000"/>
            </a:avLst>
          </a:prstGeom>
          <a:solidFill>
            <a:schemeClr val="bg1"/>
          </a:solidFill>
          <a:ln w="9525">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4626864" y="1965960"/>
            <a:ext cx="2935224" cy="457200"/>
          </a:xfrm>
          <a:prstGeom prst="rect">
            <a:avLst/>
          </a:prstGeom>
          <a:noFill/>
        </p:spPr>
        <p:txBody>
          <a:bodyPr wrap="square" lIns="0" rIns="0" tIns="0" bIns="0" anchor="t">
            <a:spAutoFit/>
          </a:bodyPr>
          <a:lstStyle/>
          <a:p>
            <a:r>
              <a:rPr sz="2000" b="1" i="0">
                <a:solidFill>
                  <a:schemeClr val="tx1"/>
                </a:solidFill>
              </a:rPr>
              <a:t>Land–sea contrast</a:t>
            </a:r>
          </a:p>
        </p:txBody>
      </p:sp>
      <p:sp>
        <p:nvSpPr>
          <p:cNvPr id="12" name="TextBox 11"/>
          <p:cNvSpPr txBox="1"/>
          <p:nvPr/>
        </p:nvSpPr>
        <p:spPr>
          <a:xfrm>
            <a:off x="4626864" y="2834640"/>
            <a:ext cx="2935224" cy="914400"/>
          </a:xfrm>
          <a:prstGeom prst="rect">
            <a:avLst/>
          </a:prstGeom>
          <a:noFill/>
        </p:spPr>
        <p:txBody>
          <a:bodyPr wrap="square" lIns="0" rIns="0" tIns="0" bIns="0" anchor="t">
            <a:spAutoFit/>
          </a:bodyPr>
          <a:lstStyle/>
          <a:p>
            <a:pPr>
              <a:spcAft>
                <a:spcPts val="400"/>
              </a:spcAft>
            </a:pPr>
            <a:r>
              <a:rPr sz="2800" b="0" i="1">
                <a:solidFill>
                  <a:schemeClr val="accent1"/>
                </a:solidFill>
                <a:latin typeface="+mj-lt"/>
              </a:rPr>
              <a:t>−(T − Tref)/τ</a:t>
            </a:r>
          </a:p>
        </p:txBody>
      </p:sp>
      <p:sp>
        <p:nvSpPr>
          <p:cNvPr id="13" name="TextBox 12"/>
          <p:cNvSpPr txBox="1"/>
          <p:nvPr/>
        </p:nvSpPr>
        <p:spPr>
          <a:xfrm>
            <a:off x="4626864" y="4023360"/>
            <a:ext cx="2935224" cy="1280160"/>
          </a:xfrm>
          <a:prstGeom prst="rect">
            <a:avLst/>
          </a:prstGeom>
          <a:noFill/>
        </p:spPr>
        <p:txBody>
          <a:bodyPr wrap="square" lIns="0" rIns="0" tIns="0" bIns="0" anchor="t">
            <a:spAutoFit/>
          </a:bodyPr>
          <a:lstStyle/>
          <a:p>
            <a:r>
              <a:rPr sz="1400" b="0" i="0">
                <a:solidFill>
                  <a:schemeClr val="tx2"/>
                </a:solidFill>
              </a:rPr>
              <a:t>Land and ocean are pulled toward different background temperatures, like heating and cooling</a:t>
            </a:r>
          </a:p>
        </p:txBody>
      </p:sp>
      <p:sp>
        <p:nvSpPr>
          <p:cNvPr id="14" name="Rounded Rectangle 13"/>
          <p:cNvSpPr/>
          <p:nvPr/>
        </p:nvSpPr>
        <p:spPr>
          <a:xfrm>
            <a:off x="8019288" y="1783080"/>
            <a:ext cx="3483864" cy="3611880"/>
          </a:xfrm>
          <a:prstGeom prst="roundRect">
            <a:avLst>
              <a:gd name="adj" fmla="val 5000"/>
            </a:avLst>
          </a:prstGeom>
          <a:solidFill>
            <a:schemeClr val="bg1"/>
          </a:solidFill>
          <a:ln w="9525">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293608" y="1965960"/>
            <a:ext cx="2935224" cy="457200"/>
          </a:xfrm>
          <a:prstGeom prst="rect">
            <a:avLst/>
          </a:prstGeom>
          <a:noFill/>
        </p:spPr>
        <p:txBody>
          <a:bodyPr wrap="square" lIns="0" rIns="0" tIns="0" bIns="0" anchor="t">
            <a:spAutoFit/>
          </a:bodyPr>
          <a:lstStyle/>
          <a:p>
            <a:r>
              <a:rPr sz="2000" b="1" i="0">
                <a:solidFill>
                  <a:schemeClr val="tx1"/>
                </a:solidFill>
              </a:rPr>
              <a:t>Diabatic heating</a:t>
            </a:r>
          </a:p>
        </p:txBody>
      </p:sp>
      <p:sp>
        <p:nvSpPr>
          <p:cNvPr id="16" name="TextBox 15"/>
          <p:cNvSpPr txBox="1"/>
          <p:nvPr/>
        </p:nvSpPr>
        <p:spPr>
          <a:xfrm>
            <a:off x="8293608" y="2834640"/>
            <a:ext cx="2935224" cy="914400"/>
          </a:xfrm>
          <a:prstGeom prst="rect">
            <a:avLst/>
          </a:prstGeom>
          <a:noFill/>
        </p:spPr>
        <p:txBody>
          <a:bodyPr wrap="square" lIns="0" rIns="0" tIns="0" bIns="0" anchor="t">
            <a:spAutoFit/>
          </a:bodyPr>
          <a:lstStyle/>
          <a:p>
            <a:pPr>
              <a:spcAft>
                <a:spcPts val="400"/>
              </a:spcAft>
            </a:pPr>
            <a:r>
              <a:rPr sz="5400" b="0" i="1">
                <a:solidFill>
                  <a:schemeClr val="accent2"/>
                </a:solidFill>
                <a:latin typeface="+mj-lt"/>
              </a:rPr>
              <a:t>Q/cp</a:t>
            </a:r>
          </a:p>
        </p:txBody>
      </p:sp>
      <p:sp>
        <p:nvSpPr>
          <p:cNvPr id="17" name="TextBox 16"/>
          <p:cNvSpPr txBox="1"/>
          <p:nvPr/>
        </p:nvSpPr>
        <p:spPr>
          <a:xfrm>
            <a:off x="8293608" y="4023360"/>
            <a:ext cx="2935224" cy="1280160"/>
          </a:xfrm>
          <a:prstGeom prst="rect">
            <a:avLst/>
          </a:prstGeom>
          <a:noFill/>
        </p:spPr>
        <p:txBody>
          <a:bodyPr wrap="square" lIns="0" rIns="0" tIns="0" bIns="0" anchor="t">
            <a:spAutoFit/>
          </a:bodyPr>
          <a:lstStyle/>
          <a:p>
            <a:r>
              <a:rPr sz="1400" b="0" i="0">
                <a:solidFill>
                  <a:schemeClr val="tx2"/>
                </a:solidFill>
              </a:rPr>
              <a:t>Rainfall heating in the temperature equation</a:t>
            </a:r>
          </a:p>
        </p:txBody>
      </p:sp>
      <p:sp>
        <p:nvSpPr>
          <p:cNvPr id="18" name="TextBox 17"/>
          <p:cNvSpPr txBox="1"/>
          <p:nvPr/>
        </p:nvSpPr>
        <p:spPr>
          <a:xfrm>
            <a:off x="685800" y="5577840"/>
            <a:ext cx="10058400" cy="457200"/>
          </a:xfrm>
          <a:prstGeom prst="rect">
            <a:avLst/>
          </a:prstGeom>
          <a:noFill/>
        </p:spPr>
        <p:txBody>
          <a:bodyPr wrap="square" lIns="0" rIns="0" tIns="0" bIns="0" anchor="t">
            <a:spAutoFit/>
          </a:bodyPr>
          <a:lstStyle/>
          <a:p>
            <a:r>
              <a:rPr sz="1600" b="1" i="0">
                <a:solidFill>
                  <a:schemeClr val="tx1"/>
                </a:solidFill>
              </a:rPr>
              <a:t>Each one is a kind of source S from the class equation.</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777240"/>
            <a:ext cx="10817352" cy="868680"/>
          </a:xfrm>
        </p:spPr>
        <p:txBody>
          <a:bodyPr wrap="square" lIns="0" rIns="0" tIns="0" bIns="0" anchor="t"/>
          <a:lstStyle/>
          <a:p>
            <a:pPr algn="l"/>
            <a:r>
              <a:rPr sz="3600" b="1">
                <a:solidFill>
                  <a:schemeClr val="tx1"/>
                </a:solidFill>
                <a:latin typeface="+mj-lt"/>
              </a:rPr>
              <a:t>Heating from Observed Rainfall Patterns</a:t>
            </a:r>
          </a:p>
        </p:txBody>
      </p:sp>
      <p:sp>
        <p:nvSpPr>
          <p:cNvPr id="3" name="TextBox 2"/>
          <p:cNvSpPr txBox="1"/>
          <p:nvPr/>
        </p:nvSpPr>
        <p:spPr>
          <a:xfrm>
            <a:off x="685800" y="457200"/>
            <a:ext cx="10817352" cy="274320"/>
          </a:xfrm>
          <a:prstGeom prst="rect">
            <a:avLst/>
          </a:prstGeom>
          <a:noFill/>
        </p:spPr>
        <p:txBody>
          <a:bodyPr wrap="square" lIns="0" rIns="0" tIns="0" bIns="0" anchor="t">
            <a:spAutoFit/>
          </a:bodyPr>
          <a:lstStyle/>
          <a:p>
            <a:r>
              <a:rPr sz="1200" b="1" i="0" spc="300">
                <a:solidFill>
                  <a:schemeClr val="accent1"/>
                </a:solidFill>
              </a:rPr>
              <a:t>PART 3 · TELLY</a:t>
            </a:r>
          </a:p>
        </p:txBody>
      </p:sp>
      <p:sp>
        <p:nvSpPr>
          <p:cNvPr id="4" name="TextBox 3"/>
          <p:cNvSpPr txBox="1"/>
          <p:nvPr/>
        </p:nvSpPr>
        <p:spPr>
          <a:xfrm>
            <a:off x="685800" y="6400800"/>
            <a:ext cx="6400800" cy="274320"/>
          </a:xfrm>
          <a:prstGeom prst="rect">
            <a:avLst/>
          </a:prstGeom>
          <a:noFill/>
        </p:spPr>
        <p:txBody>
          <a:bodyPr wrap="square" lIns="0" rIns="0" tIns="0" bIns="0" anchor="t">
            <a:spAutoFit/>
          </a:bodyPr>
          <a:lstStyle/>
          <a:p>
            <a:r>
              <a:rPr sz="1000" b="0" i="0">
                <a:solidFill>
                  <a:schemeClr val="tx2"/>
                </a:solidFill>
              </a:rPr>
              <a:t>Telly · stationary Rossby waves</a:t>
            </a:r>
          </a:p>
        </p:txBody>
      </p:sp>
      <p:sp>
        <p:nvSpPr>
          <p:cNvPr id="5" name="TextBox 4"/>
          <p:cNvSpPr txBox="1"/>
          <p:nvPr/>
        </p:nvSpPr>
        <p:spPr>
          <a:xfrm>
            <a:off x="10972800" y="6400800"/>
            <a:ext cx="548640" cy="274320"/>
          </a:xfrm>
          <a:prstGeom prst="rect">
            <a:avLst/>
          </a:prstGeom>
          <a:noFill/>
        </p:spPr>
        <p:txBody>
          <a:bodyPr wrap="none" lIns="0" rIns="0" tIns="0" bIns="0">
            <a:spAutoFit/>
          </a:bodyPr>
          <a:lstStyle/>
          <a:p>
            <a:pPr algn="r"/>
            <a:fld id="{B6F15528-21DE-4FAA-801E-634DDDAF4B2B}" type="slidenum">
              <a:rPr lang="en-US" sz="1000">
                <a:solidFill>
                  <a:schemeClr val="tx2"/>
                </a:solidFill>
              </a:rPr>
              <a:t>‹#›</a:t>
            </a:fld>
          </a:p>
        </p:txBody>
      </p:sp>
      <p:sp>
        <p:nvSpPr>
          <p:cNvPr id="6" name="Rounded Rectangle 5"/>
          <p:cNvSpPr/>
          <p:nvPr/>
        </p:nvSpPr>
        <p:spPr>
          <a:xfrm>
            <a:off x="685800" y="1783080"/>
            <a:ext cx="6126480" cy="1325880"/>
          </a:xfrm>
          <a:prstGeom prst="roundRect">
            <a:avLst>
              <a:gd name="adj" fmla="val 5000"/>
            </a:avLst>
          </a:prstGeom>
          <a:solidFill>
            <a:schemeClr val="bg1"/>
          </a:solidFill>
          <a:ln w="9525">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60120" y="1874519"/>
            <a:ext cx="5577840" cy="1188720"/>
          </a:xfrm>
          <a:prstGeom prst="rect">
            <a:avLst/>
          </a:prstGeom>
          <a:noFill/>
        </p:spPr>
        <p:txBody>
          <a:bodyPr wrap="square" lIns="0" rIns="0" tIns="0" bIns="0" anchor="t">
            <a:spAutoFit/>
          </a:bodyPr>
          <a:lstStyle/>
          <a:p>
            <a:pPr>
              <a:spcAft>
                <a:spcPts val="400"/>
              </a:spcAft>
            </a:pPr>
            <a:r>
              <a:rPr sz="2200" b="0" i="1">
                <a:solidFill>
                  <a:schemeClr val="tx1"/>
                </a:solidFill>
                <a:latin typeface="+mj-lt"/>
              </a:rPr>
              <a:t>P ~ Gamma(k, θ)</a:t>
            </a:r>
          </a:p>
          <a:p>
            <a:pPr>
              <a:spcAft>
                <a:spcPts val="400"/>
              </a:spcAft>
            </a:pPr>
            <a:r>
              <a:rPr sz="2200" b="0" i="1">
                <a:solidFill>
                  <a:schemeClr val="accent2"/>
                </a:solidFill>
                <a:latin typeface="+mj-lt"/>
              </a:rPr>
              <a:t>Q/cp</a:t>
            </a:r>
            <a:r>
              <a:rPr sz="2200" b="0" i="1">
                <a:solidFill>
                  <a:schemeClr val="tx1"/>
                </a:solidFill>
                <a:latin typeface="+mj-lt"/>
              </a:rPr>
              <a:t> = β · exp(−φ²/1000) · P · s</a:t>
            </a:r>
          </a:p>
        </p:txBody>
      </p:sp>
      <p:sp>
        <p:nvSpPr>
          <p:cNvPr id="8" name="TextBox 7"/>
          <p:cNvSpPr txBox="1"/>
          <p:nvPr/>
        </p:nvSpPr>
        <p:spPr>
          <a:xfrm>
            <a:off x="685800" y="3291840"/>
            <a:ext cx="6126480" cy="2743200"/>
          </a:xfrm>
          <a:prstGeom prst="rect">
            <a:avLst/>
          </a:prstGeom>
          <a:noFill/>
        </p:spPr>
        <p:txBody>
          <a:bodyPr wrap="square" lIns="0" rIns="0" tIns="0" bIns="0" anchor="t">
            <a:spAutoFit/>
          </a:bodyPr>
          <a:lstStyle/>
          <a:p>
            <a:pPr marL="285750" indent="-285750">
              <a:spcAft>
                <a:spcPts val="600"/>
              </a:spcAft>
              <a:buChar char="•"/>
            </a:pPr>
            <a:r>
              <a:rPr sz="1400" b="0" i="0">
                <a:solidFill>
                  <a:schemeClr val="tx1"/>
                </a:solidFill>
              </a:rPr>
              <a:t>The pattern is prescribed: k and θ are fitted to daily satellite rainfall at every location and day of the year, so the average rain, kθ, follows the observed pattern</a:t>
            </a:r>
          </a:p>
          <a:p>
            <a:pPr marL="285750" indent="-285750">
              <a:spcAft>
                <a:spcPts val="600"/>
              </a:spcAft>
              <a:buChar char="•"/>
            </a:pPr>
            <a:r>
              <a:rPr sz="1400" b="0" i="0">
                <a:solidFill>
                  <a:schemeClr val="tx1"/>
                </a:solidFill>
              </a:rPr>
              <a:t>Only the day-to-day amount varies: each day’s rain is drawn around that average, with a spread set by k and θ</a:t>
            </a:r>
          </a:p>
          <a:p>
            <a:pPr marL="285750" indent="-285750">
              <a:spcAft>
                <a:spcPts val="600"/>
              </a:spcAft>
              <a:buChar char="•"/>
            </a:pPr>
            <a:r>
              <a:rPr sz="1400" b="0" i="0">
                <a:solidFill>
                  <a:schemeClr val="tx1"/>
                </a:solidFill>
              </a:rPr>
              <a:t>The rain does not respond to the model’s own weather</a:t>
            </a:r>
          </a:p>
          <a:p>
            <a:pPr marL="285750" indent="-285750">
              <a:spcAft>
                <a:spcPts val="600"/>
              </a:spcAft>
              <a:buChar char="•"/>
            </a:pPr>
            <a:r>
              <a:rPr sz="1400" b="0" i="0">
                <a:solidFill>
                  <a:schemeClr val="tx1"/>
                </a:solidFill>
              </a:rPr>
              <a:t>The factor exp(−φ²/1000), with latitude φ in degrees, confines heating to the tropics; β turns rain into heating and s spreads it in the vertical</a:t>
            </a:r>
          </a:p>
        </p:txBody>
      </p:sp>
      <p:sp>
        <p:nvSpPr>
          <p:cNvPr id="9" name="TextBox 8"/>
          <p:cNvSpPr txBox="1"/>
          <p:nvPr/>
        </p:nvSpPr>
        <p:spPr>
          <a:xfrm>
            <a:off x="7132320" y="1783080"/>
            <a:ext cx="4370832" cy="502920"/>
          </a:xfrm>
          <a:prstGeom prst="rect">
            <a:avLst/>
          </a:prstGeom>
          <a:noFill/>
        </p:spPr>
        <p:txBody>
          <a:bodyPr wrap="square" lIns="0" rIns="0" tIns="0" bIns="0" anchor="t">
            <a:spAutoFit/>
          </a:bodyPr>
          <a:lstStyle/>
          <a:p>
            <a:r>
              <a:rPr sz="1400" b="1" i="0">
                <a:solidFill>
                  <a:schemeClr val="tx2"/>
                </a:solidFill>
              </a:rPr>
              <a:t>Vertical profile s, top of the model to the ground</a:t>
            </a:r>
          </a:p>
        </p:txBody>
      </p:sp>
      <p:graphicFrame>
        <p:nvGraphicFramePr>
          <p:cNvPr id="10" name="Chart 9" descr="Bar chart of the vertical profile of the heating, peaking in the middle of the troposphere"/>
          <p:cNvGraphicFramePr>
            <a:graphicFrameLocks noGrp="1"/>
          </p:cNvGraphicFramePr>
          <p:nvPr/>
        </p:nvGraphicFramePr>
        <p:xfrm>
          <a:off x="7132320" y="2331720"/>
          <a:ext cx="4370832" cy="3337560"/>
        </p:xfrm>
        <a:graphic>
          <a:graphicData uri="http://schemas.openxmlformats.org/drawingml/2006/chart">
            <c:chart xmlns:c="http://schemas.openxmlformats.org/drawingml/2006/chart" r:id="rId2"/>
          </a:graphicData>
        </a:graphic>
      </p:graphicFrame>
      <p:sp>
        <p:nvSpPr>
          <p:cNvPr id="11" name="TextBox 10"/>
          <p:cNvSpPr txBox="1"/>
          <p:nvPr/>
        </p:nvSpPr>
        <p:spPr>
          <a:xfrm>
            <a:off x="7132320" y="5715000"/>
            <a:ext cx="4370832" cy="457200"/>
          </a:xfrm>
          <a:prstGeom prst="rect">
            <a:avLst/>
          </a:prstGeom>
          <a:noFill/>
        </p:spPr>
        <p:txBody>
          <a:bodyPr wrap="square" lIns="0" rIns="0" tIns="0" bIns="0" anchor="t">
            <a:spAutoFit/>
          </a:bodyPr>
          <a:lstStyle/>
          <a:p>
            <a:r>
              <a:rPr sz="1200" b="0" i="0">
                <a:solidFill>
                  <a:schemeClr val="tx2"/>
                </a:solidFill>
              </a:rPr>
              <a:t>Peaks in the middle of the troposphere; scaled so it adds up to 1.</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777240"/>
            <a:ext cx="10817352" cy="868680"/>
          </a:xfrm>
        </p:spPr>
        <p:txBody>
          <a:bodyPr wrap="square" lIns="0" rIns="0" tIns="0" bIns="0" anchor="t"/>
          <a:lstStyle/>
          <a:p>
            <a:pPr algn="l"/>
            <a:r>
              <a:rPr sz="3600" b="1">
                <a:solidFill>
                  <a:schemeClr val="tx1"/>
                </a:solidFill>
                <a:latin typeface="+mj-lt"/>
              </a:rPr>
              <a:t>How the Model Runs</a:t>
            </a:r>
          </a:p>
        </p:txBody>
      </p:sp>
      <p:sp>
        <p:nvSpPr>
          <p:cNvPr id="3" name="TextBox 2"/>
          <p:cNvSpPr txBox="1"/>
          <p:nvPr/>
        </p:nvSpPr>
        <p:spPr>
          <a:xfrm>
            <a:off x="685800" y="457200"/>
            <a:ext cx="10817352" cy="274320"/>
          </a:xfrm>
          <a:prstGeom prst="rect">
            <a:avLst/>
          </a:prstGeom>
          <a:noFill/>
        </p:spPr>
        <p:txBody>
          <a:bodyPr wrap="square" lIns="0" rIns="0" tIns="0" bIns="0" anchor="t">
            <a:spAutoFit/>
          </a:bodyPr>
          <a:lstStyle/>
          <a:p>
            <a:r>
              <a:rPr sz="1200" b="1" i="0" spc="300">
                <a:solidFill>
                  <a:schemeClr val="accent1"/>
                </a:solidFill>
              </a:rPr>
              <a:t>PART 3 · TELLY</a:t>
            </a:r>
          </a:p>
        </p:txBody>
      </p:sp>
      <p:sp>
        <p:nvSpPr>
          <p:cNvPr id="4" name="TextBox 3"/>
          <p:cNvSpPr txBox="1"/>
          <p:nvPr/>
        </p:nvSpPr>
        <p:spPr>
          <a:xfrm>
            <a:off x="685800" y="6400800"/>
            <a:ext cx="6400800" cy="274320"/>
          </a:xfrm>
          <a:prstGeom prst="rect">
            <a:avLst/>
          </a:prstGeom>
          <a:noFill/>
        </p:spPr>
        <p:txBody>
          <a:bodyPr wrap="square" lIns="0" rIns="0" tIns="0" bIns="0" anchor="t">
            <a:spAutoFit/>
          </a:bodyPr>
          <a:lstStyle/>
          <a:p>
            <a:r>
              <a:rPr sz="1000" b="0" i="0">
                <a:solidFill>
                  <a:schemeClr val="tx2"/>
                </a:solidFill>
              </a:rPr>
              <a:t>Telly · stationary Rossby waves</a:t>
            </a:r>
          </a:p>
        </p:txBody>
      </p:sp>
      <p:sp>
        <p:nvSpPr>
          <p:cNvPr id="5" name="TextBox 4"/>
          <p:cNvSpPr txBox="1"/>
          <p:nvPr/>
        </p:nvSpPr>
        <p:spPr>
          <a:xfrm>
            <a:off x="10972800" y="6400800"/>
            <a:ext cx="548640" cy="274320"/>
          </a:xfrm>
          <a:prstGeom prst="rect">
            <a:avLst/>
          </a:prstGeom>
          <a:noFill/>
        </p:spPr>
        <p:txBody>
          <a:bodyPr wrap="none" lIns="0" rIns="0" tIns="0" bIns="0">
            <a:spAutoFit/>
          </a:bodyPr>
          <a:lstStyle/>
          <a:p>
            <a:pPr algn="r"/>
            <a:fld id="{B6F15528-21DE-4FAA-801E-634DDDAF4B2B}" type="slidenum">
              <a:rPr lang="en-US" sz="1000">
                <a:solidFill>
                  <a:schemeClr val="tx2"/>
                </a:solidFill>
              </a:rPr>
              <a:t>‹#›</a:t>
            </a:fld>
          </a:p>
        </p:txBody>
      </p:sp>
      <p:sp>
        <p:nvSpPr>
          <p:cNvPr id="6" name="Rounded Rectangle 5"/>
          <p:cNvSpPr/>
          <p:nvPr/>
        </p:nvSpPr>
        <p:spPr>
          <a:xfrm>
            <a:off x="685800" y="1783080"/>
            <a:ext cx="2532888" cy="1783080"/>
          </a:xfrm>
          <a:prstGeom prst="roundRect">
            <a:avLst>
              <a:gd name="adj" fmla="val 5000"/>
            </a:avLst>
          </a:prstGeom>
          <a:solidFill>
            <a:schemeClr val="bg1"/>
          </a:solidFill>
          <a:ln w="9525">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14400" y="1874519"/>
            <a:ext cx="2075688" cy="822960"/>
          </a:xfrm>
          <a:prstGeom prst="rect">
            <a:avLst/>
          </a:prstGeom>
          <a:noFill/>
        </p:spPr>
        <p:txBody>
          <a:bodyPr wrap="square" lIns="0" rIns="0" tIns="0" bIns="0" anchor="t">
            <a:spAutoFit/>
          </a:bodyPr>
          <a:lstStyle/>
          <a:p>
            <a:r>
              <a:rPr sz="4400" b="1" i="0">
                <a:solidFill>
                  <a:schemeClr val="accent1"/>
                </a:solidFill>
                <a:latin typeface="+mj-lt"/>
              </a:rPr>
              <a:t>2°</a:t>
            </a:r>
          </a:p>
        </p:txBody>
      </p:sp>
      <p:sp>
        <p:nvSpPr>
          <p:cNvPr id="8" name="TextBox 7"/>
          <p:cNvSpPr txBox="1"/>
          <p:nvPr/>
        </p:nvSpPr>
        <p:spPr>
          <a:xfrm>
            <a:off x="914400" y="2788920"/>
            <a:ext cx="2075688" cy="731520"/>
          </a:xfrm>
          <a:prstGeom prst="rect">
            <a:avLst/>
          </a:prstGeom>
          <a:noFill/>
        </p:spPr>
        <p:txBody>
          <a:bodyPr wrap="square" lIns="0" rIns="0" tIns="0" bIns="0" anchor="t">
            <a:spAutoFit/>
          </a:bodyPr>
          <a:lstStyle/>
          <a:p>
            <a:r>
              <a:rPr sz="1400" b="0" i="0">
                <a:solidFill>
                  <a:schemeClr val="tx2"/>
                </a:solidFill>
              </a:rPr>
              <a:t>Grid boxes about 200 km wide</a:t>
            </a:r>
          </a:p>
        </p:txBody>
      </p:sp>
      <p:sp>
        <p:nvSpPr>
          <p:cNvPr id="9" name="Rounded Rectangle 8"/>
          <p:cNvSpPr/>
          <p:nvPr/>
        </p:nvSpPr>
        <p:spPr>
          <a:xfrm>
            <a:off x="3447288" y="1783080"/>
            <a:ext cx="2532888" cy="1783080"/>
          </a:xfrm>
          <a:prstGeom prst="roundRect">
            <a:avLst>
              <a:gd name="adj" fmla="val 5000"/>
            </a:avLst>
          </a:prstGeom>
          <a:solidFill>
            <a:schemeClr val="bg1"/>
          </a:solidFill>
          <a:ln w="9525">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675887" y="1874519"/>
            <a:ext cx="2075688" cy="822960"/>
          </a:xfrm>
          <a:prstGeom prst="rect">
            <a:avLst/>
          </a:prstGeom>
          <a:noFill/>
        </p:spPr>
        <p:txBody>
          <a:bodyPr wrap="square" lIns="0" rIns="0" tIns="0" bIns="0" anchor="t">
            <a:spAutoFit/>
          </a:bodyPr>
          <a:lstStyle/>
          <a:p>
            <a:r>
              <a:rPr sz="4400" b="1" i="0">
                <a:solidFill>
                  <a:schemeClr val="accent1"/>
                </a:solidFill>
                <a:latin typeface="+mj-lt"/>
              </a:rPr>
              <a:t>26</a:t>
            </a:r>
          </a:p>
        </p:txBody>
      </p:sp>
      <p:sp>
        <p:nvSpPr>
          <p:cNvPr id="11" name="TextBox 10"/>
          <p:cNvSpPr txBox="1"/>
          <p:nvPr/>
        </p:nvSpPr>
        <p:spPr>
          <a:xfrm>
            <a:off x="3675887" y="2788920"/>
            <a:ext cx="2075688" cy="731520"/>
          </a:xfrm>
          <a:prstGeom prst="rect">
            <a:avLst/>
          </a:prstGeom>
          <a:noFill/>
        </p:spPr>
        <p:txBody>
          <a:bodyPr wrap="square" lIns="0" rIns="0" tIns="0" bIns="0" anchor="t">
            <a:spAutoFit/>
          </a:bodyPr>
          <a:lstStyle/>
          <a:p>
            <a:r>
              <a:rPr sz="1400" b="0" i="0">
                <a:solidFill>
                  <a:schemeClr val="tx2"/>
                </a:solidFill>
              </a:rPr>
              <a:t>Layers in the vertical</a:t>
            </a:r>
          </a:p>
        </p:txBody>
      </p:sp>
      <p:sp>
        <p:nvSpPr>
          <p:cNvPr id="12" name="Rounded Rectangle 11"/>
          <p:cNvSpPr/>
          <p:nvPr/>
        </p:nvSpPr>
        <p:spPr>
          <a:xfrm>
            <a:off x="6208776" y="1783080"/>
            <a:ext cx="2532888" cy="1783080"/>
          </a:xfrm>
          <a:prstGeom prst="roundRect">
            <a:avLst>
              <a:gd name="adj" fmla="val 5000"/>
            </a:avLst>
          </a:prstGeom>
          <a:solidFill>
            <a:schemeClr val="bg1"/>
          </a:solidFill>
          <a:ln w="9525">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437376" y="1874519"/>
            <a:ext cx="2075688" cy="822960"/>
          </a:xfrm>
          <a:prstGeom prst="rect">
            <a:avLst/>
          </a:prstGeom>
          <a:noFill/>
        </p:spPr>
        <p:txBody>
          <a:bodyPr wrap="square" lIns="0" rIns="0" tIns="0" bIns="0" anchor="t">
            <a:spAutoFit/>
          </a:bodyPr>
          <a:lstStyle/>
          <a:p>
            <a:r>
              <a:rPr sz="4400" b="1" i="0">
                <a:solidFill>
                  <a:schemeClr val="accent1"/>
                </a:solidFill>
                <a:latin typeface="+mj-lt"/>
              </a:rPr>
              <a:t>4 min</a:t>
            </a:r>
          </a:p>
        </p:txBody>
      </p:sp>
      <p:sp>
        <p:nvSpPr>
          <p:cNvPr id="14" name="TextBox 13"/>
          <p:cNvSpPr txBox="1"/>
          <p:nvPr/>
        </p:nvSpPr>
        <p:spPr>
          <a:xfrm>
            <a:off x="6437376" y="2788920"/>
            <a:ext cx="2075688" cy="731520"/>
          </a:xfrm>
          <a:prstGeom prst="rect">
            <a:avLst/>
          </a:prstGeom>
          <a:noFill/>
        </p:spPr>
        <p:txBody>
          <a:bodyPr wrap="square" lIns="0" rIns="0" tIns="0" bIns="0" anchor="t">
            <a:spAutoFit/>
          </a:bodyPr>
          <a:lstStyle/>
          <a:p>
            <a:r>
              <a:rPr sz="1400" b="0" i="0">
                <a:solidFill>
                  <a:schemeClr val="tx2"/>
                </a:solidFill>
              </a:rPr>
              <a:t>Time step: the equations are advanced every 4 minutes</a:t>
            </a:r>
          </a:p>
        </p:txBody>
      </p:sp>
      <p:sp>
        <p:nvSpPr>
          <p:cNvPr id="15" name="Rounded Rectangle 14"/>
          <p:cNvSpPr/>
          <p:nvPr/>
        </p:nvSpPr>
        <p:spPr>
          <a:xfrm>
            <a:off x="8970264" y="1783080"/>
            <a:ext cx="2532888" cy="1783080"/>
          </a:xfrm>
          <a:prstGeom prst="roundRect">
            <a:avLst>
              <a:gd name="adj" fmla="val 5000"/>
            </a:avLst>
          </a:prstGeom>
          <a:solidFill>
            <a:schemeClr val="bg1"/>
          </a:solidFill>
          <a:ln w="9525">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198864" y="1874519"/>
            <a:ext cx="2075688" cy="822960"/>
          </a:xfrm>
          <a:prstGeom prst="rect">
            <a:avLst/>
          </a:prstGeom>
          <a:noFill/>
        </p:spPr>
        <p:txBody>
          <a:bodyPr wrap="square" lIns="0" rIns="0" tIns="0" bIns="0" anchor="t">
            <a:spAutoFit/>
          </a:bodyPr>
          <a:lstStyle/>
          <a:p>
            <a:r>
              <a:rPr sz="4400" b="1" i="0">
                <a:solidFill>
                  <a:schemeClr val="accent1"/>
                </a:solidFill>
                <a:latin typeface="+mj-lt"/>
              </a:rPr>
              <a:t>1 day</a:t>
            </a:r>
          </a:p>
        </p:txBody>
      </p:sp>
      <p:sp>
        <p:nvSpPr>
          <p:cNvPr id="17" name="TextBox 16"/>
          <p:cNvSpPr txBox="1"/>
          <p:nvPr/>
        </p:nvSpPr>
        <p:spPr>
          <a:xfrm>
            <a:off x="9198864" y="2788920"/>
            <a:ext cx="2075688" cy="731520"/>
          </a:xfrm>
          <a:prstGeom prst="rect">
            <a:avLst/>
          </a:prstGeom>
          <a:noFill/>
        </p:spPr>
        <p:txBody>
          <a:bodyPr wrap="square" lIns="0" rIns="0" tIns="0" bIns="0" anchor="t">
            <a:spAutoFit/>
          </a:bodyPr>
          <a:lstStyle/>
          <a:p>
            <a:r>
              <a:rPr sz="1400" b="0" i="0">
                <a:solidFill>
                  <a:schemeClr val="tx2"/>
                </a:solidFill>
              </a:rPr>
              <a:t>of computer time for a 5-year run</a:t>
            </a:r>
          </a:p>
        </p:txBody>
      </p:sp>
      <p:sp>
        <p:nvSpPr>
          <p:cNvPr id="18" name="TextBox 17"/>
          <p:cNvSpPr txBox="1"/>
          <p:nvPr/>
        </p:nvSpPr>
        <p:spPr>
          <a:xfrm>
            <a:off x="685800" y="3886200"/>
            <a:ext cx="10241280" cy="2103120"/>
          </a:xfrm>
          <a:prstGeom prst="rect">
            <a:avLst/>
          </a:prstGeom>
          <a:noFill/>
        </p:spPr>
        <p:txBody>
          <a:bodyPr wrap="square" lIns="0" rIns="0" tIns="0" bIns="0" anchor="t">
            <a:spAutoFit/>
          </a:bodyPr>
          <a:lstStyle/>
          <a:p>
            <a:pPr marL="285750" indent="-285750">
              <a:spcAft>
                <a:spcPts val="1000"/>
              </a:spcAft>
              <a:buChar char="•"/>
            </a:pPr>
            <a:r>
              <a:rPr sz="1600" b="0" i="0">
                <a:solidFill>
                  <a:schemeClr val="tx1"/>
                </a:solidFill>
              </a:rPr>
              <a:t>At each step the model works out how the wind, temperature and pressure change, using the equations from the last few slides</a:t>
            </a:r>
          </a:p>
          <a:p>
            <a:pPr marL="285750" indent="-285750">
              <a:spcAft>
                <a:spcPts val="1000"/>
              </a:spcAft>
              <a:buChar char="•"/>
            </a:pPr>
            <a:r>
              <a:rPr sz="1600" b="0" i="0">
                <a:solidFill>
                  <a:schemeClr val="tx1"/>
                </a:solidFill>
              </a:rPr>
              <a:t>A 5-year run is about 600,000 steps</a:t>
            </a:r>
          </a:p>
          <a:p>
            <a:pPr marL="285750" indent="-285750">
              <a:spcAft>
                <a:spcPts val="1000"/>
              </a:spcAft>
              <a:buChar char="•"/>
            </a:pPr>
            <a:r>
              <a:rPr sz="1600" b="0" i="0">
                <a:solidFill>
                  <a:schemeClr val="tx1"/>
                </a:solidFill>
              </a:rPr>
              <a:t>Rainfall varies from day to day, so we average over years to see the stationary waves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777240"/>
            <a:ext cx="10817352" cy="868680"/>
          </a:xfrm>
        </p:spPr>
        <p:txBody>
          <a:bodyPr wrap="square" lIns="0" rIns="0" tIns="0" bIns="0" anchor="t"/>
          <a:lstStyle/>
          <a:p>
            <a:pPr algn="l"/>
            <a:r>
              <a:rPr sz="3600" b="1">
                <a:solidFill>
                  <a:schemeClr val="tx1"/>
                </a:solidFill>
                <a:latin typeface="+mj-lt"/>
              </a:rPr>
              <a:t>What Goes In</a:t>
            </a:r>
          </a:p>
        </p:txBody>
      </p:sp>
      <p:sp>
        <p:nvSpPr>
          <p:cNvPr id="3" name="TextBox 2"/>
          <p:cNvSpPr txBox="1"/>
          <p:nvPr/>
        </p:nvSpPr>
        <p:spPr>
          <a:xfrm>
            <a:off x="685800" y="457200"/>
            <a:ext cx="10817352" cy="274320"/>
          </a:xfrm>
          <a:prstGeom prst="rect">
            <a:avLst/>
          </a:prstGeom>
          <a:noFill/>
        </p:spPr>
        <p:txBody>
          <a:bodyPr wrap="square" lIns="0" rIns="0" tIns="0" bIns="0" anchor="t">
            <a:spAutoFit/>
          </a:bodyPr>
          <a:lstStyle/>
          <a:p>
            <a:r>
              <a:rPr sz="1200" b="1" i="0" spc="300">
                <a:solidFill>
                  <a:schemeClr val="accent1"/>
                </a:solidFill>
              </a:rPr>
              <a:t>PART 3 · TELLY</a:t>
            </a:r>
          </a:p>
        </p:txBody>
      </p:sp>
      <p:sp>
        <p:nvSpPr>
          <p:cNvPr id="4" name="TextBox 3"/>
          <p:cNvSpPr txBox="1"/>
          <p:nvPr/>
        </p:nvSpPr>
        <p:spPr>
          <a:xfrm>
            <a:off x="685800" y="6400800"/>
            <a:ext cx="6400800" cy="274320"/>
          </a:xfrm>
          <a:prstGeom prst="rect">
            <a:avLst/>
          </a:prstGeom>
          <a:noFill/>
        </p:spPr>
        <p:txBody>
          <a:bodyPr wrap="square" lIns="0" rIns="0" tIns="0" bIns="0" anchor="t">
            <a:spAutoFit/>
          </a:bodyPr>
          <a:lstStyle/>
          <a:p>
            <a:r>
              <a:rPr sz="1000" b="0" i="0">
                <a:solidFill>
                  <a:schemeClr val="tx2"/>
                </a:solidFill>
              </a:rPr>
              <a:t>Telly · stationary Rossby waves</a:t>
            </a:r>
          </a:p>
        </p:txBody>
      </p:sp>
      <p:sp>
        <p:nvSpPr>
          <p:cNvPr id="5" name="TextBox 4"/>
          <p:cNvSpPr txBox="1"/>
          <p:nvPr/>
        </p:nvSpPr>
        <p:spPr>
          <a:xfrm>
            <a:off x="10972800" y="6400800"/>
            <a:ext cx="548640" cy="274320"/>
          </a:xfrm>
          <a:prstGeom prst="rect">
            <a:avLst/>
          </a:prstGeom>
          <a:noFill/>
        </p:spPr>
        <p:txBody>
          <a:bodyPr wrap="none" lIns="0" rIns="0" tIns="0" bIns="0">
            <a:spAutoFit/>
          </a:bodyPr>
          <a:lstStyle/>
          <a:p>
            <a:pPr algn="r"/>
            <a:fld id="{B6F15528-21DE-4FAA-801E-634DDDAF4B2B}" type="slidenum">
              <a:rPr lang="en-US" sz="1000">
                <a:solidFill>
                  <a:schemeClr val="tx2"/>
                </a:solidFill>
              </a:rPr>
              <a:t>‹#›</a:t>
            </a:fld>
          </a:p>
        </p:txBody>
      </p:sp>
      <p:sp>
        <p:nvSpPr>
          <p:cNvPr id="6" name="TextBox 5"/>
          <p:cNvSpPr txBox="1"/>
          <p:nvPr/>
        </p:nvSpPr>
        <p:spPr>
          <a:xfrm>
            <a:off x="685800" y="6053328"/>
            <a:ext cx="10058400" cy="274320"/>
          </a:xfrm>
          <a:prstGeom prst="rect">
            <a:avLst/>
          </a:prstGeom>
          <a:noFill/>
        </p:spPr>
        <p:txBody>
          <a:bodyPr wrap="square" lIns="0" rIns="0" tIns="0" bIns="0" anchor="t">
            <a:spAutoFit/>
          </a:bodyPr>
          <a:lstStyle/>
          <a:p>
            <a:r>
              <a:rPr sz="1100" b="0" i="0">
                <a:solidFill>
                  <a:schemeClr val="tx2"/>
                </a:solidFill>
              </a:rPr>
              <a:t>Monthly averages are interpolated to every day of the year. These inputs are prepared once and reused by every run.</a:t>
            </a:r>
          </a:p>
        </p:txBody>
      </p:sp>
      <p:graphicFrame>
        <p:nvGraphicFramePr>
          <p:cNvPr id="7" name="Table 6"/>
          <p:cNvGraphicFramePr>
            <a:graphicFrameLocks noGrp="1"/>
          </p:cNvGraphicFramePr>
          <p:nvPr/>
        </p:nvGraphicFramePr>
        <p:xfrm>
          <a:off x="685800" y="1783080"/>
          <a:ext cx="10817351" cy="3968496"/>
        </p:xfrm>
        <a:graphic>
          <a:graphicData uri="http://schemas.openxmlformats.org/drawingml/2006/table">
            <a:tbl>
              <a:tblPr firstRow="1" bandRow="1">
                <a:tableStyleId>{5C22544A-7EE6-4342-B048-85BDC9FD1C3A}</a:tableStyleId>
              </a:tblPr>
              <a:tblGrid>
                <a:gridCol w="2651760"/>
                <a:gridCol w="4937760"/>
                <a:gridCol w="3227831"/>
              </a:tblGrid>
              <a:tr h="566928">
                <a:tc>
                  <a:txBody>
                    <a:bodyPr wrap="square"/>
                    <a:lstStyle/>
                    <a:p>
                      <a:r>
                        <a:rPr sz="1500" b="1" i="0">
                          <a:solidFill>
                            <a:schemeClr val="bg2"/>
                          </a:solidFill>
                        </a:rPr>
                        <a:t>Input</a:t>
                      </a:r>
                    </a:p>
                  </a:txBody>
                  <a:tcPr marL="109728" marR="109728" marT="45720" marB="45720" anchor="ctr">
                    <a:solidFill>
                      <a:schemeClr val="tx1"/>
                    </a:solidFill>
                  </a:tcPr>
                </a:tc>
                <a:tc>
                  <a:txBody>
                    <a:bodyPr wrap="square"/>
                    <a:lstStyle/>
                    <a:p>
                      <a:r>
                        <a:rPr sz="1500" b="1" i="0">
                          <a:solidFill>
                            <a:schemeClr val="bg2"/>
                          </a:solidFill>
                        </a:rPr>
                        <a:t>What it describes</a:t>
                      </a:r>
                    </a:p>
                  </a:txBody>
                  <a:tcPr marL="109728" marR="109728" marT="45720" marB="45720" anchor="ctr">
                    <a:solidFill>
                      <a:schemeClr val="tx1"/>
                    </a:solidFill>
                  </a:tcPr>
                </a:tc>
                <a:tc>
                  <a:txBody>
                    <a:bodyPr wrap="square"/>
                    <a:lstStyle/>
                    <a:p>
                      <a:r>
                        <a:rPr sz="1500" b="1" i="0">
                          <a:solidFill>
                            <a:schemeClr val="bg2"/>
                          </a:solidFill>
                        </a:rPr>
                        <a:t>Where it comes from</a:t>
                      </a:r>
                    </a:p>
                  </a:txBody>
                  <a:tcPr marL="109728" marR="109728" marT="45720" marB="45720" anchor="ctr">
                    <a:solidFill>
                      <a:schemeClr val="tx1"/>
                    </a:solidFill>
                  </a:tcPr>
                </a:tc>
              </a:tr>
              <a:tr h="566928">
                <a:tc>
                  <a:txBody>
                    <a:bodyPr wrap="square"/>
                    <a:lstStyle/>
                    <a:p>
                      <a:r>
                        <a:rPr sz="1500" b="1" i="0">
                          <a:solidFill>
                            <a:schemeClr val="tx1"/>
                          </a:solidFill>
                        </a:rPr>
                        <a:t>Ground height</a:t>
                      </a:r>
                    </a:p>
                  </a:txBody>
                  <a:tcPr marL="109728" marR="109728" marT="45720" marB="45720" anchor="ctr">
                    <a:solidFill>
                      <a:schemeClr val="bg1"/>
                    </a:solidFill>
                  </a:tcPr>
                </a:tc>
                <a:tc>
                  <a:txBody>
                    <a:bodyPr wrap="square"/>
                    <a:lstStyle/>
                    <a:p>
                      <a:r>
                        <a:rPr sz="1500" b="0" i="0">
                          <a:solidFill>
                            <a:schemeClr val="tx1"/>
                          </a:solidFill>
                        </a:rPr>
                        <a:t>The height of the terrain at each point</a:t>
                      </a:r>
                    </a:p>
                  </a:txBody>
                  <a:tcPr marL="109728" marR="109728" marT="45720" marB="45720" anchor="ctr">
                    <a:solidFill>
                      <a:schemeClr val="bg1"/>
                    </a:solidFill>
                  </a:tcPr>
                </a:tc>
                <a:tc>
                  <a:txBody>
                    <a:bodyPr wrap="square"/>
                    <a:lstStyle/>
                    <a:p>
                      <a:r>
                        <a:rPr sz="1500" b="0" i="0">
                          <a:solidFill>
                            <a:schemeClr val="tx1"/>
                          </a:solidFill>
                        </a:rPr>
                        <a:t>A gridded topography data set</a:t>
                      </a:r>
                    </a:p>
                  </a:txBody>
                  <a:tcPr marL="109728" marR="109728" marT="45720" marB="45720" anchor="ctr">
                    <a:solidFill>
                      <a:schemeClr val="bg1"/>
                    </a:solidFill>
                  </a:tcPr>
                </a:tc>
              </a:tr>
              <a:tr h="566928">
                <a:tc>
                  <a:txBody>
                    <a:bodyPr wrap="square"/>
                    <a:lstStyle/>
                    <a:p>
                      <a:r>
                        <a:rPr sz="1500" b="1" i="0">
                          <a:solidFill>
                            <a:schemeClr val="tx1"/>
                          </a:solidFill>
                        </a:rPr>
                        <a:t>Surface pressure</a:t>
                      </a:r>
                    </a:p>
                  </a:txBody>
                  <a:tcPr marL="109728" marR="109728" marT="45720" marB="45720" anchor="ctr">
                    <a:solidFill>
                      <a:schemeClr val="accent6">
                        <a:lumMod val="45000"/>
                        <a:lumOff val="55000"/>
                      </a:schemeClr>
                    </a:solidFill>
                  </a:tcPr>
                </a:tc>
                <a:tc>
                  <a:txBody>
                    <a:bodyPr wrap="square"/>
                    <a:lstStyle/>
                    <a:p>
                      <a:r>
                        <a:rPr sz="1500" b="0" i="0">
                          <a:solidFill>
                            <a:schemeClr val="tx1"/>
                          </a:solidFill>
                        </a:rPr>
                        <a:t>Average surface pressure for each day of the year</a:t>
                      </a:r>
                    </a:p>
                  </a:txBody>
                  <a:tcPr marL="109728" marR="109728" marT="45720" marB="45720" anchor="ctr">
                    <a:solidFill>
                      <a:schemeClr val="accent6">
                        <a:lumMod val="45000"/>
                        <a:lumOff val="55000"/>
                      </a:schemeClr>
                    </a:solidFill>
                  </a:tcPr>
                </a:tc>
                <a:tc>
                  <a:txBody>
                    <a:bodyPr wrap="square"/>
                    <a:lstStyle/>
                    <a:p>
                      <a:r>
                        <a:rPr sz="1500" b="0" i="0">
                          <a:solidFill>
                            <a:schemeClr val="tx1"/>
                          </a:solidFill>
                        </a:rPr>
                        <a:t>NCEP reanalysis, 1994–2024</a:t>
                      </a:r>
                    </a:p>
                  </a:txBody>
                  <a:tcPr marL="109728" marR="109728" marT="45720" marB="45720" anchor="ctr">
                    <a:solidFill>
                      <a:schemeClr val="accent6">
                        <a:lumMod val="45000"/>
                        <a:lumOff val="55000"/>
                      </a:schemeClr>
                    </a:solidFill>
                  </a:tcPr>
                </a:tc>
              </a:tr>
              <a:tr h="566928">
                <a:tc>
                  <a:txBody>
                    <a:bodyPr wrap="square"/>
                    <a:lstStyle/>
                    <a:p>
                      <a:r>
                        <a:rPr sz="1500" b="1" i="0">
                          <a:solidFill>
                            <a:schemeClr val="tx1"/>
                          </a:solidFill>
                        </a:rPr>
                        <a:t>Winds and temperature</a:t>
                      </a:r>
                    </a:p>
                  </a:txBody>
                  <a:tcPr marL="109728" marR="109728" marT="45720" marB="45720" anchor="ctr">
                    <a:solidFill>
                      <a:schemeClr val="bg1"/>
                    </a:solidFill>
                  </a:tcPr>
                </a:tc>
                <a:tc>
                  <a:txBody>
                    <a:bodyPr wrap="square"/>
                    <a:lstStyle/>
                    <a:p>
                      <a:r>
                        <a:rPr sz="1500" b="0" i="0">
                          <a:solidFill>
                            <a:schemeClr val="tx1"/>
                          </a:solidFill>
                        </a:rPr>
                        <a:t>Average through the year in every layer: the background state</a:t>
                      </a:r>
                    </a:p>
                  </a:txBody>
                  <a:tcPr marL="109728" marR="109728" marT="45720" marB="45720" anchor="ctr">
                    <a:solidFill>
                      <a:schemeClr val="bg1"/>
                    </a:solidFill>
                  </a:tcPr>
                </a:tc>
                <a:tc>
                  <a:txBody>
                    <a:bodyPr wrap="square"/>
                    <a:lstStyle/>
                    <a:p>
                      <a:r>
                        <a:rPr sz="1500" b="0" i="0">
                          <a:solidFill>
                            <a:schemeClr val="tx1"/>
                          </a:solidFill>
                        </a:rPr>
                        <a:t>NCEP reanalysis, 1994–2024</a:t>
                      </a:r>
                    </a:p>
                  </a:txBody>
                  <a:tcPr marL="109728" marR="109728" marT="45720" marB="45720" anchor="ctr">
                    <a:solidFill>
                      <a:schemeClr val="bg1"/>
                    </a:solidFill>
                  </a:tcPr>
                </a:tc>
              </a:tr>
              <a:tr h="566928">
                <a:tc>
                  <a:txBody>
                    <a:bodyPr wrap="square"/>
                    <a:lstStyle/>
                    <a:p>
                      <a:r>
                        <a:rPr sz="1500" b="1" i="0">
                          <a:solidFill>
                            <a:schemeClr val="tx1"/>
                          </a:solidFill>
                        </a:rPr>
                        <a:t>Starting temperature</a:t>
                      </a:r>
                    </a:p>
                  </a:txBody>
                  <a:tcPr marL="109728" marR="109728" marT="45720" marB="45720" anchor="ctr">
                    <a:solidFill>
                      <a:schemeClr val="accent6">
                        <a:lumMod val="45000"/>
                        <a:lumOff val="55000"/>
                      </a:schemeClr>
                    </a:solidFill>
                  </a:tcPr>
                </a:tc>
                <a:tc>
                  <a:txBody>
                    <a:bodyPr wrap="square"/>
                    <a:lstStyle/>
                    <a:p>
                      <a:r>
                        <a:rPr sz="1500" b="0" i="0">
                          <a:solidFill>
                            <a:schemeClr val="tx1"/>
                          </a:solidFill>
                        </a:rPr>
                        <a:t>Where the model begins</a:t>
                      </a:r>
                    </a:p>
                  </a:txBody>
                  <a:tcPr marL="109728" marR="109728" marT="45720" marB="45720" anchor="ctr">
                    <a:solidFill>
                      <a:schemeClr val="accent6">
                        <a:lumMod val="45000"/>
                        <a:lumOff val="55000"/>
                      </a:schemeClr>
                    </a:solidFill>
                  </a:tcPr>
                </a:tc>
                <a:tc>
                  <a:txBody>
                    <a:bodyPr wrap="square"/>
                    <a:lstStyle/>
                    <a:p>
                      <a:r>
                        <a:rPr sz="1500" b="0" i="0">
                          <a:solidFill>
                            <a:schemeClr val="tx1"/>
                          </a:solidFill>
                        </a:rPr>
                        <a:t>NCEP plus a typical decrease with height</a:t>
                      </a:r>
                    </a:p>
                  </a:txBody>
                  <a:tcPr marL="109728" marR="109728" marT="45720" marB="45720" anchor="ctr">
                    <a:solidFill>
                      <a:schemeClr val="accent6">
                        <a:lumMod val="45000"/>
                        <a:lumOff val="55000"/>
                      </a:schemeClr>
                    </a:solidFill>
                  </a:tcPr>
                </a:tc>
              </a:tr>
              <a:tr h="566928">
                <a:tc>
                  <a:txBody>
                    <a:bodyPr wrap="square"/>
                    <a:lstStyle/>
                    <a:p>
                      <a:r>
                        <a:rPr sz="1500" b="1" i="0">
                          <a:solidFill>
                            <a:schemeClr val="tx1"/>
                          </a:solidFill>
                        </a:rPr>
                        <a:t>Rainfall statistics</a:t>
                      </a:r>
                    </a:p>
                  </a:txBody>
                  <a:tcPr marL="109728" marR="109728" marT="45720" marB="45720" anchor="ctr">
                    <a:solidFill>
                      <a:schemeClr val="bg1"/>
                    </a:solidFill>
                  </a:tcPr>
                </a:tc>
                <a:tc>
                  <a:txBody>
                    <a:bodyPr wrap="square"/>
                    <a:lstStyle/>
                    <a:p>
                      <a:r>
                        <a:rPr sz="1500" b="0" i="0">
                          <a:solidFill>
                            <a:schemeClr val="tx1"/>
                          </a:solidFill>
                        </a:rPr>
                        <a:t>How much it rains each day, and how variable it is</a:t>
                      </a:r>
                    </a:p>
                  </a:txBody>
                  <a:tcPr marL="109728" marR="109728" marT="45720" marB="45720" anchor="ctr">
                    <a:solidFill>
                      <a:schemeClr val="bg1"/>
                    </a:solidFill>
                  </a:tcPr>
                </a:tc>
                <a:tc>
                  <a:txBody>
                    <a:bodyPr wrap="square"/>
                    <a:lstStyle/>
                    <a:p>
                      <a:r>
                        <a:rPr sz="1500" b="0" i="0">
                          <a:solidFill>
                            <a:schemeClr val="tx1"/>
                          </a:solidFill>
                        </a:rPr>
                        <a:t>Fit to daily satellite rainfall</a:t>
                      </a:r>
                    </a:p>
                  </a:txBody>
                  <a:tcPr marL="109728" marR="109728" marT="45720" marB="45720" anchor="ctr">
                    <a:solidFill>
                      <a:schemeClr val="bg1"/>
                    </a:solidFill>
                  </a:tcPr>
                </a:tc>
              </a:tr>
              <a:tr h="566928">
                <a:tc>
                  <a:txBody>
                    <a:bodyPr wrap="square"/>
                    <a:lstStyle/>
                    <a:p>
                      <a:r>
                        <a:rPr sz="1500" b="1" i="0">
                          <a:solidFill>
                            <a:schemeClr val="tx1"/>
                          </a:solidFill>
                        </a:rPr>
                        <a:t>Land–sea map</a:t>
                      </a:r>
                    </a:p>
                  </a:txBody>
                  <a:tcPr marL="109728" marR="109728" marT="45720" marB="45720" anchor="ctr">
                    <a:solidFill>
                      <a:schemeClr val="accent6">
                        <a:lumMod val="45000"/>
                        <a:lumOff val="55000"/>
                      </a:schemeClr>
                    </a:solidFill>
                  </a:tcPr>
                </a:tc>
                <a:tc>
                  <a:txBody>
                    <a:bodyPr wrap="square"/>
                    <a:lstStyle/>
                    <a:p>
                      <a:r>
                        <a:rPr sz="1500" b="0" i="0">
                          <a:solidFill>
                            <a:schemeClr val="tx1"/>
                          </a:solidFill>
                        </a:rPr>
                        <a:t>The fraction of land in each grid box</a:t>
                      </a:r>
                    </a:p>
                  </a:txBody>
                  <a:tcPr marL="109728" marR="109728" marT="45720" marB="45720" anchor="ctr">
                    <a:solidFill>
                      <a:schemeClr val="accent6">
                        <a:lumMod val="45000"/>
                        <a:lumOff val="55000"/>
                      </a:schemeClr>
                    </a:solidFill>
                  </a:tcPr>
                </a:tc>
                <a:tc>
                  <a:txBody>
                    <a:bodyPr wrap="square"/>
                    <a:lstStyle/>
                    <a:p>
                      <a:r>
                        <a:rPr sz="1500" b="0" i="0">
                          <a:solidFill>
                            <a:schemeClr val="tx1"/>
                          </a:solidFill>
                        </a:rPr>
                        <a:t>ERA5 land–sea mask</a:t>
                      </a:r>
                    </a:p>
                  </a:txBody>
                  <a:tcPr marL="109728" marR="109728" marT="45720" marB="45720" anchor="ctr">
                    <a:solidFill>
                      <a:schemeClr val="accent6">
                        <a:lumMod val="45000"/>
                        <a:lumOff val="55000"/>
                      </a:schemeClr>
                    </a:solidFill>
                  </a:tcPr>
                </a:tc>
              </a:tr>
            </a:tbl>
          </a:graphicData>
        </a:graphic>
      </p:graphicFrame>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chemeClr val="tx1"/>
        </a:solidFill>
        <a:effectLst/>
      </p:bgPr>
    </p:bg>
    <p:spTree>
      <p:nvGrpSpPr>
        <p:cNvPr id="1" name=""/>
        <p:cNvGrpSpPr/>
        <p:nvPr/>
      </p:nvGrpSpPr>
      <p:grpSpPr/>
      <p:sp>
        <p:nvSpPr>
          <p:cNvPr id="2" name="Title 1"/>
          <p:cNvSpPr>
            <a:spLocks noGrp="1"/>
          </p:cNvSpPr>
          <p:nvPr>
            <p:ph type="title"/>
          </p:nvPr>
        </p:nvSpPr>
        <p:spPr>
          <a:xfrm>
            <a:off x="822960" y="1783080"/>
            <a:ext cx="9875520" cy="2651760"/>
          </a:xfrm>
        </p:spPr>
        <p:txBody>
          <a:bodyPr wrap="square" lIns="0" rIns="0" tIns="0" bIns="0" anchor="t"/>
          <a:lstStyle/>
          <a:p>
            <a:pPr algn="l"/>
            <a:r>
              <a:rPr sz="4400" b="1">
                <a:solidFill>
                  <a:schemeClr val="bg2"/>
                </a:solidFill>
                <a:latin typeface="+mj-lt"/>
              </a:rPr>
              <a:t>The average state the model is pulled toward already contains the observed stationary waves.</a:t>
            </a:r>
          </a:p>
        </p:txBody>
      </p:sp>
      <p:sp>
        <p:nvSpPr>
          <p:cNvPr id="3" name="TextBox 2"/>
          <p:cNvSpPr txBox="1"/>
          <p:nvPr/>
        </p:nvSpPr>
        <p:spPr>
          <a:xfrm>
            <a:off x="822960" y="1188720"/>
            <a:ext cx="10058400" cy="365760"/>
          </a:xfrm>
          <a:prstGeom prst="rect">
            <a:avLst/>
          </a:prstGeom>
          <a:noFill/>
        </p:spPr>
        <p:txBody>
          <a:bodyPr wrap="square" lIns="0" rIns="0" tIns="0" bIns="0" anchor="t">
            <a:spAutoFit/>
          </a:bodyPr>
          <a:lstStyle/>
          <a:p>
            <a:r>
              <a:rPr sz="1400" b="1" i="0" spc="400">
                <a:solidFill>
                  <a:schemeClr val="accent4"/>
                </a:solidFill>
              </a:rPr>
              <a:t>WHY THE BACKGROUND STATE MATTERS</a:t>
            </a:r>
          </a:p>
        </p:txBody>
      </p:sp>
      <p:sp>
        <p:nvSpPr>
          <p:cNvPr id="4" name="TextBox 3"/>
          <p:cNvSpPr txBox="1"/>
          <p:nvPr/>
        </p:nvSpPr>
        <p:spPr>
          <a:xfrm>
            <a:off x="822960" y="4754880"/>
            <a:ext cx="8961120" cy="1097280"/>
          </a:xfrm>
          <a:prstGeom prst="rect">
            <a:avLst/>
          </a:prstGeom>
          <a:noFill/>
        </p:spPr>
        <p:txBody>
          <a:bodyPr wrap="square" lIns="0" rIns="0" tIns="0" bIns="0" anchor="t">
            <a:spAutoFit/>
          </a:bodyPr>
          <a:lstStyle/>
          <a:p>
            <a:r>
              <a:rPr sz="2000" b="0" i="0">
                <a:solidFill>
                  <a:schemeClr val="accent5"/>
                </a:solidFill>
              </a:rPr>
              <a:t>A run that keeps the observed background state is pulled toward the answer. These experiments use a background state that is the same at every longitude, and add each forcing separately.</a:t>
            </a:r>
          </a:p>
        </p:txBody>
      </p:sp>
      <p:sp>
        <p:nvSpPr>
          <p:cNvPr id="5" name="TextBox 4"/>
          <p:cNvSpPr txBox="1"/>
          <p:nvPr/>
        </p:nvSpPr>
        <p:spPr>
          <a:xfrm>
            <a:off x="685800" y="6400800"/>
            <a:ext cx="6400800" cy="274320"/>
          </a:xfrm>
          <a:prstGeom prst="rect">
            <a:avLst/>
          </a:prstGeom>
          <a:noFill/>
        </p:spPr>
        <p:txBody>
          <a:bodyPr wrap="square" lIns="0" rIns="0" tIns="0" bIns="0" anchor="t">
            <a:spAutoFit/>
          </a:bodyPr>
          <a:lstStyle/>
          <a:p>
            <a:r>
              <a:rPr sz="1000" b="0" i="0">
                <a:solidFill>
                  <a:schemeClr val="accent5"/>
                </a:solidFill>
              </a:rPr>
              <a:t>Telly · stationary Rossby waves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777240"/>
            <a:ext cx="10817352" cy="868680"/>
          </a:xfrm>
        </p:spPr>
        <p:txBody>
          <a:bodyPr wrap="square" lIns="0" rIns="0" tIns="0" bIns="0" anchor="t"/>
          <a:lstStyle/>
          <a:p>
            <a:pPr algn="l"/>
            <a:r>
              <a:rPr sz="3600" b="1">
                <a:solidFill>
                  <a:schemeClr val="tx1"/>
                </a:solidFill>
                <a:latin typeface="+mj-lt"/>
              </a:rPr>
              <a:t>Running an Experiment</a:t>
            </a:r>
          </a:p>
        </p:txBody>
      </p:sp>
      <p:sp>
        <p:nvSpPr>
          <p:cNvPr id="3" name="TextBox 2"/>
          <p:cNvSpPr txBox="1"/>
          <p:nvPr/>
        </p:nvSpPr>
        <p:spPr>
          <a:xfrm>
            <a:off x="685800" y="457200"/>
            <a:ext cx="10817352" cy="274320"/>
          </a:xfrm>
          <a:prstGeom prst="rect">
            <a:avLst/>
          </a:prstGeom>
          <a:noFill/>
        </p:spPr>
        <p:txBody>
          <a:bodyPr wrap="square" lIns="0" rIns="0" tIns="0" bIns="0" anchor="t">
            <a:spAutoFit/>
          </a:bodyPr>
          <a:lstStyle/>
          <a:p>
            <a:r>
              <a:rPr sz="1200" b="1" i="0" spc="300">
                <a:solidFill>
                  <a:schemeClr val="accent1"/>
                </a:solidFill>
              </a:rPr>
              <a:t>PART 3 · TELLY</a:t>
            </a:r>
          </a:p>
        </p:txBody>
      </p:sp>
      <p:sp>
        <p:nvSpPr>
          <p:cNvPr id="4" name="TextBox 3"/>
          <p:cNvSpPr txBox="1"/>
          <p:nvPr/>
        </p:nvSpPr>
        <p:spPr>
          <a:xfrm>
            <a:off x="685800" y="6400800"/>
            <a:ext cx="6400800" cy="274320"/>
          </a:xfrm>
          <a:prstGeom prst="rect">
            <a:avLst/>
          </a:prstGeom>
          <a:noFill/>
        </p:spPr>
        <p:txBody>
          <a:bodyPr wrap="square" lIns="0" rIns="0" tIns="0" bIns="0" anchor="t">
            <a:spAutoFit/>
          </a:bodyPr>
          <a:lstStyle/>
          <a:p>
            <a:r>
              <a:rPr sz="1000" b="0" i="0">
                <a:solidFill>
                  <a:schemeClr val="tx2"/>
                </a:solidFill>
              </a:rPr>
              <a:t>Telly · stationary Rossby waves</a:t>
            </a:r>
          </a:p>
        </p:txBody>
      </p:sp>
      <p:sp>
        <p:nvSpPr>
          <p:cNvPr id="5" name="TextBox 4"/>
          <p:cNvSpPr txBox="1"/>
          <p:nvPr/>
        </p:nvSpPr>
        <p:spPr>
          <a:xfrm>
            <a:off x="10972800" y="6400800"/>
            <a:ext cx="548640" cy="274320"/>
          </a:xfrm>
          <a:prstGeom prst="rect">
            <a:avLst/>
          </a:prstGeom>
          <a:noFill/>
        </p:spPr>
        <p:txBody>
          <a:bodyPr wrap="none" lIns="0" rIns="0" tIns="0" bIns="0">
            <a:spAutoFit/>
          </a:bodyPr>
          <a:lstStyle/>
          <a:p>
            <a:pPr algn="r"/>
            <a:fld id="{B6F15528-21DE-4FAA-801E-634DDDAF4B2B}" type="slidenum">
              <a:rPr lang="en-US" sz="1000">
                <a:solidFill>
                  <a:schemeClr val="tx2"/>
                </a:solidFill>
              </a:rPr>
              <a:t>‹#›</a:t>
            </a:fld>
          </a:p>
        </p:txBody>
      </p:sp>
      <p:sp>
        <p:nvSpPr>
          <p:cNvPr id="6" name="Rounded Rectangle 5"/>
          <p:cNvSpPr/>
          <p:nvPr/>
        </p:nvSpPr>
        <p:spPr>
          <a:xfrm>
            <a:off x="685800" y="1783080"/>
            <a:ext cx="2377440" cy="1691640"/>
          </a:xfrm>
          <a:prstGeom prst="roundRect">
            <a:avLst>
              <a:gd name="adj" fmla="val 5000"/>
            </a:avLst>
          </a:prstGeom>
          <a:solidFill>
            <a:schemeClr val="bg1"/>
          </a:solidFill>
          <a:ln w="9525">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68680" y="1847088"/>
            <a:ext cx="914400" cy="548640"/>
          </a:xfrm>
          <a:prstGeom prst="rect">
            <a:avLst/>
          </a:prstGeom>
          <a:noFill/>
        </p:spPr>
        <p:txBody>
          <a:bodyPr wrap="square" lIns="0" rIns="0" tIns="0" bIns="0" anchor="t">
            <a:spAutoFit/>
          </a:bodyPr>
          <a:lstStyle/>
          <a:p>
            <a:r>
              <a:rPr sz="3200" b="1" i="0">
                <a:solidFill>
                  <a:schemeClr val="accent1"/>
                </a:solidFill>
                <a:latin typeface="+mj-lt"/>
              </a:rPr>
              <a:t>1</a:t>
            </a:r>
          </a:p>
        </p:txBody>
      </p:sp>
      <p:sp>
        <p:nvSpPr>
          <p:cNvPr id="8" name="TextBox 7"/>
          <p:cNvSpPr txBox="1"/>
          <p:nvPr/>
        </p:nvSpPr>
        <p:spPr>
          <a:xfrm>
            <a:off x="868680" y="2423160"/>
            <a:ext cx="2011680" cy="320040"/>
          </a:xfrm>
          <a:prstGeom prst="rect">
            <a:avLst/>
          </a:prstGeom>
          <a:noFill/>
        </p:spPr>
        <p:txBody>
          <a:bodyPr wrap="square" lIns="0" rIns="0" tIns="0" bIns="0" anchor="t">
            <a:spAutoFit/>
          </a:bodyPr>
          <a:lstStyle/>
          <a:p>
            <a:r>
              <a:rPr sz="1600" b="1" i="0">
                <a:solidFill>
                  <a:schemeClr val="tx1"/>
                </a:solidFill>
              </a:rPr>
              <a:t>Prepare inputs</a:t>
            </a:r>
          </a:p>
        </p:txBody>
      </p:sp>
      <p:sp>
        <p:nvSpPr>
          <p:cNvPr id="9" name="TextBox 8"/>
          <p:cNvSpPr txBox="1"/>
          <p:nvPr/>
        </p:nvSpPr>
        <p:spPr>
          <a:xfrm>
            <a:off x="868680" y="2788920"/>
            <a:ext cx="2011680" cy="640080"/>
          </a:xfrm>
          <a:prstGeom prst="rect">
            <a:avLst/>
          </a:prstGeom>
          <a:noFill/>
        </p:spPr>
        <p:txBody>
          <a:bodyPr wrap="square" lIns="0" rIns="0" tIns="0" bIns="0" anchor="t">
            <a:spAutoFit/>
          </a:bodyPr>
          <a:lstStyle/>
          <a:p>
            <a:r>
              <a:rPr sz="1400" b="0" i="0">
                <a:solidFill>
                  <a:schemeClr val="tx2"/>
                </a:solidFill>
              </a:rPr>
              <a:t>Put the data on the model grid</a:t>
            </a:r>
          </a:p>
        </p:txBody>
      </p:sp>
      <p:sp>
        <p:nvSpPr>
          <p:cNvPr id="10" name="Right Arrow 9"/>
          <p:cNvSpPr/>
          <p:nvPr/>
        </p:nvSpPr>
        <p:spPr>
          <a:xfrm>
            <a:off x="3144012" y="2514600"/>
            <a:ext cx="274320" cy="292608"/>
          </a:xfrm>
          <a:prstGeom prst="rightArrow">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499104" y="1783080"/>
            <a:ext cx="2377440" cy="1691640"/>
          </a:xfrm>
          <a:prstGeom prst="roundRect">
            <a:avLst>
              <a:gd name="adj" fmla="val 5000"/>
            </a:avLst>
          </a:prstGeom>
          <a:solidFill>
            <a:schemeClr val="bg1"/>
          </a:solidFill>
          <a:ln w="9525">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3681983" y="1847088"/>
            <a:ext cx="914400" cy="548640"/>
          </a:xfrm>
          <a:prstGeom prst="rect">
            <a:avLst/>
          </a:prstGeom>
          <a:noFill/>
        </p:spPr>
        <p:txBody>
          <a:bodyPr wrap="square" lIns="0" rIns="0" tIns="0" bIns="0" anchor="t">
            <a:spAutoFit/>
          </a:bodyPr>
          <a:lstStyle/>
          <a:p>
            <a:r>
              <a:rPr sz="3200" b="1" i="0">
                <a:solidFill>
                  <a:schemeClr val="accent1"/>
                </a:solidFill>
                <a:latin typeface="+mj-lt"/>
              </a:rPr>
              <a:t>2</a:t>
            </a:r>
          </a:p>
        </p:txBody>
      </p:sp>
      <p:sp>
        <p:nvSpPr>
          <p:cNvPr id="13" name="TextBox 12"/>
          <p:cNvSpPr txBox="1"/>
          <p:nvPr/>
        </p:nvSpPr>
        <p:spPr>
          <a:xfrm>
            <a:off x="3681983" y="2423160"/>
            <a:ext cx="2011680" cy="320040"/>
          </a:xfrm>
          <a:prstGeom prst="rect">
            <a:avLst/>
          </a:prstGeom>
          <a:noFill/>
        </p:spPr>
        <p:txBody>
          <a:bodyPr wrap="square" lIns="0" rIns="0" tIns="0" bIns="0" anchor="t">
            <a:spAutoFit/>
          </a:bodyPr>
          <a:lstStyle/>
          <a:p>
            <a:r>
              <a:rPr sz="1600" b="1" i="0">
                <a:solidFill>
                  <a:schemeClr val="tx1"/>
                </a:solidFill>
              </a:rPr>
              <a:t>Run the model</a:t>
            </a:r>
          </a:p>
        </p:txBody>
      </p:sp>
      <p:sp>
        <p:nvSpPr>
          <p:cNvPr id="14" name="TextBox 13"/>
          <p:cNvSpPr txBox="1"/>
          <p:nvPr/>
        </p:nvSpPr>
        <p:spPr>
          <a:xfrm>
            <a:off x="3681983" y="2788920"/>
            <a:ext cx="2011680" cy="640080"/>
          </a:xfrm>
          <a:prstGeom prst="rect">
            <a:avLst/>
          </a:prstGeom>
          <a:noFill/>
        </p:spPr>
        <p:txBody>
          <a:bodyPr wrap="square" lIns="0" rIns="0" tIns="0" bIns="0" anchor="t">
            <a:spAutoFit/>
          </a:bodyPr>
          <a:lstStyle/>
          <a:p>
            <a:r>
              <a:rPr sz="1400" b="0" i="0">
                <a:solidFill>
                  <a:schemeClr val="tx2"/>
                </a:solidFill>
              </a:rPr>
              <a:t>Step the equations forward in time</a:t>
            </a:r>
          </a:p>
        </p:txBody>
      </p:sp>
      <p:sp>
        <p:nvSpPr>
          <p:cNvPr id="15" name="Right Arrow 14"/>
          <p:cNvSpPr/>
          <p:nvPr/>
        </p:nvSpPr>
        <p:spPr>
          <a:xfrm>
            <a:off x="5957316" y="2514600"/>
            <a:ext cx="274320" cy="292608"/>
          </a:xfrm>
          <a:prstGeom prst="rightArrow">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312408" y="1783080"/>
            <a:ext cx="2377440" cy="1691640"/>
          </a:xfrm>
          <a:prstGeom prst="roundRect">
            <a:avLst>
              <a:gd name="adj" fmla="val 5000"/>
            </a:avLst>
          </a:prstGeom>
          <a:solidFill>
            <a:schemeClr val="bg1"/>
          </a:solidFill>
          <a:ln w="9525">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95288" y="1847088"/>
            <a:ext cx="914400" cy="548640"/>
          </a:xfrm>
          <a:prstGeom prst="rect">
            <a:avLst/>
          </a:prstGeom>
          <a:noFill/>
        </p:spPr>
        <p:txBody>
          <a:bodyPr wrap="square" lIns="0" rIns="0" tIns="0" bIns="0" anchor="t">
            <a:spAutoFit/>
          </a:bodyPr>
          <a:lstStyle/>
          <a:p>
            <a:r>
              <a:rPr sz="3200" b="1" i="0">
                <a:solidFill>
                  <a:schemeClr val="accent1"/>
                </a:solidFill>
                <a:latin typeface="+mj-lt"/>
              </a:rPr>
              <a:t>3</a:t>
            </a:r>
          </a:p>
        </p:txBody>
      </p:sp>
      <p:sp>
        <p:nvSpPr>
          <p:cNvPr id="18" name="TextBox 17"/>
          <p:cNvSpPr txBox="1"/>
          <p:nvPr/>
        </p:nvSpPr>
        <p:spPr>
          <a:xfrm>
            <a:off x="6495288" y="2423160"/>
            <a:ext cx="2011680" cy="320040"/>
          </a:xfrm>
          <a:prstGeom prst="rect">
            <a:avLst/>
          </a:prstGeom>
          <a:noFill/>
        </p:spPr>
        <p:txBody>
          <a:bodyPr wrap="square" lIns="0" rIns="0" tIns="0" bIns="0" anchor="t">
            <a:spAutoFit/>
          </a:bodyPr>
          <a:lstStyle/>
          <a:p>
            <a:r>
              <a:rPr sz="1600" b="1" i="0">
                <a:solidFill>
                  <a:schemeClr val="tx1"/>
                </a:solidFill>
              </a:rPr>
              <a:t>Convert</a:t>
            </a:r>
          </a:p>
        </p:txBody>
      </p:sp>
      <p:sp>
        <p:nvSpPr>
          <p:cNvPr id="19" name="TextBox 18"/>
          <p:cNvSpPr txBox="1"/>
          <p:nvPr/>
        </p:nvSpPr>
        <p:spPr>
          <a:xfrm>
            <a:off x="6495288" y="2788920"/>
            <a:ext cx="2011680" cy="640080"/>
          </a:xfrm>
          <a:prstGeom prst="rect">
            <a:avLst/>
          </a:prstGeom>
          <a:noFill/>
        </p:spPr>
        <p:txBody>
          <a:bodyPr wrap="square" lIns="0" rIns="0" tIns="0" bIns="0" anchor="t">
            <a:spAutoFit/>
          </a:bodyPr>
          <a:lstStyle/>
          <a:p>
            <a:r>
              <a:rPr sz="1400" b="0" i="0">
                <a:solidFill>
                  <a:schemeClr val="tx2"/>
                </a:solidFill>
              </a:rPr>
              <a:t>Interpolate to standard pressure levels</a:t>
            </a:r>
          </a:p>
        </p:txBody>
      </p:sp>
      <p:sp>
        <p:nvSpPr>
          <p:cNvPr id="20" name="Right Arrow 19"/>
          <p:cNvSpPr/>
          <p:nvPr/>
        </p:nvSpPr>
        <p:spPr>
          <a:xfrm>
            <a:off x="8770620" y="2514600"/>
            <a:ext cx="274320" cy="292608"/>
          </a:xfrm>
          <a:prstGeom prst="rightArrow">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125712" y="1783080"/>
            <a:ext cx="2377440" cy="1691640"/>
          </a:xfrm>
          <a:prstGeom prst="roundRect">
            <a:avLst>
              <a:gd name="adj" fmla="val 5000"/>
            </a:avLst>
          </a:prstGeom>
          <a:solidFill>
            <a:schemeClr val="bg1"/>
          </a:solidFill>
          <a:ln w="9525">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308592" y="1847088"/>
            <a:ext cx="914400" cy="548640"/>
          </a:xfrm>
          <a:prstGeom prst="rect">
            <a:avLst/>
          </a:prstGeom>
          <a:noFill/>
        </p:spPr>
        <p:txBody>
          <a:bodyPr wrap="square" lIns="0" rIns="0" tIns="0" bIns="0" anchor="t">
            <a:spAutoFit/>
          </a:bodyPr>
          <a:lstStyle/>
          <a:p>
            <a:r>
              <a:rPr sz="3200" b="1" i="0">
                <a:solidFill>
                  <a:schemeClr val="accent1"/>
                </a:solidFill>
                <a:latin typeface="+mj-lt"/>
              </a:rPr>
              <a:t>4</a:t>
            </a:r>
          </a:p>
        </p:txBody>
      </p:sp>
      <p:sp>
        <p:nvSpPr>
          <p:cNvPr id="23" name="TextBox 22"/>
          <p:cNvSpPr txBox="1"/>
          <p:nvPr/>
        </p:nvSpPr>
        <p:spPr>
          <a:xfrm>
            <a:off x="9308592" y="2423160"/>
            <a:ext cx="2011680" cy="320040"/>
          </a:xfrm>
          <a:prstGeom prst="rect">
            <a:avLst/>
          </a:prstGeom>
          <a:noFill/>
        </p:spPr>
        <p:txBody>
          <a:bodyPr wrap="square" lIns="0" rIns="0" tIns="0" bIns="0" anchor="t">
            <a:spAutoFit/>
          </a:bodyPr>
          <a:lstStyle/>
          <a:p>
            <a:r>
              <a:rPr sz="1600" b="1" i="0">
                <a:solidFill>
                  <a:schemeClr val="tx1"/>
                </a:solidFill>
              </a:rPr>
              <a:t>Make maps</a:t>
            </a:r>
          </a:p>
        </p:txBody>
      </p:sp>
      <p:sp>
        <p:nvSpPr>
          <p:cNvPr id="24" name="TextBox 23"/>
          <p:cNvSpPr txBox="1"/>
          <p:nvPr/>
        </p:nvSpPr>
        <p:spPr>
          <a:xfrm>
            <a:off x="9308592" y="2788920"/>
            <a:ext cx="2011680" cy="640080"/>
          </a:xfrm>
          <a:prstGeom prst="rect">
            <a:avLst/>
          </a:prstGeom>
          <a:noFill/>
        </p:spPr>
        <p:txBody>
          <a:bodyPr wrap="square" lIns="0" rIns="0" tIns="0" bIns="0" anchor="t">
            <a:spAutoFit/>
          </a:bodyPr>
          <a:lstStyle/>
          <a:p>
            <a:r>
              <a:rPr sz="1400" b="0" i="0">
                <a:solidFill>
                  <a:schemeClr val="tx2"/>
                </a:solidFill>
              </a:rPr>
              <a:t>Time means and differences</a:t>
            </a:r>
          </a:p>
        </p:txBody>
      </p:sp>
      <p:sp>
        <p:nvSpPr>
          <p:cNvPr id="25" name="Rounded Rectangle 24"/>
          <p:cNvSpPr/>
          <p:nvPr/>
        </p:nvSpPr>
        <p:spPr>
          <a:xfrm>
            <a:off x="685800" y="3703320"/>
            <a:ext cx="5120640" cy="2240280"/>
          </a:xfrm>
          <a:prstGeom prst="roundRect">
            <a:avLst>
              <a:gd name="adj" fmla="val 5000"/>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60120" y="3840480"/>
            <a:ext cx="4572000" cy="274320"/>
          </a:xfrm>
          <a:prstGeom prst="rect">
            <a:avLst/>
          </a:prstGeom>
          <a:noFill/>
        </p:spPr>
        <p:txBody>
          <a:bodyPr wrap="square" lIns="0" rIns="0" tIns="0" bIns="0" anchor="t">
            <a:spAutoFit/>
          </a:bodyPr>
          <a:lstStyle/>
          <a:p>
            <a:r>
              <a:rPr sz="1100" b="1" i="0" spc="300">
                <a:solidFill>
                  <a:schemeClr val="accent4"/>
                </a:solidFill>
              </a:rPr>
              <a:t>ONE SETTINGS FILE PER EXPERIMENT</a:t>
            </a:r>
          </a:p>
        </p:txBody>
      </p:sp>
      <p:sp>
        <p:nvSpPr>
          <p:cNvPr id="27" name="TextBox 26"/>
          <p:cNvSpPr txBox="1"/>
          <p:nvPr/>
        </p:nvSpPr>
        <p:spPr>
          <a:xfrm>
            <a:off x="960120" y="4251960"/>
            <a:ext cx="4572000" cy="1554480"/>
          </a:xfrm>
          <a:prstGeom prst="rect">
            <a:avLst/>
          </a:prstGeom>
          <a:noFill/>
        </p:spPr>
        <p:txBody>
          <a:bodyPr wrap="square" lIns="0" rIns="0" tIns="0" bIns="0" anchor="t">
            <a:spAutoFit/>
          </a:bodyPr>
          <a:lstStyle/>
          <a:p>
            <a:pPr>
              <a:spcAft>
                <a:spcPts val="400"/>
              </a:spcAft>
            </a:pPr>
            <a:r>
              <a:rPr sz="1600" b="0" i="0">
                <a:solidFill>
                  <a:schemeClr val="bg2"/>
                </a:solidFill>
              </a:rPr>
              <a:t>Mountains: real</a:t>
            </a:r>
          </a:p>
          <a:p>
            <a:pPr>
              <a:spcAft>
                <a:spcPts val="400"/>
              </a:spcAft>
            </a:pPr>
            <a:r>
              <a:rPr sz="1600" b="0" i="0">
                <a:solidFill>
                  <a:schemeClr val="bg2"/>
                </a:solidFill>
              </a:rPr>
              <a:t>Land–sea contrast: on</a:t>
            </a:r>
          </a:p>
          <a:p>
            <a:pPr>
              <a:spcAft>
                <a:spcPts val="400"/>
              </a:spcAft>
            </a:pPr>
            <a:r>
              <a:rPr sz="1600" b="0" i="0">
                <a:solidFill>
                  <a:schemeClr val="bg2"/>
                </a:solidFill>
              </a:rPr>
              <a:t>Heating: observed</a:t>
            </a:r>
          </a:p>
          <a:p>
            <a:pPr>
              <a:spcAft>
                <a:spcPts val="400"/>
              </a:spcAft>
            </a:pPr>
            <a:r>
              <a:rPr sz="1600" b="0" i="0">
                <a:solidFill>
                  <a:schemeClr val="bg2"/>
                </a:solidFill>
              </a:rPr>
              <a:t>Length: 5 years</a:t>
            </a:r>
          </a:p>
        </p:txBody>
      </p:sp>
      <p:sp>
        <p:nvSpPr>
          <p:cNvPr id="28" name="TextBox 27"/>
          <p:cNvSpPr txBox="1"/>
          <p:nvPr/>
        </p:nvSpPr>
        <p:spPr>
          <a:xfrm>
            <a:off x="6126480" y="3749039"/>
            <a:ext cx="5376672" cy="2194560"/>
          </a:xfrm>
          <a:prstGeom prst="rect">
            <a:avLst/>
          </a:prstGeom>
          <a:noFill/>
        </p:spPr>
        <p:txBody>
          <a:bodyPr wrap="square" lIns="0" rIns="0" tIns="0" bIns="0" anchor="t">
            <a:spAutoFit/>
          </a:bodyPr>
          <a:lstStyle/>
          <a:p>
            <a:pPr marL="285750" indent="-285750">
              <a:spcAft>
                <a:spcPts val="1000"/>
              </a:spcAft>
              <a:buChar char="•"/>
            </a:pPr>
            <a:r>
              <a:rPr sz="1600" b="0" i="0">
                <a:solidFill>
                  <a:schemeClr val="tx1"/>
                </a:solidFill>
              </a:rPr>
              <a:t>Inputs are prepared once and reused by every run</a:t>
            </a:r>
          </a:p>
          <a:p>
            <a:pPr marL="285750" indent="-285750">
              <a:spcAft>
                <a:spcPts val="1000"/>
              </a:spcAft>
              <a:buChar char="•"/>
            </a:pPr>
            <a:r>
              <a:rPr sz="1600" b="0" i="0">
                <a:solidFill>
                  <a:schemeClr val="tx1"/>
                </a:solidFill>
              </a:rPr>
              <a:t>Output is saved in 30-day files, so a run can be extended</a:t>
            </a:r>
          </a:p>
          <a:p>
            <a:pPr marL="285750" indent="-285750">
              <a:spcAft>
                <a:spcPts val="1000"/>
              </a:spcAft>
              <a:buChar char="•"/>
            </a:pPr>
            <a:r>
              <a:rPr sz="1600" b="0" i="0">
                <a:solidFill>
                  <a:schemeClr val="tx1"/>
                </a:solidFill>
              </a:rPr>
              <a:t>Each step can be run on its own</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777240"/>
            <a:ext cx="10817352" cy="868680"/>
          </a:xfrm>
        </p:spPr>
        <p:txBody>
          <a:bodyPr wrap="square" lIns="0" rIns="0" tIns="0" bIns="0" anchor="t"/>
          <a:lstStyle/>
          <a:p>
            <a:pPr algn="l"/>
            <a:r>
              <a:rPr sz="3600" b="1">
                <a:solidFill>
                  <a:schemeClr val="tx1"/>
                </a:solidFill>
                <a:latin typeface="+mj-lt"/>
              </a:rPr>
              <a:t>What Comes Out</a:t>
            </a:r>
          </a:p>
        </p:txBody>
      </p:sp>
      <p:sp>
        <p:nvSpPr>
          <p:cNvPr id="3" name="TextBox 2"/>
          <p:cNvSpPr txBox="1"/>
          <p:nvPr/>
        </p:nvSpPr>
        <p:spPr>
          <a:xfrm>
            <a:off x="685800" y="457200"/>
            <a:ext cx="10817352" cy="274320"/>
          </a:xfrm>
          <a:prstGeom prst="rect">
            <a:avLst/>
          </a:prstGeom>
          <a:noFill/>
        </p:spPr>
        <p:txBody>
          <a:bodyPr wrap="square" lIns="0" rIns="0" tIns="0" bIns="0" anchor="t">
            <a:spAutoFit/>
          </a:bodyPr>
          <a:lstStyle/>
          <a:p>
            <a:r>
              <a:rPr sz="1200" b="1" i="0" spc="300">
                <a:solidFill>
                  <a:schemeClr val="accent1"/>
                </a:solidFill>
              </a:rPr>
              <a:t>PART 3 · TELLY</a:t>
            </a:r>
          </a:p>
        </p:txBody>
      </p:sp>
      <p:sp>
        <p:nvSpPr>
          <p:cNvPr id="4" name="TextBox 3"/>
          <p:cNvSpPr txBox="1"/>
          <p:nvPr/>
        </p:nvSpPr>
        <p:spPr>
          <a:xfrm>
            <a:off x="685800" y="6400800"/>
            <a:ext cx="6400800" cy="274320"/>
          </a:xfrm>
          <a:prstGeom prst="rect">
            <a:avLst/>
          </a:prstGeom>
          <a:noFill/>
        </p:spPr>
        <p:txBody>
          <a:bodyPr wrap="square" lIns="0" rIns="0" tIns="0" bIns="0" anchor="t">
            <a:spAutoFit/>
          </a:bodyPr>
          <a:lstStyle/>
          <a:p>
            <a:r>
              <a:rPr sz="1000" b="0" i="0">
                <a:solidFill>
                  <a:schemeClr val="tx2"/>
                </a:solidFill>
              </a:rPr>
              <a:t>Telly · stationary Rossby waves</a:t>
            </a:r>
          </a:p>
        </p:txBody>
      </p:sp>
      <p:sp>
        <p:nvSpPr>
          <p:cNvPr id="5" name="TextBox 4"/>
          <p:cNvSpPr txBox="1"/>
          <p:nvPr/>
        </p:nvSpPr>
        <p:spPr>
          <a:xfrm>
            <a:off x="10972800" y="6400800"/>
            <a:ext cx="548640" cy="274320"/>
          </a:xfrm>
          <a:prstGeom prst="rect">
            <a:avLst/>
          </a:prstGeom>
          <a:noFill/>
        </p:spPr>
        <p:txBody>
          <a:bodyPr wrap="none" lIns="0" rIns="0" tIns="0" bIns="0">
            <a:spAutoFit/>
          </a:bodyPr>
          <a:lstStyle/>
          <a:p>
            <a:pPr algn="r"/>
            <a:fld id="{B6F15528-21DE-4FAA-801E-634DDDAF4B2B}" type="slidenum">
              <a:rPr lang="en-US" sz="1000">
                <a:solidFill>
                  <a:schemeClr val="tx2"/>
                </a:solidFill>
              </a:rPr>
              <a:t>‹#›</a:t>
            </a:fld>
          </a:p>
        </p:txBody>
      </p:sp>
      <p:graphicFrame>
        <p:nvGraphicFramePr>
          <p:cNvPr id="6" name="Table 5"/>
          <p:cNvGraphicFramePr>
            <a:graphicFrameLocks noGrp="1"/>
          </p:cNvGraphicFramePr>
          <p:nvPr/>
        </p:nvGraphicFramePr>
        <p:xfrm>
          <a:off x="685800" y="1783080"/>
          <a:ext cx="10817352" cy="2834640"/>
        </p:xfrm>
        <a:graphic>
          <a:graphicData uri="http://schemas.openxmlformats.org/drawingml/2006/table">
            <a:tbl>
              <a:tblPr firstRow="1" bandRow="1">
                <a:tableStyleId>{5C22544A-7EE6-4342-B048-85BDC9FD1C3A}</a:tableStyleId>
              </a:tblPr>
              <a:tblGrid>
                <a:gridCol w="2743200"/>
                <a:gridCol w="6400800"/>
                <a:gridCol w="1673352"/>
              </a:tblGrid>
              <a:tr h="566928">
                <a:tc>
                  <a:txBody>
                    <a:bodyPr wrap="square"/>
                    <a:lstStyle/>
                    <a:p>
                      <a:r>
                        <a:rPr sz="1500" b="1" i="0">
                          <a:solidFill>
                            <a:schemeClr val="bg2"/>
                          </a:solidFill>
                        </a:rPr>
                        <a:t>Output</a:t>
                      </a:r>
                    </a:p>
                  </a:txBody>
                  <a:tcPr marL="109728" marR="109728" marT="45720" marB="45720" anchor="ctr">
                    <a:solidFill>
                      <a:schemeClr val="tx1"/>
                    </a:solidFill>
                  </a:tcPr>
                </a:tc>
                <a:tc>
                  <a:txBody>
                    <a:bodyPr wrap="square"/>
                    <a:lstStyle/>
                    <a:p>
                      <a:r>
                        <a:rPr sz="1500" b="1" i="0">
                          <a:solidFill>
                            <a:schemeClr val="bg2"/>
                          </a:solidFill>
                        </a:rPr>
                        <a:t>Contents</a:t>
                      </a:r>
                    </a:p>
                  </a:txBody>
                  <a:tcPr marL="109728" marR="109728" marT="45720" marB="45720" anchor="ctr">
                    <a:solidFill>
                      <a:schemeClr val="tx1"/>
                    </a:solidFill>
                  </a:tcPr>
                </a:tc>
                <a:tc>
                  <a:txBody>
                    <a:bodyPr wrap="square"/>
                    <a:lstStyle/>
                    <a:p>
                      <a:r>
                        <a:rPr sz="1500" b="1" i="0">
                          <a:solidFill>
                            <a:schemeClr val="bg2"/>
                          </a:solidFill>
                        </a:rPr>
                        <a:t>Step</a:t>
                      </a:r>
                    </a:p>
                  </a:txBody>
                  <a:tcPr marL="109728" marR="109728" marT="45720" marB="45720" anchor="ctr">
                    <a:solidFill>
                      <a:schemeClr val="tx1"/>
                    </a:solidFill>
                  </a:tcPr>
                </a:tc>
              </a:tr>
              <a:tr h="566928">
                <a:tc>
                  <a:txBody>
                    <a:bodyPr wrap="square"/>
                    <a:lstStyle/>
                    <a:p>
                      <a:r>
                        <a:rPr sz="1500" b="1" i="0">
                          <a:solidFill>
                            <a:schemeClr val="tx1"/>
                          </a:solidFill>
                        </a:rPr>
                        <a:t>Daily model fields</a:t>
                      </a:r>
                    </a:p>
                  </a:txBody>
                  <a:tcPr marL="109728" marR="109728" marT="45720" marB="45720" anchor="ctr">
                    <a:solidFill>
                      <a:schemeClr val="bg1"/>
                    </a:solidFill>
                  </a:tcPr>
                </a:tc>
                <a:tc>
                  <a:txBody>
                    <a:bodyPr wrap="square"/>
                    <a:lstStyle/>
                    <a:p>
                      <a:r>
                        <a:rPr sz="1500" b="0" i="0">
                          <a:solidFill>
                            <a:schemeClr val="tx1"/>
                          </a:solidFill>
                        </a:rPr>
                        <a:t>Winds, temperature, height, heating and surface pressure in every layer, one file per 30 days</a:t>
                      </a:r>
                    </a:p>
                  </a:txBody>
                  <a:tcPr marL="109728" marR="109728" marT="45720" marB="45720" anchor="ctr">
                    <a:solidFill>
                      <a:schemeClr val="bg1"/>
                    </a:solidFill>
                  </a:tcPr>
                </a:tc>
                <a:tc>
                  <a:txBody>
                    <a:bodyPr wrap="square"/>
                    <a:lstStyle/>
                    <a:p>
                      <a:r>
                        <a:rPr sz="1500" b="0" i="0">
                          <a:solidFill>
                            <a:schemeClr val="tx1"/>
                          </a:solidFill>
                        </a:rPr>
                        <a:t>2</a:t>
                      </a:r>
                    </a:p>
                  </a:txBody>
                  <a:tcPr marL="109728" marR="109728" marT="45720" marB="45720" anchor="ctr">
                    <a:solidFill>
                      <a:schemeClr val="bg1"/>
                    </a:solidFill>
                  </a:tcPr>
                </a:tc>
              </a:tr>
              <a:tr h="566928">
                <a:tc>
                  <a:txBody>
                    <a:bodyPr wrap="square"/>
                    <a:lstStyle/>
                    <a:p>
                      <a:r>
                        <a:rPr sz="1500" b="1" i="0">
                          <a:solidFill>
                            <a:schemeClr val="tx1"/>
                          </a:solidFill>
                        </a:rPr>
                        <a:t>Saved state</a:t>
                      </a:r>
                    </a:p>
                  </a:txBody>
                  <a:tcPr marL="109728" marR="109728" marT="45720" marB="45720" anchor="ctr">
                    <a:solidFill>
                      <a:schemeClr val="accent6">
                        <a:lumMod val="45000"/>
                        <a:lumOff val="55000"/>
                      </a:schemeClr>
                    </a:solidFill>
                  </a:tcPr>
                </a:tc>
                <a:tc>
                  <a:txBody>
                    <a:bodyPr wrap="square"/>
                    <a:lstStyle/>
                    <a:p>
                      <a:r>
                        <a:rPr sz="1500" b="0" i="0">
                          <a:solidFill>
                            <a:schemeClr val="tx1"/>
                          </a:solidFill>
                        </a:rPr>
                        <a:t>Lets a run be continued where it stopped</a:t>
                      </a:r>
                    </a:p>
                  </a:txBody>
                  <a:tcPr marL="109728" marR="109728" marT="45720" marB="45720" anchor="ctr">
                    <a:solidFill>
                      <a:schemeClr val="accent6">
                        <a:lumMod val="45000"/>
                        <a:lumOff val="55000"/>
                      </a:schemeClr>
                    </a:solidFill>
                  </a:tcPr>
                </a:tc>
                <a:tc>
                  <a:txBody>
                    <a:bodyPr wrap="square"/>
                    <a:lstStyle/>
                    <a:p>
                      <a:r>
                        <a:rPr sz="1500" b="0" i="0">
                          <a:solidFill>
                            <a:schemeClr val="tx1"/>
                          </a:solidFill>
                        </a:rPr>
                        <a:t>2</a:t>
                      </a:r>
                    </a:p>
                  </a:txBody>
                  <a:tcPr marL="109728" marR="109728" marT="45720" marB="45720" anchor="ctr">
                    <a:solidFill>
                      <a:schemeClr val="accent6">
                        <a:lumMod val="45000"/>
                        <a:lumOff val="55000"/>
                      </a:schemeClr>
                    </a:solidFill>
                  </a:tcPr>
                </a:tc>
              </a:tr>
              <a:tr h="566928">
                <a:tc>
                  <a:txBody>
                    <a:bodyPr wrap="square"/>
                    <a:lstStyle/>
                    <a:p>
                      <a:r>
                        <a:rPr sz="1500" b="1" i="0">
                          <a:solidFill>
                            <a:schemeClr val="tx1"/>
                          </a:solidFill>
                        </a:rPr>
                        <a:t>Pressure-level fields</a:t>
                      </a:r>
                    </a:p>
                  </a:txBody>
                  <a:tcPr marL="109728" marR="109728" marT="45720" marB="45720" anchor="ctr">
                    <a:solidFill>
                      <a:schemeClr val="bg1"/>
                    </a:solidFill>
                  </a:tcPr>
                </a:tc>
                <a:tc>
                  <a:txBody>
                    <a:bodyPr wrap="square"/>
                    <a:lstStyle/>
                    <a:p>
                      <a:r>
                        <a:rPr sz="1500" b="0" i="0">
                          <a:solidFill>
                            <a:schemeClr val="tx1"/>
                          </a:solidFill>
                        </a:rPr>
                        <a:t>Winds, temperature and height at 850, 500, 300 and 200 hPa</a:t>
                      </a:r>
                    </a:p>
                  </a:txBody>
                  <a:tcPr marL="109728" marR="109728" marT="45720" marB="45720" anchor="ctr">
                    <a:solidFill>
                      <a:schemeClr val="bg1"/>
                    </a:solidFill>
                  </a:tcPr>
                </a:tc>
                <a:tc>
                  <a:txBody>
                    <a:bodyPr wrap="square"/>
                    <a:lstStyle/>
                    <a:p>
                      <a:r>
                        <a:rPr sz="1500" b="0" i="0">
                          <a:solidFill>
                            <a:schemeClr val="tx1"/>
                          </a:solidFill>
                        </a:rPr>
                        <a:t>3</a:t>
                      </a:r>
                    </a:p>
                  </a:txBody>
                  <a:tcPr marL="109728" marR="109728" marT="45720" marB="45720" anchor="ctr">
                    <a:solidFill>
                      <a:schemeClr val="bg1"/>
                    </a:solidFill>
                  </a:tcPr>
                </a:tc>
              </a:tr>
              <a:tr h="566928">
                <a:tc>
                  <a:txBody>
                    <a:bodyPr wrap="square"/>
                    <a:lstStyle/>
                    <a:p>
                      <a:r>
                        <a:rPr sz="1500" b="1" i="0">
                          <a:solidFill>
                            <a:schemeClr val="tx1"/>
                          </a:solidFill>
                        </a:rPr>
                        <a:t>Figures</a:t>
                      </a:r>
                    </a:p>
                  </a:txBody>
                  <a:tcPr marL="109728" marR="109728" marT="45720" marB="45720" anchor="ctr">
                    <a:solidFill>
                      <a:schemeClr val="accent6">
                        <a:lumMod val="45000"/>
                        <a:lumOff val="55000"/>
                      </a:schemeClr>
                    </a:solidFill>
                  </a:tcPr>
                </a:tc>
                <a:tc>
                  <a:txBody>
                    <a:bodyPr wrap="square"/>
                    <a:lstStyle/>
                    <a:p>
                      <a:r>
                        <a:rPr sz="1500" b="0" i="0">
                          <a:solidFill>
                            <a:schemeClr val="tx1"/>
                          </a:solidFill>
                        </a:rPr>
                        <a:t>Time-mean maps and differences from a control run</a:t>
                      </a:r>
                    </a:p>
                  </a:txBody>
                  <a:tcPr marL="109728" marR="109728" marT="45720" marB="45720" anchor="ctr">
                    <a:solidFill>
                      <a:schemeClr val="accent6">
                        <a:lumMod val="45000"/>
                        <a:lumOff val="55000"/>
                      </a:schemeClr>
                    </a:solidFill>
                  </a:tcPr>
                </a:tc>
                <a:tc>
                  <a:txBody>
                    <a:bodyPr wrap="square"/>
                    <a:lstStyle/>
                    <a:p>
                      <a:r>
                        <a:rPr sz="1500" b="0" i="0">
                          <a:solidFill>
                            <a:schemeClr val="tx1"/>
                          </a:solidFill>
                        </a:rPr>
                        <a:t>4</a:t>
                      </a:r>
                    </a:p>
                  </a:txBody>
                  <a:tcPr marL="109728" marR="109728" marT="45720" marB="45720" anchor="ctr">
                    <a:solidFill>
                      <a:schemeClr val="accent6">
                        <a:lumMod val="45000"/>
                        <a:lumOff val="55000"/>
                      </a:schemeClr>
                    </a:solidFill>
                  </a:tcPr>
                </a:tc>
              </a:tr>
            </a:tbl>
          </a:graphicData>
        </a:graphic>
      </p:graphicFrame>
      <p:sp>
        <p:nvSpPr>
          <p:cNvPr id="7" name="Rounded Rectangle 6"/>
          <p:cNvSpPr/>
          <p:nvPr/>
        </p:nvSpPr>
        <p:spPr>
          <a:xfrm>
            <a:off x="685800" y="4572000"/>
            <a:ext cx="5271516" cy="1371600"/>
          </a:xfrm>
          <a:prstGeom prst="roundRect">
            <a:avLst>
              <a:gd name="adj" fmla="val 5000"/>
            </a:avLst>
          </a:prstGeom>
          <a:solidFill>
            <a:schemeClr val="bg1"/>
          </a:solidFill>
          <a:ln w="9525">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60120" y="4663440"/>
            <a:ext cx="2743200" cy="731520"/>
          </a:xfrm>
          <a:prstGeom prst="rect">
            <a:avLst/>
          </a:prstGeom>
          <a:noFill/>
        </p:spPr>
        <p:txBody>
          <a:bodyPr wrap="square" lIns="0" rIns="0" tIns="0" bIns="0" anchor="t">
            <a:spAutoFit/>
          </a:bodyPr>
          <a:lstStyle/>
          <a:p>
            <a:r>
              <a:rPr sz="3600" b="1" i="0">
                <a:solidFill>
                  <a:schemeClr val="accent1"/>
                </a:solidFill>
                <a:latin typeface="+mj-lt"/>
              </a:rPr>
              <a:t>61</a:t>
            </a:r>
          </a:p>
        </p:txBody>
      </p:sp>
      <p:sp>
        <p:nvSpPr>
          <p:cNvPr id="9" name="TextBox 8"/>
          <p:cNvSpPr txBox="1"/>
          <p:nvPr/>
        </p:nvSpPr>
        <p:spPr>
          <a:xfrm>
            <a:off x="960120" y="5440680"/>
            <a:ext cx="4722876" cy="411480"/>
          </a:xfrm>
          <a:prstGeom prst="rect">
            <a:avLst/>
          </a:prstGeom>
          <a:noFill/>
        </p:spPr>
        <p:txBody>
          <a:bodyPr wrap="square" lIns="0" rIns="0" tIns="0" bIns="0" anchor="t">
            <a:spAutoFit/>
          </a:bodyPr>
          <a:lstStyle/>
          <a:p>
            <a:r>
              <a:rPr sz="1400" b="0" i="0">
                <a:solidFill>
                  <a:schemeClr val="tx2"/>
                </a:solidFill>
              </a:rPr>
              <a:t>30-day files make up a 5-year run</a:t>
            </a:r>
          </a:p>
        </p:txBody>
      </p:sp>
      <p:sp>
        <p:nvSpPr>
          <p:cNvPr id="10" name="Rounded Rectangle 9"/>
          <p:cNvSpPr/>
          <p:nvPr/>
        </p:nvSpPr>
        <p:spPr>
          <a:xfrm>
            <a:off x="6231636" y="4572000"/>
            <a:ext cx="5271516" cy="1371600"/>
          </a:xfrm>
          <a:prstGeom prst="roundRect">
            <a:avLst>
              <a:gd name="adj" fmla="val 5000"/>
            </a:avLst>
          </a:prstGeom>
          <a:solidFill>
            <a:schemeClr val="bg1"/>
          </a:solidFill>
          <a:ln w="9525">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05955" y="4663440"/>
            <a:ext cx="2743200" cy="731520"/>
          </a:xfrm>
          <a:prstGeom prst="rect">
            <a:avLst/>
          </a:prstGeom>
          <a:noFill/>
        </p:spPr>
        <p:txBody>
          <a:bodyPr wrap="square" lIns="0" rIns="0" tIns="0" bIns="0" anchor="t">
            <a:spAutoFit/>
          </a:bodyPr>
          <a:lstStyle/>
          <a:p>
            <a:r>
              <a:rPr sz="3600" b="1" i="0">
                <a:solidFill>
                  <a:schemeClr val="accent1"/>
                </a:solidFill>
                <a:latin typeface="+mj-lt"/>
              </a:rPr>
              <a:t>≈ 0.5 GB</a:t>
            </a:r>
          </a:p>
        </p:txBody>
      </p:sp>
      <p:sp>
        <p:nvSpPr>
          <p:cNvPr id="12" name="TextBox 11"/>
          <p:cNvSpPr txBox="1"/>
          <p:nvPr/>
        </p:nvSpPr>
        <p:spPr>
          <a:xfrm>
            <a:off x="6505955" y="5440680"/>
            <a:ext cx="4722876" cy="411480"/>
          </a:xfrm>
          <a:prstGeom prst="rect">
            <a:avLst/>
          </a:prstGeom>
          <a:noFill/>
        </p:spPr>
        <p:txBody>
          <a:bodyPr wrap="square" lIns="0" rIns="0" tIns="0" bIns="0" anchor="t">
            <a:spAutoFit/>
          </a:bodyPr>
          <a:lstStyle/>
          <a:p>
            <a:r>
              <a:rPr sz="1400" b="0" i="0">
                <a:solidFill>
                  <a:schemeClr val="tx2"/>
                </a:solidFill>
              </a:rPr>
              <a:t>per file, about 33 GB for 5 years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chemeClr val="tx1"/>
        </a:solidFill>
        <a:effectLst/>
      </p:bgPr>
    </p:bg>
    <p:spTree>
      <p:nvGrpSpPr>
        <p:cNvPr id="1" name=""/>
        <p:cNvGrpSpPr/>
        <p:nvPr/>
      </p:nvGrpSpPr>
      <p:grpSpPr/>
      <p:sp>
        <p:nvSpPr>
          <p:cNvPr id="2" name="Title 1"/>
          <p:cNvSpPr>
            <a:spLocks noGrp="1"/>
          </p:cNvSpPr>
          <p:nvPr>
            <p:ph type="title"/>
          </p:nvPr>
        </p:nvSpPr>
        <p:spPr>
          <a:xfrm>
            <a:off x="822960" y="3657600"/>
            <a:ext cx="10515600" cy="1097280"/>
          </a:xfrm>
        </p:spPr>
        <p:txBody>
          <a:bodyPr wrap="square" lIns="0" rIns="0" tIns="0" bIns="0" anchor="t"/>
          <a:lstStyle/>
          <a:p>
            <a:pPr algn="l"/>
            <a:r>
              <a:rPr sz="6000" b="1">
                <a:solidFill>
                  <a:schemeClr val="bg2"/>
                </a:solidFill>
                <a:latin typeface="+mj-lt"/>
              </a:rPr>
              <a:t>Experiments</a:t>
            </a:r>
          </a:p>
        </p:txBody>
      </p:sp>
      <p:sp>
        <p:nvSpPr>
          <p:cNvPr id="3" name="TextBox 2"/>
          <p:cNvSpPr txBox="1"/>
          <p:nvPr/>
        </p:nvSpPr>
        <p:spPr>
          <a:xfrm>
            <a:off x="822960" y="3246120"/>
            <a:ext cx="10058400" cy="365760"/>
          </a:xfrm>
          <a:prstGeom prst="rect">
            <a:avLst/>
          </a:prstGeom>
          <a:noFill/>
        </p:spPr>
        <p:txBody>
          <a:bodyPr wrap="square" lIns="0" rIns="0" tIns="0" bIns="0" anchor="t">
            <a:spAutoFit/>
          </a:bodyPr>
          <a:lstStyle/>
          <a:p>
            <a:r>
              <a:rPr sz="1400" b="1" i="0" spc="400">
                <a:solidFill>
                  <a:schemeClr val="accent4"/>
                </a:solidFill>
              </a:rPr>
              <a:t>PART 4</a:t>
            </a:r>
          </a:p>
        </p:txBody>
      </p:sp>
      <p:sp>
        <p:nvSpPr>
          <p:cNvPr id="4" name="TextBox 3"/>
          <p:cNvSpPr txBox="1"/>
          <p:nvPr/>
        </p:nvSpPr>
        <p:spPr>
          <a:xfrm>
            <a:off x="822960" y="4892040"/>
            <a:ext cx="10058400" cy="548640"/>
          </a:xfrm>
          <a:prstGeom prst="rect">
            <a:avLst/>
          </a:prstGeom>
          <a:noFill/>
        </p:spPr>
        <p:txBody>
          <a:bodyPr wrap="square" lIns="0" rIns="0" tIns="0" bIns="0" anchor="t">
            <a:spAutoFit/>
          </a:bodyPr>
          <a:lstStyle/>
          <a:p>
            <a:r>
              <a:rPr sz="2200" b="0" i="0">
                <a:solidFill>
                  <a:schemeClr val="accent5"/>
                </a:solidFill>
              </a:rPr>
              <a:t>Three forcings switched on one at a time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777240"/>
            <a:ext cx="10817352" cy="868680"/>
          </a:xfrm>
        </p:spPr>
        <p:txBody>
          <a:bodyPr wrap="square" lIns="0" rIns="0" tIns="0" bIns="0" anchor="t"/>
          <a:lstStyle/>
          <a:p>
            <a:pPr algn="l"/>
            <a:r>
              <a:rPr sz="3600" b="1">
                <a:solidFill>
                  <a:schemeClr val="tx1"/>
                </a:solidFill>
                <a:latin typeface="+mj-lt"/>
              </a:rPr>
              <a:t>Three Forcings, Each On or Off</a:t>
            </a:r>
          </a:p>
        </p:txBody>
      </p:sp>
      <p:sp>
        <p:nvSpPr>
          <p:cNvPr id="3" name="TextBox 2"/>
          <p:cNvSpPr txBox="1"/>
          <p:nvPr/>
        </p:nvSpPr>
        <p:spPr>
          <a:xfrm>
            <a:off x="685800" y="457200"/>
            <a:ext cx="10817352" cy="274320"/>
          </a:xfrm>
          <a:prstGeom prst="rect">
            <a:avLst/>
          </a:prstGeom>
          <a:noFill/>
        </p:spPr>
        <p:txBody>
          <a:bodyPr wrap="square" lIns="0" rIns="0" tIns="0" bIns="0" anchor="t">
            <a:spAutoFit/>
          </a:bodyPr>
          <a:lstStyle/>
          <a:p>
            <a:r>
              <a:rPr sz="1200" b="1" i="0" spc="300">
                <a:solidFill>
                  <a:schemeClr val="accent1"/>
                </a:solidFill>
              </a:rPr>
              <a:t>PART 4 · EXPERIMENTS</a:t>
            </a:r>
          </a:p>
        </p:txBody>
      </p:sp>
      <p:sp>
        <p:nvSpPr>
          <p:cNvPr id="4" name="TextBox 3"/>
          <p:cNvSpPr txBox="1"/>
          <p:nvPr/>
        </p:nvSpPr>
        <p:spPr>
          <a:xfrm>
            <a:off x="685800" y="6400800"/>
            <a:ext cx="6400800" cy="274320"/>
          </a:xfrm>
          <a:prstGeom prst="rect">
            <a:avLst/>
          </a:prstGeom>
          <a:noFill/>
        </p:spPr>
        <p:txBody>
          <a:bodyPr wrap="square" lIns="0" rIns="0" tIns="0" bIns="0" anchor="t">
            <a:spAutoFit/>
          </a:bodyPr>
          <a:lstStyle/>
          <a:p>
            <a:r>
              <a:rPr sz="1000" b="0" i="0">
                <a:solidFill>
                  <a:schemeClr val="tx2"/>
                </a:solidFill>
              </a:rPr>
              <a:t>Telly · stationary Rossby waves</a:t>
            </a:r>
          </a:p>
        </p:txBody>
      </p:sp>
      <p:sp>
        <p:nvSpPr>
          <p:cNvPr id="5" name="TextBox 4"/>
          <p:cNvSpPr txBox="1"/>
          <p:nvPr/>
        </p:nvSpPr>
        <p:spPr>
          <a:xfrm>
            <a:off x="10972800" y="6400800"/>
            <a:ext cx="548640" cy="274320"/>
          </a:xfrm>
          <a:prstGeom prst="rect">
            <a:avLst/>
          </a:prstGeom>
          <a:noFill/>
        </p:spPr>
        <p:txBody>
          <a:bodyPr wrap="none" lIns="0" rIns="0" tIns="0" bIns="0">
            <a:spAutoFit/>
          </a:bodyPr>
          <a:lstStyle/>
          <a:p>
            <a:pPr algn="r"/>
            <a:fld id="{B6F15528-21DE-4FAA-801E-634DDDAF4B2B}" type="slidenum">
              <a:rPr lang="en-US" sz="1000">
                <a:solidFill>
                  <a:schemeClr val="tx2"/>
                </a:solidFill>
              </a:rPr>
              <a:t>‹#›</a:t>
            </a:fld>
          </a:p>
        </p:txBody>
      </p:sp>
      <p:graphicFrame>
        <p:nvGraphicFramePr>
          <p:cNvPr id="6" name="Table 5"/>
          <p:cNvGraphicFramePr>
            <a:graphicFrameLocks noGrp="1"/>
          </p:cNvGraphicFramePr>
          <p:nvPr/>
        </p:nvGraphicFramePr>
        <p:xfrm>
          <a:off x="685800" y="1783080"/>
          <a:ext cx="10817352" cy="2926080"/>
        </p:xfrm>
        <a:graphic>
          <a:graphicData uri="http://schemas.openxmlformats.org/drawingml/2006/table">
            <a:tbl>
              <a:tblPr firstRow="1" bandRow="1">
                <a:tableStyleId>{5C22544A-7EE6-4342-B048-85BDC9FD1C3A}</a:tableStyleId>
              </a:tblPr>
              <a:tblGrid>
                <a:gridCol w="2194560"/>
                <a:gridCol w="3017520"/>
                <a:gridCol w="3017520"/>
                <a:gridCol w="2587752"/>
              </a:tblGrid>
              <a:tr h="731520">
                <a:tc>
                  <a:txBody>
                    <a:bodyPr wrap="square"/>
                    <a:lstStyle/>
                    <a:p>
                      <a:r>
                        <a:rPr sz="1500" b="1" i="0">
                          <a:solidFill>
                            <a:schemeClr val="bg2"/>
                          </a:solidFill>
                        </a:rPr>
                        <a:t>Forcing</a:t>
                      </a:r>
                    </a:p>
                  </a:txBody>
                  <a:tcPr marL="109728" marR="109728" marT="45720" marB="45720" anchor="ctr">
                    <a:solidFill>
                      <a:schemeClr val="tx1"/>
                    </a:solidFill>
                  </a:tcPr>
                </a:tc>
                <a:tc>
                  <a:txBody>
                    <a:bodyPr wrap="square"/>
                    <a:lstStyle/>
                    <a:p>
                      <a:r>
                        <a:rPr sz="1500" b="1" i="0">
                          <a:solidFill>
                            <a:schemeClr val="bg2"/>
                          </a:solidFill>
                        </a:rPr>
                        <a:t>Off</a:t>
                      </a:r>
                    </a:p>
                  </a:txBody>
                  <a:tcPr marL="109728" marR="109728" marT="45720" marB="45720" anchor="ctr">
                    <a:solidFill>
                      <a:schemeClr val="tx1"/>
                    </a:solidFill>
                  </a:tcPr>
                </a:tc>
                <a:tc>
                  <a:txBody>
                    <a:bodyPr wrap="square"/>
                    <a:lstStyle/>
                    <a:p>
                      <a:r>
                        <a:rPr sz="1500" b="1" i="0">
                          <a:solidFill>
                            <a:schemeClr val="bg2"/>
                          </a:solidFill>
                        </a:rPr>
                        <a:t>On</a:t>
                      </a:r>
                    </a:p>
                  </a:txBody>
                  <a:tcPr marL="109728" marR="109728" marT="45720" marB="45720" anchor="ctr">
                    <a:solidFill>
                      <a:schemeClr val="tx1"/>
                    </a:solidFill>
                  </a:tcPr>
                </a:tc>
                <a:tc>
                  <a:txBody>
                    <a:bodyPr wrap="square"/>
                    <a:lstStyle/>
                    <a:p>
                      <a:r>
                        <a:rPr sz="1500" b="1" i="0">
                          <a:solidFill>
                            <a:schemeClr val="bg2"/>
                          </a:solidFill>
                        </a:rPr>
                        <a:t>What it changes</a:t>
                      </a:r>
                    </a:p>
                  </a:txBody>
                  <a:tcPr marL="109728" marR="109728" marT="45720" marB="45720" anchor="ctr">
                    <a:solidFill>
                      <a:schemeClr val="tx1"/>
                    </a:solidFill>
                  </a:tcPr>
                </a:tc>
              </a:tr>
              <a:tr h="731520">
                <a:tc>
                  <a:txBody>
                    <a:bodyPr wrap="square"/>
                    <a:lstStyle/>
                    <a:p>
                      <a:r>
                        <a:rPr sz="1500" b="1" i="0">
                          <a:solidFill>
                            <a:schemeClr val="tx1"/>
                          </a:solidFill>
                        </a:rPr>
                        <a:t>Mountains</a:t>
                      </a:r>
                    </a:p>
                  </a:txBody>
                  <a:tcPr marL="109728" marR="109728" marT="45720" marB="45720" anchor="ctr">
                    <a:solidFill>
                      <a:schemeClr val="bg1"/>
                    </a:solidFill>
                  </a:tcPr>
                </a:tc>
                <a:tc>
                  <a:txBody>
                    <a:bodyPr wrap="square"/>
                    <a:lstStyle/>
                    <a:p>
                      <a:r>
                        <a:rPr sz="1500" b="0" i="0">
                          <a:solidFill>
                            <a:schemeClr val="tx1"/>
                          </a:solidFill>
                        </a:rPr>
                        <a:t>Flat: ground height set to zero</a:t>
                      </a:r>
                    </a:p>
                  </a:txBody>
                  <a:tcPr marL="109728" marR="109728" marT="45720" marB="45720" anchor="ctr">
                    <a:solidFill>
                      <a:schemeClr val="bg1"/>
                    </a:solidFill>
                  </a:tcPr>
                </a:tc>
                <a:tc>
                  <a:txBody>
                    <a:bodyPr wrap="square"/>
                    <a:lstStyle/>
                    <a:p>
                      <a:r>
                        <a:rPr sz="1500" b="0" i="0">
                          <a:solidFill>
                            <a:schemeClr val="tx1"/>
                          </a:solidFill>
                        </a:rPr>
                        <a:t>Real topography</a:t>
                      </a:r>
                    </a:p>
                  </a:txBody>
                  <a:tcPr marL="109728" marR="109728" marT="45720" marB="45720" anchor="ctr">
                    <a:solidFill>
                      <a:schemeClr val="bg1"/>
                    </a:solidFill>
                  </a:tcPr>
                </a:tc>
                <a:tc>
                  <a:txBody>
                    <a:bodyPr wrap="square"/>
                    <a:lstStyle/>
                    <a:p>
                      <a:r>
                        <a:rPr sz="1500" b="0" i="0">
                          <a:solidFill>
                            <a:schemeClr val="tx1"/>
                          </a:solidFill>
                        </a:rPr>
                        <a:t>The ground under the air</a:t>
                      </a:r>
                    </a:p>
                  </a:txBody>
                  <a:tcPr marL="109728" marR="109728" marT="45720" marB="45720" anchor="ctr">
                    <a:solidFill>
                      <a:schemeClr val="bg1"/>
                    </a:solidFill>
                  </a:tcPr>
                </a:tc>
              </a:tr>
              <a:tr h="731520">
                <a:tc>
                  <a:txBody>
                    <a:bodyPr wrap="square"/>
                    <a:lstStyle/>
                    <a:p>
                      <a:r>
                        <a:rPr sz="1500" b="1" i="0">
                          <a:solidFill>
                            <a:schemeClr val="tx1"/>
                          </a:solidFill>
                        </a:rPr>
                        <a:t>Land–sea contrast</a:t>
                      </a:r>
                    </a:p>
                  </a:txBody>
                  <a:tcPr marL="109728" marR="109728" marT="45720" marB="45720" anchor="ctr">
                    <a:solidFill>
                      <a:schemeClr val="accent6">
                        <a:lumMod val="45000"/>
                        <a:lumOff val="55000"/>
                      </a:schemeClr>
                    </a:solidFill>
                  </a:tcPr>
                </a:tc>
                <a:tc>
                  <a:txBody>
                    <a:bodyPr wrap="square"/>
                    <a:lstStyle/>
                    <a:p>
                      <a:r>
                        <a:rPr sz="1500" b="0" i="0">
                          <a:solidFill>
                            <a:schemeClr val="tx1"/>
                          </a:solidFill>
                        </a:rPr>
                        <a:t>Background temperature the same at every longitude</a:t>
                      </a:r>
                    </a:p>
                  </a:txBody>
                  <a:tcPr marL="109728" marR="109728" marT="45720" marB="45720" anchor="ctr">
                    <a:solidFill>
                      <a:schemeClr val="accent6">
                        <a:lumMod val="45000"/>
                        <a:lumOff val="55000"/>
                      </a:schemeClr>
                    </a:solidFill>
                  </a:tcPr>
                </a:tc>
                <a:tc>
                  <a:txBody>
                    <a:bodyPr wrap="square"/>
                    <a:lstStyle/>
                    <a:p>
                      <a:r>
                        <a:rPr sz="1500" b="0" i="0">
                          <a:solidFill>
                            <a:schemeClr val="tx1"/>
                          </a:solidFill>
                        </a:rPr>
                        <a:t>Observed land–ocean temperature differences added</a:t>
                      </a:r>
                    </a:p>
                  </a:txBody>
                  <a:tcPr marL="109728" marR="109728" marT="45720" marB="45720" anchor="ctr">
                    <a:solidFill>
                      <a:schemeClr val="accent6">
                        <a:lumMod val="45000"/>
                        <a:lumOff val="55000"/>
                      </a:schemeClr>
                    </a:solidFill>
                  </a:tcPr>
                </a:tc>
                <a:tc>
                  <a:txBody>
                    <a:bodyPr wrap="square"/>
                    <a:lstStyle/>
                    <a:p>
                      <a:r>
                        <a:rPr sz="1500" b="0" i="0">
                          <a:solidFill>
                            <a:schemeClr val="tx1"/>
                          </a:solidFill>
                        </a:rPr>
                        <a:t>The background temperature</a:t>
                      </a:r>
                    </a:p>
                  </a:txBody>
                  <a:tcPr marL="109728" marR="109728" marT="45720" marB="45720" anchor="ctr">
                    <a:solidFill>
                      <a:schemeClr val="accent6">
                        <a:lumMod val="45000"/>
                        <a:lumOff val="55000"/>
                      </a:schemeClr>
                    </a:solidFill>
                  </a:tcPr>
                </a:tc>
              </a:tr>
              <a:tr h="731520">
                <a:tc>
                  <a:txBody>
                    <a:bodyPr wrap="square"/>
                    <a:lstStyle/>
                    <a:p>
                      <a:r>
                        <a:rPr sz="1500" b="1" i="0">
                          <a:solidFill>
                            <a:schemeClr val="tx1"/>
                          </a:solidFill>
                        </a:rPr>
                        <a:t>Diabatic heating</a:t>
                      </a:r>
                    </a:p>
                  </a:txBody>
                  <a:tcPr marL="109728" marR="109728" marT="45720" marB="45720" anchor="ctr">
                    <a:solidFill>
                      <a:schemeClr val="bg1"/>
                    </a:solidFill>
                  </a:tcPr>
                </a:tc>
                <a:tc>
                  <a:txBody>
                    <a:bodyPr wrap="square"/>
                    <a:lstStyle/>
                    <a:p>
                      <a:r>
                        <a:rPr sz="1500" b="0" i="0">
                          <a:solidFill>
                            <a:schemeClr val="tx1"/>
                          </a:solidFill>
                        </a:rPr>
                        <a:t>Rainfall the same at every longitude</a:t>
                      </a:r>
                    </a:p>
                  </a:txBody>
                  <a:tcPr marL="109728" marR="109728" marT="45720" marB="45720" anchor="ctr">
                    <a:solidFill>
                      <a:schemeClr val="bg1"/>
                    </a:solidFill>
                  </a:tcPr>
                </a:tc>
                <a:tc>
                  <a:txBody>
                    <a:bodyPr wrap="square"/>
                    <a:lstStyle/>
                    <a:p>
                      <a:r>
                        <a:rPr sz="1500" b="0" i="0">
                          <a:solidFill>
                            <a:schemeClr val="tx1"/>
                          </a:solidFill>
                        </a:rPr>
                        <a:t>Observed rainfall</a:t>
                      </a:r>
                    </a:p>
                  </a:txBody>
                  <a:tcPr marL="109728" marR="109728" marT="45720" marB="45720" anchor="ctr">
                    <a:solidFill>
                      <a:schemeClr val="bg1"/>
                    </a:solidFill>
                  </a:tcPr>
                </a:tc>
                <a:tc>
                  <a:txBody>
                    <a:bodyPr wrap="square"/>
                    <a:lstStyle/>
                    <a:p>
                      <a:r>
                        <a:rPr sz="1500" b="0" i="0">
                          <a:solidFill>
                            <a:schemeClr val="tx1"/>
                          </a:solidFill>
                        </a:rPr>
                        <a:t>The latent heating, Q/cp</a:t>
                      </a:r>
                    </a:p>
                  </a:txBody>
                  <a:tcPr marL="109728" marR="109728" marT="45720" marB="45720" anchor="ctr">
                    <a:solidFill>
                      <a:schemeClr val="bg1"/>
                    </a:solidFill>
                  </a:tcPr>
                </a:tc>
              </a:tr>
            </a:tbl>
          </a:graphicData>
        </a:graphic>
      </p:graphicFrame>
      <p:sp>
        <p:nvSpPr>
          <p:cNvPr id="7" name="TextBox 6"/>
          <p:cNvSpPr txBox="1"/>
          <p:nvPr/>
        </p:nvSpPr>
        <p:spPr>
          <a:xfrm>
            <a:off x="685800" y="4846320"/>
            <a:ext cx="10817352" cy="731520"/>
          </a:xfrm>
          <a:prstGeom prst="rect">
            <a:avLst/>
          </a:prstGeom>
          <a:noFill/>
        </p:spPr>
        <p:txBody>
          <a:bodyPr wrap="square" lIns="0" rIns="0" tIns="0" bIns="0" anchor="t">
            <a:spAutoFit/>
          </a:bodyPr>
          <a:lstStyle/>
          <a:p>
            <a:r>
              <a:rPr sz="1800" b="1" i="0">
                <a:solidFill>
                  <a:schemeClr val="accent1"/>
                </a:solidFill>
              </a:rPr>
              <a:t>Each switch changes only its own part of the model. The next three slides show what each one looks like.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777240"/>
            <a:ext cx="10817352" cy="868680"/>
          </a:xfrm>
        </p:spPr>
        <p:txBody>
          <a:bodyPr wrap="square" lIns="0" rIns="0" tIns="0" bIns="0" anchor="t"/>
          <a:lstStyle/>
          <a:p>
            <a:pPr algn="l"/>
            <a:r>
              <a:rPr sz="3600" b="1">
                <a:solidFill>
                  <a:schemeClr val="tx1"/>
                </a:solidFill>
                <a:latin typeface="+mj-lt"/>
              </a:rPr>
              <a:t>Mountains: Off and On</a:t>
            </a:r>
          </a:p>
        </p:txBody>
      </p:sp>
      <p:sp>
        <p:nvSpPr>
          <p:cNvPr id="3" name="TextBox 2"/>
          <p:cNvSpPr txBox="1"/>
          <p:nvPr/>
        </p:nvSpPr>
        <p:spPr>
          <a:xfrm>
            <a:off x="685800" y="457200"/>
            <a:ext cx="10817352" cy="274320"/>
          </a:xfrm>
          <a:prstGeom prst="rect">
            <a:avLst/>
          </a:prstGeom>
          <a:noFill/>
        </p:spPr>
        <p:txBody>
          <a:bodyPr wrap="square" lIns="0" rIns="0" tIns="0" bIns="0" anchor="t">
            <a:spAutoFit/>
          </a:bodyPr>
          <a:lstStyle/>
          <a:p>
            <a:r>
              <a:rPr sz="1200" b="1" i="0" spc="300">
                <a:solidFill>
                  <a:schemeClr val="accent1"/>
                </a:solidFill>
              </a:rPr>
              <a:t>PART 4 · EXPERIMENTS · FORCING 1 OF 3</a:t>
            </a:r>
          </a:p>
        </p:txBody>
      </p:sp>
      <p:sp>
        <p:nvSpPr>
          <p:cNvPr id="4" name="TextBox 3"/>
          <p:cNvSpPr txBox="1"/>
          <p:nvPr/>
        </p:nvSpPr>
        <p:spPr>
          <a:xfrm>
            <a:off x="685800" y="6400800"/>
            <a:ext cx="6400800" cy="274320"/>
          </a:xfrm>
          <a:prstGeom prst="rect">
            <a:avLst/>
          </a:prstGeom>
          <a:noFill/>
        </p:spPr>
        <p:txBody>
          <a:bodyPr wrap="square" lIns="0" rIns="0" tIns="0" bIns="0" anchor="t">
            <a:spAutoFit/>
          </a:bodyPr>
          <a:lstStyle/>
          <a:p>
            <a:r>
              <a:rPr sz="1000" b="0" i="0">
                <a:solidFill>
                  <a:schemeClr val="tx2"/>
                </a:solidFill>
              </a:rPr>
              <a:t>Telly · stationary Rossby waves</a:t>
            </a:r>
          </a:p>
        </p:txBody>
      </p:sp>
      <p:sp>
        <p:nvSpPr>
          <p:cNvPr id="5" name="TextBox 4"/>
          <p:cNvSpPr txBox="1"/>
          <p:nvPr/>
        </p:nvSpPr>
        <p:spPr>
          <a:xfrm>
            <a:off x="10972800" y="6400800"/>
            <a:ext cx="548640" cy="274320"/>
          </a:xfrm>
          <a:prstGeom prst="rect">
            <a:avLst/>
          </a:prstGeom>
          <a:noFill/>
        </p:spPr>
        <p:txBody>
          <a:bodyPr wrap="none" lIns="0" rIns="0" tIns="0" bIns="0">
            <a:spAutoFit/>
          </a:bodyPr>
          <a:lstStyle/>
          <a:p>
            <a:pPr algn="r"/>
            <a:fld id="{B6F15528-21DE-4FAA-801E-634DDDAF4B2B}" type="slidenum">
              <a:rPr lang="en-US" sz="1000">
                <a:solidFill>
                  <a:schemeClr val="tx2"/>
                </a:solidFill>
              </a:rPr>
              <a:t>‹#›</a:t>
            </a:fld>
          </a:p>
        </p:txBody>
      </p:sp>
      <p:sp>
        <p:nvSpPr>
          <p:cNvPr id="6" name="Rounded Rectangle 5"/>
          <p:cNvSpPr/>
          <p:nvPr/>
        </p:nvSpPr>
        <p:spPr>
          <a:xfrm>
            <a:off x="685800" y="1783080"/>
            <a:ext cx="5303520" cy="3429000"/>
          </a:xfrm>
          <a:prstGeom prst="roundRect">
            <a:avLst>
              <a:gd name="adj" fmla="val 5000"/>
            </a:avLst>
          </a:prstGeom>
          <a:solidFill>
            <a:schemeClr val="bg1"/>
          </a:solidFill>
          <a:ln w="9525">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68680" y="1874519"/>
            <a:ext cx="4937760" cy="411480"/>
          </a:xfrm>
          <a:prstGeom prst="rect">
            <a:avLst/>
          </a:prstGeom>
          <a:noFill/>
        </p:spPr>
        <p:txBody>
          <a:bodyPr wrap="square" lIns="0" rIns="0" tIns="0" bIns="0" anchor="t">
            <a:spAutoFit/>
          </a:bodyPr>
          <a:lstStyle/>
          <a:p>
            <a:r>
              <a:rPr sz="1800" b="1" i="0">
                <a:solidFill>
                  <a:schemeClr val="tx2"/>
                </a:solidFill>
              </a:rPr>
              <a:t>Off: flat ground</a:t>
            </a:r>
          </a:p>
        </p:txBody>
      </p:sp>
      <p:pic>
        <p:nvPicPr>
          <p:cNvPr id="8" name="Picture 7" descr="Map of the ground height with the value zero everywhere: the coastlines are drawn but the ground is at sea level"/>
          <p:cNvPicPr>
            <a:picLocks noChangeAspect="1"/>
          </p:cNvPicPr>
          <p:nvPr/>
        </p:nvPicPr>
        <p:blipFill>
          <a:blip r:embed="rId2"/>
          <a:stretch>
            <a:fillRect/>
          </a:stretch>
        </p:blipFill>
        <p:spPr>
          <a:xfrm>
            <a:off x="868680" y="2331720"/>
            <a:ext cx="4937760" cy="1950415"/>
          </a:xfrm>
          <a:prstGeom prst="rect">
            <a:avLst/>
          </a:prstGeom>
        </p:spPr>
      </p:pic>
      <p:sp>
        <p:nvSpPr>
          <p:cNvPr id="9" name="TextBox 8"/>
          <p:cNvSpPr txBox="1"/>
          <p:nvPr/>
        </p:nvSpPr>
        <p:spPr>
          <a:xfrm>
            <a:off x="868680" y="4389120"/>
            <a:ext cx="4937760" cy="822960"/>
          </a:xfrm>
          <a:prstGeom prst="rect">
            <a:avLst/>
          </a:prstGeom>
          <a:noFill/>
        </p:spPr>
        <p:txBody>
          <a:bodyPr wrap="square" lIns="0" rIns="0" tIns="0" bIns="0" anchor="t">
            <a:spAutoFit/>
          </a:bodyPr>
          <a:lstStyle/>
          <a:p>
            <a:r>
              <a:rPr sz="1400" b="0" i="0">
                <a:solidFill>
                  <a:schemeClr val="tx2"/>
                </a:solidFill>
              </a:rPr>
              <a:t>Ground height is zero at every point: no Himalayas, Rockies or Andes. The wind meets no slopes.</a:t>
            </a:r>
          </a:p>
        </p:txBody>
      </p:sp>
      <p:sp>
        <p:nvSpPr>
          <p:cNvPr id="10" name="Rounded Rectangle 9"/>
          <p:cNvSpPr/>
          <p:nvPr/>
        </p:nvSpPr>
        <p:spPr>
          <a:xfrm>
            <a:off x="6199632" y="1783080"/>
            <a:ext cx="5303520" cy="3429000"/>
          </a:xfrm>
          <a:prstGeom prst="roundRect">
            <a:avLst>
              <a:gd name="adj" fmla="val 5000"/>
            </a:avLst>
          </a:prstGeom>
          <a:solidFill>
            <a:schemeClr val="bg1"/>
          </a:solidFill>
          <a:ln w="9525">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382512" y="1874519"/>
            <a:ext cx="4937760" cy="411480"/>
          </a:xfrm>
          <a:prstGeom prst="rect">
            <a:avLst/>
          </a:prstGeom>
          <a:noFill/>
        </p:spPr>
        <p:txBody>
          <a:bodyPr wrap="square" lIns="0" rIns="0" tIns="0" bIns="0" anchor="t">
            <a:spAutoFit/>
          </a:bodyPr>
          <a:lstStyle/>
          <a:p>
            <a:r>
              <a:rPr sz="1800" b="1" i="0">
                <a:solidFill>
                  <a:schemeClr val="accent2"/>
                </a:solidFill>
              </a:rPr>
              <a:t>On: real ground height</a:t>
            </a:r>
          </a:p>
        </p:txBody>
      </p:sp>
      <p:pic>
        <p:nvPicPr>
          <p:cNvPr id="12" name="Picture 11" descr="Map of the real ground height in metres, with the Tibetan Plateau, the Andes, the Rockies and Greenland standing out"/>
          <p:cNvPicPr>
            <a:picLocks noChangeAspect="1"/>
          </p:cNvPicPr>
          <p:nvPr/>
        </p:nvPicPr>
        <p:blipFill>
          <a:blip r:embed="rId3"/>
          <a:stretch>
            <a:fillRect/>
          </a:stretch>
        </p:blipFill>
        <p:spPr>
          <a:xfrm>
            <a:off x="6382512" y="2331720"/>
            <a:ext cx="4937760" cy="1950415"/>
          </a:xfrm>
          <a:prstGeom prst="rect">
            <a:avLst/>
          </a:prstGeom>
        </p:spPr>
      </p:pic>
      <p:sp>
        <p:nvSpPr>
          <p:cNvPr id="13" name="TextBox 12"/>
          <p:cNvSpPr txBox="1"/>
          <p:nvPr/>
        </p:nvSpPr>
        <p:spPr>
          <a:xfrm>
            <a:off x="6382512" y="4389120"/>
            <a:ext cx="4937760" cy="822960"/>
          </a:xfrm>
          <a:prstGeom prst="rect">
            <a:avLst/>
          </a:prstGeom>
          <a:noFill/>
        </p:spPr>
        <p:txBody>
          <a:bodyPr wrap="square" lIns="0" rIns="0" tIns="0" bIns="0" anchor="t">
            <a:spAutoFit/>
          </a:bodyPr>
          <a:lstStyle/>
          <a:p>
            <a:r>
              <a:rPr sz="1400" b="0" i="0">
                <a:solidFill>
                  <a:schemeClr val="tx2"/>
                </a:solidFill>
              </a:rPr>
              <a:t>Real terrain, with surface pressure lowered to match (about 560 hPa over Tibet, not 1010).</a:t>
            </a:r>
          </a:p>
        </p:txBody>
      </p:sp>
      <p:sp>
        <p:nvSpPr>
          <p:cNvPr id="14" name="Rounded Rectangle 13"/>
          <p:cNvSpPr/>
          <p:nvPr/>
        </p:nvSpPr>
        <p:spPr>
          <a:xfrm>
            <a:off x="685800" y="5394960"/>
            <a:ext cx="10817352" cy="777240"/>
          </a:xfrm>
          <a:prstGeom prst="roundRect">
            <a:avLst>
              <a:gd name="adj" fmla="val 5000"/>
            </a:avLst>
          </a:prstGeom>
          <a:solidFill>
            <a:schemeClr val="tx1"/>
          </a:solidFill>
          <a:ln w="952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60120" y="5486400"/>
            <a:ext cx="10268712" cy="640080"/>
          </a:xfrm>
          <a:prstGeom prst="rect">
            <a:avLst/>
          </a:prstGeom>
          <a:noFill/>
        </p:spPr>
        <p:txBody>
          <a:bodyPr wrap="square" lIns="0" rIns="0" tIns="0" bIns="0" anchor="t">
            <a:spAutoFit/>
          </a:bodyPr>
          <a:lstStyle/>
          <a:p>
            <a:r>
              <a:rPr sz="1500" b="1" i="0">
                <a:solidFill>
                  <a:schemeClr val="accent4"/>
                </a:solidFill>
              </a:rPr>
              <a:t>What it changes: </a:t>
            </a:r>
            <a:r>
              <a:rPr sz="1500" b="0" i="0">
                <a:solidFill>
                  <a:schemeClr val="bg2"/>
                </a:solidFill>
              </a:rPr>
              <a:t>The ground under the air. Air forced over a slope stretches and squeezes columns of air: a source S for waves.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777240"/>
            <a:ext cx="10817352" cy="868680"/>
          </a:xfrm>
        </p:spPr>
        <p:txBody>
          <a:bodyPr wrap="square" lIns="0" rIns="0" tIns="0" bIns="0" anchor="t"/>
          <a:lstStyle/>
          <a:p>
            <a:pPr algn="l"/>
            <a:r>
              <a:rPr sz="3600" b="1">
                <a:solidFill>
                  <a:schemeClr val="tx1"/>
                </a:solidFill>
                <a:latin typeface="+mj-lt"/>
              </a:rPr>
              <a:t>Land–Sea Contrast: Off and On</a:t>
            </a:r>
          </a:p>
        </p:txBody>
      </p:sp>
      <p:sp>
        <p:nvSpPr>
          <p:cNvPr id="3" name="TextBox 2"/>
          <p:cNvSpPr txBox="1"/>
          <p:nvPr/>
        </p:nvSpPr>
        <p:spPr>
          <a:xfrm>
            <a:off x="685800" y="457200"/>
            <a:ext cx="10817352" cy="274320"/>
          </a:xfrm>
          <a:prstGeom prst="rect">
            <a:avLst/>
          </a:prstGeom>
          <a:noFill/>
        </p:spPr>
        <p:txBody>
          <a:bodyPr wrap="square" lIns="0" rIns="0" tIns="0" bIns="0" anchor="t">
            <a:spAutoFit/>
          </a:bodyPr>
          <a:lstStyle/>
          <a:p>
            <a:r>
              <a:rPr sz="1200" b="1" i="0" spc="300">
                <a:solidFill>
                  <a:schemeClr val="accent1"/>
                </a:solidFill>
              </a:rPr>
              <a:t>PART 4 · EXPERIMENTS · FORCING 2 OF 3</a:t>
            </a:r>
          </a:p>
        </p:txBody>
      </p:sp>
      <p:sp>
        <p:nvSpPr>
          <p:cNvPr id="4" name="TextBox 3"/>
          <p:cNvSpPr txBox="1"/>
          <p:nvPr/>
        </p:nvSpPr>
        <p:spPr>
          <a:xfrm>
            <a:off x="685800" y="6400800"/>
            <a:ext cx="6400800" cy="274320"/>
          </a:xfrm>
          <a:prstGeom prst="rect">
            <a:avLst/>
          </a:prstGeom>
          <a:noFill/>
        </p:spPr>
        <p:txBody>
          <a:bodyPr wrap="square" lIns="0" rIns="0" tIns="0" bIns="0" anchor="t">
            <a:spAutoFit/>
          </a:bodyPr>
          <a:lstStyle/>
          <a:p>
            <a:r>
              <a:rPr sz="1000" b="0" i="0">
                <a:solidFill>
                  <a:schemeClr val="tx2"/>
                </a:solidFill>
              </a:rPr>
              <a:t>Telly · stationary Rossby waves</a:t>
            </a:r>
          </a:p>
        </p:txBody>
      </p:sp>
      <p:sp>
        <p:nvSpPr>
          <p:cNvPr id="5" name="TextBox 4"/>
          <p:cNvSpPr txBox="1"/>
          <p:nvPr/>
        </p:nvSpPr>
        <p:spPr>
          <a:xfrm>
            <a:off x="10972800" y="6400800"/>
            <a:ext cx="548640" cy="274320"/>
          </a:xfrm>
          <a:prstGeom prst="rect">
            <a:avLst/>
          </a:prstGeom>
          <a:noFill/>
        </p:spPr>
        <p:txBody>
          <a:bodyPr wrap="none" lIns="0" rIns="0" tIns="0" bIns="0">
            <a:spAutoFit/>
          </a:bodyPr>
          <a:lstStyle/>
          <a:p>
            <a:pPr algn="r"/>
            <a:fld id="{B6F15528-21DE-4FAA-801E-634DDDAF4B2B}" type="slidenum">
              <a:rPr lang="en-US" sz="1000">
                <a:solidFill>
                  <a:schemeClr val="tx2"/>
                </a:solidFill>
              </a:rPr>
              <a:t>‹#›</a:t>
            </a:fld>
          </a:p>
        </p:txBody>
      </p:sp>
      <p:sp>
        <p:nvSpPr>
          <p:cNvPr id="6" name="Rounded Rectangle 5"/>
          <p:cNvSpPr/>
          <p:nvPr/>
        </p:nvSpPr>
        <p:spPr>
          <a:xfrm>
            <a:off x="685800" y="1783080"/>
            <a:ext cx="5303520" cy="3429000"/>
          </a:xfrm>
          <a:prstGeom prst="roundRect">
            <a:avLst>
              <a:gd name="adj" fmla="val 5000"/>
            </a:avLst>
          </a:prstGeom>
          <a:solidFill>
            <a:schemeClr val="bg1"/>
          </a:solidFill>
          <a:ln w="9525">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68680" y="1874519"/>
            <a:ext cx="4937760" cy="411480"/>
          </a:xfrm>
          <a:prstGeom prst="rect">
            <a:avLst/>
          </a:prstGeom>
          <a:noFill/>
        </p:spPr>
        <p:txBody>
          <a:bodyPr wrap="square" lIns="0" rIns="0" tIns="0" bIns="0" anchor="t">
            <a:spAutoFit/>
          </a:bodyPr>
          <a:lstStyle/>
          <a:p>
            <a:r>
              <a:rPr sz="1800" b="1" i="0">
                <a:solidFill>
                  <a:schemeClr val="tx2"/>
                </a:solidFill>
              </a:rPr>
              <a:t>Off: same at every longitude</a:t>
            </a:r>
          </a:p>
        </p:txBody>
      </p:sp>
      <p:pic>
        <p:nvPicPr>
          <p:cNvPr id="8" name="Picture 7" descr="Map of the lower-troposphere temperature in mid-July: smooth bands that depend only on latitude"/>
          <p:cNvPicPr>
            <a:picLocks noChangeAspect="1"/>
          </p:cNvPicPr>
          <p:nvPr/>
        </p:nvPicPr>
        <p:blipFill>
          <a:blip r:embed="rId2"/>
          <a:stretch>
            <a:fillRect/>
          </a:stretch>
        </p:blipFill>
        <p:spPr>
          <a:xfrm>
            <a:off x="868680" y="2331720"/>
            <a:ext cx="4937760" cy="1950415"/>
          </a:xfrm>
          <a:prstGeom prst="rect">
            <a:avLst/>
          </a:prstGeom>
        </p:spPr>
      </p:pic>
      <p:sp>
        <p:nvSpPr>
          <p:cNvPr id="9" name="TextBox 8"/>
          <p:cNvSpPr txBox="1"/>
          <p:nvPr/>
        </p:nvSpPr>
        <p:spPr>
          <a:xfrm>
            <a:off x="868680" y="4389120"/>
            <a:ext cx="4937760" cy="822960"/>
          </a:xfrm>
          <a:prstGeom prst="rect">
            <a:avLst/>
          </a:prstGeom>
          <a:noFill/>
        </p:spPr>
        <p:txBody>
          <a:bodyPr wrap="square" lIns="0" rIns="0" tIns="0" bIns="0" anchor="t">
            <a:spAutoFit/>
          </a:bodyPr>
          <a:lstStyle/>
          <a:p>
            <a:r>
              <a:rPr sz="1400" b="0" i="0">
                <a:solidFill>
                  <a:schemeClr val="tx2"/>
                </a:solidFill>
              </a:rPr>
              <a:t>The background temperature depends on latitude only: warm tropics, cold poles.</a:t>
            </a:r>
          </a:p>
        </p:txBody>
      </p:sp>
      <p:sp>
        <p:nvSpPr>
          <p:cNvPr id="10" name="Rounded Rectangle 9"/>
          <p:cNvSpPr/>
          <p:nvPr/>
        </p:nvSpPr>
        <p:spPr>
          <a:xfrm>
            <a:off x="6199632" y="1783080"/>
            <a:ext cx="5303520" cy="3429000"/>
          </a:xfrm>
          <a:prstGeom prst="roundRect">
            <a:avLst>
              <a:gd name="adj" fmla="val 5000"/>
            </a:avLst>
          </a:prstGeom>
          <a:solidFill>
            <a:schemeClr val="bg1"/>
          </a:solidFill>
          <a:ln w="9525">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382512" y="1874519"/>
            <a:ext cx="4937760" cy="411480"/>
          </a:xfrm>
          <a:prstGeom prst="rect">
            <a:avLst/>
          </a:prstGeom>
          <a:noFill/>
        </p:spPr>
        <p:txBody>
          <a:bodyPr wrap="square" lIns="0" rIns="0" tIns="0" bIns="0" anchor="t">
            <a:spAutoFit/>
          </a:bodyPr>
          <a:lstStyle/>
          <a:p>
            <a:r>
              <a:rPr sz="1800" b="1" i="0">
                <a:solidFill>
                  <a:schemeClr val="accent2"/>
                </a:solidFill>
              </a:rPr>
              <a:t>On: land differs from ocean</a:t>
            </a:r>
          </a:p>
        </p:txBody>
      </p:sp>
      <p:pic>
        <p:nvPicPr>
          <p:cNvPr id="12" name="Picture 11" descr="Map of the lower-troposphere temperature in mid-July with hot spots over Asia, North Africa and the southwestern United States"/>
          <p:cNvPicPr>
            <a:picLocks noChangeAspect="1"/>
          </p:cNvPicPr>
          <p:nvPr/>
        </p:nvPicPr>
        <p:blipFill>
          <a:blip r:embed="rId3"/>
          <a:stretch>
            <a:fillRect/>
          </a:stretch>
        </p:blipFill>
        <p:spPr>
          <a:xfrm>
            <a:off x="6382512" y="2331720"/>
            <a:ext cx="4937760" cy="1950415"/>
          </a:xfrm>
          <a:prstGeom prst="rect">
            <a:avLst/>
          </a:prstGeom>
        </p:spPr>
      </p:pic>
      <p:sp>
        <p:nvSpPr>
          <p:cNvPr id="13" name="TextBox 12"/>
          <p:cNvSpPr txBox="1"/>
          <p:nvPr/>
        </p:nvSpPr>
        <p:spPr>
          <a:xfrm>
            <a:off x="6382512" y="4389120"/>
            <a:ext cx="4937760" cy="822960"/>
          </a:xfrm>
          <a:prstGeom prst="rect">
            <a:avLst/>
          </a:prstGeom>
          <a:noFill/>
        </p:spPr>
        <p:txBody>
          <a:bodyPr wrap="square" lIns="0" rIns="0" tIns="0" bIns="0" anchor="t">
            <a:spAutoFit/>
          </a:bodyPr>
          <a:lstStyle/>
          <a:p>
            <a:r>
              <a:rPr sz="1400" b="0" i="0">
                <a:solidFill>
                  <a:schemeClr val="tx2"/>
                </a:solidFill>
              </a:rPr>
              <a:t>Observed land departures added over land only. The zonal average is unchanged.</a:t>
            </a:r>
          </a:p>
        </p:txBody>
      </p:sp>
      <p:sp>
        <p:nvSpPr>
          <p:cNvPr id="14" name="Rounded Rectangle 13"/>
          <p:cNvSpPr/>
          <p:nvPr/>
        </p:nvSpPr>
        <p:spPr>
          <a:xfrm>
            <a:off x="685800" y="5394960"/>
            <a:ext cx="10817352" cy="777240"/>
          </a:xfrm>
          <a:prstGeom prst="roundRect">
            <a:avLst>
              <a:gd name="adj" fmla="val 5000"/>
            </a:avLst>
          </a:prstGeom>
          <a:solidFill>
            <a:schemeClr val="tx1"/>
          </a:solidFill>
          <a:ln w="952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60120" y="5486400"/>
            <a:ext cx="10268712" cy="640080"/>
          </a:xfrm>
          <a:prstGeom prst="rect">
            <a:avLst/>
          </a:prstGeom>
          <a:noFill/>
        </p:spPr>
        <p:txBody>
          <a:bodyPr wrap="square" lIns="0" rIns="0" tIns="0" bIns="0" anchor="t">
            <a:spAutoFit/>
          </a:bodyPr>
          <a:lstStyle/>
          <a:p>
            <a:r>
              <a:rPr sz="1500" b="1" i="0">
                <a:solidFill>
                  <a:schemeClr val="accent4"/>
                </a:solidFill>
              </a:rPr>
              <a:t>What it changes: </a:t>
            </a:r>
            <a:r>
              <a:rPr sz="1500" b="0" i="0">
                <a:solidFill>
                  <a:schemeClr val="bg2"/>
                </a:solidFill>
              </a:rPr>
              <a:t>The background temperature the model is pulled toward. Warm or cool land acts like a heating or cooling pattern.</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777240"/>
            <a:ext cx="10817352" cy="868680"/>
          </a:xfrm>
        </p:spPr>
        <p:txBody>
          <a:bodyPr wrap="square" lIns="0" rIns="0" tIns="0" bIns="0" anchor="t"/>
          <a:lstStyle/>
          <a:p>
            <a:pPr algn="l"/>
            <a:r>
              <a:rPr sz="3600" b="1">
                <a:solidFill>
                  <a:schemeClr val="tx1"/>
                </a:solidFill>
                <a:latin typeface="+mj-lt"/>
              </a:rPr>
              <a:t>Diabatic Heating: Off and On</a:t>
            </a:r>
          </a:p>
        </p:txBody>
      </p:sp>
      <p:sp>
        <p:nvSpPr>
          <p:cNvPr id="3" name="TextBox 2"/>
          <p:cNvSpPr txBox="1"/>
          <p:nvPr/>
        </p:nvSpPr>
        <p:spPr>
          <a:xfrm>
            <a:off x="685800" y="457200"/>
            <a:ext cx="10817352" cy="274320"/>
          </a:xfrm>
          <a:prstGeom prst="rect">
            <a:avLst/>
          </a:prstGeom>
          <a:noFill/>
        </p:spPr>
        <p:txBody>
          <a:bodyPr wrap="square" lIns="0" rIns="0" tIns="0" bIns="0" anchor="t">
            <a:spAutoFit/>
          </a:bodyPr>
          <a:lstStyle/>
          <a:p>
            <a:r>
              <a:rPr sz="1200" b="1" i="0" spc="300">
                <a:solidFill>
                  <a:schemeClr val="accent1"/>
                </a:solidFill>
              </a:rPr>
              <a:t>PART 4 · EXPERIMENTS · FORCING 3 OF 3</a:t>
            </a:r>
          </a:p>
        </p:txBody>
      </p:sp>
      <p:sp>
        <p:nvSpPr>
          <p:cNvPr id="4" name="TextBox 3"/>
          <p:cNvSpPr txBox="1"/>
          <p:nvPr/>
        </p:nvSpPr>
        <p:spPr>
          <a:xfrm>
            <a:off x="685800" y="6400800"/>
            <a:ext cx="6400800" cy="274320"/>
          </a:xfrm>
          <a:prstGeom prst="rect">
            <a:avLst/>
          </a:prstGeom>
          <a:noFill/>
        </p:spPr>
        <p:txBody>
          <a:bodyPr wrap="square" lIns="0" rIns="0" tIns="0" bIns="0" anchor="t">
            <a:spAutoFit/>
          </a:bodyPr>
          <a:lstStyle/>
          <a:p>
            <a:r>
              <a:rPr sz="1000" b="0" i="0">
                <a:solidFill>
                  <a:schemeClr val="tx2"/>
                </a:solidFill>
              </a:rPr>
              <a:t>Telly · stationary Rossby waves</a:t>
            </a:r>
          </a:p>
        </p:txBody>
      </p:sp>
      <p:sp>
        <p:nvSpPr>
          <p:cNvPr id="5" name="TextBox 4"/>
          <p:cNvSpPr txBox="1"/>
          <p:nvPr/>
        </p:nvSpPr>
        <p:spPr>
          <a:xfrm>
            <a:off x="10972800" y="6400800"/>
            <a:ext cx="548640" cy="274320"/>
          </a:xfrm>
          <a:prstGeom prst="rect">
            <a:avLst/>
          </a:prstGeom>
          <a:noFill/>
        </p:spPr>
        <p:txBody>
          <a:bodyPr wrap="none" lIns="0" rIns="0" tIns="0" bIns="0">
            <a:spAutoFit/>
          </a:bodyPr>
          <a:lstStyle/>
          <a:p>
            <a:pPr algn="r"/>
            <a:fld id="{B6F15528-21DE-4FAA-801E-634DDDAF4B2B}" type="slidenum">
              <a:rPr lang="en-US" sz="1000">
                <a:solidFill>
                  <a:schemeClr val="tx2"/>
                </a:solidFill>
              </a:rPr>
              <a:t>‹#›</a:t>
            </a:fld>
          </a:p>
        </p:txBody>
      </p:sp>
      <p:sp>
        <p:nvSpPr>
          <p:cNvPr id="6" name="Rounded Rectangle 5"/>
          <p:cNvSpPr/>
          <p:nvPr/>
        </p:nvSpPr>
        <p:spPr>
          <a:xfrm>
            <a:off x="685800" y="1783080"/>
            <a:ext cx="5303520" cy="3429000"/>
          </a:xfrm>
          <a:prstGeom prst="roundRect">
            <a:avLst>
              <a:gd name="adj" fmla="val 5000"/>
            </a:avLst>
          </a:prstGeom>
          <a:solidFill>
            <a:schemeClr val="bg1"/>
          </a:solidFill>
          <a:ln w="9525">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68680" y="1874519"/>
            <a:ext cx="4937760" cy="411480"/>
          </a:xfrm>
          <a:prstGeom prst="rect">
            <a:avLst/>
          </a:prstGeom>
          <a:noFill/>
        </p:spPr>
        <p:txBody>
          <a:bodyPr wrap="square" lIns="0" rIns="0" tIns="0" bIns="0" anchor="t">
            <a:spAutoFit/>
          </a:bodyPr>
          <a:lstStyle/>
          <a:p>
            <a:r>
              <a:rPr sz="1800" b="1" i="0">
                <a:solidFill>
                  <a:schemeClr val="tx2"/>
                </a:solidFill>
              </a:rPr>
              <a:t>Off: rain the same at every longitude</a:t>
            </a:r>
          </a:p>
        </p:txBody>
      </p:sp>
      <p:pic>
        <p:nvPicPr>
          <p:cNvPr id="8" name="Picture 7" descr="Map of the mean rain in June to August, zonally symmetric: a single band of heavy rain just north of the equator"/>
          <p:cNvPicPr>
            <a:picLocks noChangeAspect="1"/>
          </p:cNvPicPr>
          <p:nvPr/>
        </p:nvPicPr>
        <p:blipFill>
          <a:blip r:embed="rId2"/>
          <a:stretch>
            <a:fillRect/>
          </a:stretch>
        </p:blipFill>
        <p:spPr>
          <a:xfrm>
            <a:off x="868680" y="2331720"/>
            <a:ext cx="4937760" cy="1950415"/>
          </a:xfrm>
          <a:prstGeom prst="rect">
            <a:avLst/>
          </a:prstGeom>
        </p:spPr>
      </p:pic>
      <p:sp>
        <p:nvSpPr>
          <p:cNvPr id="9" name="TextBox 8"/>
          <p:cNvSpPr txBox="1"/>
          <p:nvPr/>
        </p:nvSpPr>
        <p:spPr>
          <a:xfrm>
            <a:off x="868680" y="4389120"/>
            <a:ext cx="4937760" cy="822960"/>
          </a:xfrm>
          <a:prstGeom prst="rect">
            <a:avLst/>
          </a:prstGeom>
          <a:noFill/>
        </p:spPr>
        <p:txBody>
          <a:bodyPr wrap="square" lIns="0" rIns="0" tIns="0" bIns="0" anchor="t">
            <a:spAutoFit/>
          </a:bodyPr>
          <a:lstStyle/>
          <a:p>
            <a:r>
              <a:rPr sz="1400" b="0" i="0">
                <a:solidFill>
                  <a:schemeClr val="tx2"/>
                </a:solidFill>
              </a:rPr>
              <a:t>The same average rain all the way around each latitude circle: one tropical band.</a:t>
            </a:r>
          </a:p>
        </p:txBody>
      </p:sp>
      <p:sp>
        <p:nvSpPr>
          <p:cNvPr id="10" name="Rounded Rectangle 9"/>
          <p:cNvSpPr/>
          <p:nvPr/>
        </p:nvSpPr>
        <p:spPr>
          <a:xfrm>
            <a:off x="6199632" y="1783080"/>
            <a:ext cx="5303520" cy="3429000"/>
          </a:xfrm>
          <a:prstGeom prst="roundRect">
            <a:avLst>
              <a:gd name="adj" fmla="val 5000"/>
            </a:avLst>
          </a:prstGeom>
          <a:solidFill>
            <a:schemeClr val="bg1"/>
          </a:solidFill>
          <a:ln w="9525">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382512" y="1874519"/>
            <a:ext cx="4937760" cy="411480"/>
          </a:xfrm>
          <a:prstGeom prst="rect">
            <a:avLst/>
          </a:prstGeom>
          <a:noFill/>
        </p:spPr>
        <p:txBody>
          <a:bodyPr wrap="square" lIns="0" rIns="0" tIns="0" bIns="0" anchor="t">
            <a:spAutoFit/>
          </a:bodyPr>
          <a:lstStyle/>
          <a:p>
            <a:r>
              <a:rPr sz="1800" b="1" i="0">
                <a:solidFill>
                  <a:schemeClr val="accent2"/>
                </a:solidFill>
              </a:rPr>
              <a:t>On: observed rainfall</a:t>
            </a:r>
          </a:p>
        </p:txBody>
      </p:sp>
      <p:pic>
        <p:nvPicPr>
          <p:cNvPr id="12" name="Picture 11" descr="Map of the observed mean rain in June to August, with heavy rain over the Indian Ocean, the western Pacific and the Americas"/>
          <p:cNvPicPr>
            <a:picLocks noChangeAspect="1"/>
          </p:cNvPicPr>
          <p:nvPr/>
        </p:nvPicPr>
        <p:blipFill>
          <a:blip r:embed="rId3"/>
          <a:stretch>
            <a:fillRect/>
          </a:stretch>
        </p:blipFill>
        <p:spPr>
          <a:xfrm>
            <a:off x="6382512" y="2331720"/>
            <a:ext cx="4937760" cy="1950415"/>
          </a:xfrm>
          <a:prstGeom prst="rect">
            <a:avLst/>
          </a:prstGeom>
        </p:spPr>
      </p:pic>
      <p:sp>
        <p:nvSpPr>
          <p:cNvPr id="13" name="TextBox 12"/>
          <p:cNvSpPr txBox="1"/>
          <p:nvPr/>
        </p:nvSpPr>
        <p:spPr>
          <a:xfrm>
            <a:off x="6382512" y="4389120"/>
            <a:ext cx="4937760" cy="822960"/>
          </a:xfrm>
          <a:prstGeom prst="rect">
            <a:avLst/>
          </a:prstGeom>
          <a:noFill/>
        </p:spPr>
        <p:txBody>
          <a:bodyPr wrap="square" lIns="0" rIns="0" tIns="0" bIns="0" anchor="t">
            <a:spAutoFit/>
          </a:bodyPr>
          <a:lstStyle/>
          <a:p>
            <a:r>
              <a:rPr sz="1400" b="0" i="0">
                <a:solidFill>
                  <a:schemeClr val="tx2"/>
                </a:solidFill>
              </a:rPr>
              <a:t>Rain falls where it really does: the Indian Ocean, western Pacific, and the Americas.</a:t>
            </a:r>
          </a:p>
        </p:txBody>
      </p:sp>
      <p:sp>
        <p:nvSpPr>
          <p:cNvPr id="14" name="Rounded Rectangle 13"/>
          <p:cNvSpPr/>
          <p:nvPr/>
        </p:nvSpPr>
        <p:spPr>
          <a:xfrm>
            <a:off x="685800" y="5394960"/>
            <a:ext cx="10817352" cy="777240"/>
          </a:xfrm>
          <a:prstGeom prst="roundRect">
            <a:avLst>
              <a:gd name="adj" fmla="val 5000"/>
            </a:avLst>
          </a:prstGeom>
          <a:solidFill>
            <a:schemeClr val="tx1"/>
          </a:solidFill>
          <a:ln w="952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60120" y="5486400"/>
            <a:ext cx="10268712" cy="640080"/>
          </a:xfrm>
          <a:prstGeom prst="rect">
            <a:avLst/>
          </a:prstGeom>
          <a:noFill/>
        </p:spPr>
        <p:txBody>
          <a:bodyPr wrap="square" lIns="0" rIns="0" tIns="0" bIns="0" anchor="t">
            <a:spAutoFit/>
          </a:bodyPr>
          <a:lstStyle/>
          <a:p>
            <a:r>
              <a:rPr sz="1500" b="1" i="0">
                <a:solidFill>
                  <a:schemeClr val="accent4"/>
                </a:solidFill>
              </a:rPr>
              <a:t>What it changes: </a:t>
            </a:r>
            <a:r>
              <a:rPr sz="1500" b="0" i="0">
                <a:solidFill>
                  <a:schemeClr val="bg2"/>
                </a:solidFill>
              </a:rPr>
              <a:t>Where latent heat is released. Heating in some places and not others pushes on the waves.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777240"/>
            <a:ext cx="10817352" cy="868680"/>
          </a:xfrm>
        </p:spPr>
        <p:txBody>
          <a:bodyPr wrap="square" lIns="0" rIns="0" tIns="0" bIns="0" anchor="t"/>
          <a:lstStyle/>
          <a:p>
            <a:pPr algn="l"/>
            <a:r>
              <a:rPr sz="3600" b="1">
                <a:solidFill>
                  <a:schemeClr val="tx1"/>
                </a:solidFill>
                <a:latin typeface="+mj-lt"/>
              </a:rPr>
              <a:t>The Five Experiments</a:t>
            </a:r>
          </a:p>
        </p:txBody>
      </p:sp>
      <p:sp>
        <p:nvSpPr>
          <p:cNvPr id="3" name="TextBox 2"/>
          <p:cNvSpPr txBox="1"/>
          <p:nvPr/>
        </p:nvSpPr>
        <p:spPr>
          <a:xfrm>
            <a:off x="685800" y="457200"/>
            <a:ext cx="10817352" cy="274320"/>
          </a:xfrm>
          <a:prstGeom prst="rect">
            <a:avLst/>
          </a:prstGeom>
          <a:noFill/>
        </p:spPr>
        <p:txBody>
          <a:bodyPr wrap="square" lIns="0" rIns="0" tIns="0" bIns="0" anchor="t">
            <a:spAutoFit/>
          </a:bodyPr>
          <a:lstStyle/>
          <a:p>
            <a:r>
              <a:rPr sz="1200" b="1" i="0" spc="300">
                <a:solidFill>
                  <a:schemeClr val="accent1"/>
                </a:solidFill>
              </a:rPr>
              <a:t>PART 4 · EXPERIMENTS</a:t>
            </a:r>
          </a:p>
        </p:txBody>
      </p:sp>
      <p:sp>
        <p:nvSpPr>
          <p:cNvPr id="4" name="TextBox 3"/>
          <p:cNvSpPr txBox="1"/>
          <p:nvPr/>
        </p:nvSpPr>
        <p:spPr>
          <a:xfrm>
            <a:off x="685800" y="6400800"/>
            <a:ext cx="6400800" cy="274320"/>
          </a:xfrm>
          <a:prstGeom prst="rect">
            <a:avLst/>
          </a:prstGeom>
          <a:noFill/>
        </p:spPr>
        <p:txBody>
          <a:bodyPr wrap="square" lIns="0" rIns="0" tIns="0" bIns="0" anchor="t">
            <a:spAutoFit/>
          </a:bodyPr>
          <a:lstStyle/>
          <a:p>
            <a:r>
              <a:rPr sz="1000" b="0" i="0">
                <a:solidFill>
                  <a:schemeClr val="tx2"/>
                </a:solidFill>
              </a:rPr>
              <a:t>Telly · stationary Rossby waves</a:t>
            </a:r>
          </a:p>
        </p:txBody>
      </p:sp>
      <p:sp>
        <p:nvSpPr>
          <p:cNvPr id="5" name="TextBox 4"/>
          <p:cNvSpPr txBox="1"/>
          <p:nvPr/>
        </p:nvSpPr>
        <p:spPr>
          <a:xfrm>
            <a:off x="10972800" y="6400800"/>
            <a:ext cx="548640" cy="274320"/>
          </a:xfrm>
          <a:prstGeom prst="rect">
            <a:avLst/>
          </a:prstGeom>
          <a:noFill/>
        </p:spPr>
        <p:txBody>
          <a:bodyPr wrap="none" lIns="0" rIns="0" tIns="0" bIns="0">
            <a:spAutoFit/>
          </a:bodyPr>
          <a:lstStyle/>
          <a:p>
            <a:pPr algn="r"/>
            <a:fld id="{B6F15528-21DE-4FAA-801E-634DDDAF4B2B}" type="slidenum">
              <a:rPr lang="en-US" sz="1000">
                <a:solidFill>
                  <a:schemeClr val="tx2"/>
                </a:solidFill>
              </a:rPr>
              <a:t>‹#›</a:t>
            </a:fld>
          </a:p>
        </p:txBody>
      </p:sp>
      <p:graphicFrame>
        <p:nvGraphicFramePr>
          <p:cNvPr id="6" name="Table 5"/>
          <p:cNvGraphicFramePr>
            <a:graphicFrameLocks noGrp="1"/>
          </p:cNvGraphicFramePr>
          <p:nvPr/>
        </p:nvGraphicFramePr>
        <p:xfrm>
          <a:off x="685800" y="1783080"/>
          <a:ext cx="10817352" cy="3401568"/>
        </p:xfrm>
        <a:graphic>
          <a:graphicData uri="http://schemas.openxmlformats.org/drawingml/2006/table">
            <a:tbl>
              <a:tblPr firstRow="1" bandRow="1">
                <a:tableStyleId>{5C22544A-7EE6-4342-B048-85BDC9FD1C3A}</a:tableStyleId>
              </a:tblPr>
              <a:tblGrid>
                <a:gridCol w="2377440"/>
                <a:gridCol w="1554480"/>
                <a:gridCol w="1554480"/>
                <a:gridCol w="1554480"/>
                <a:gridCol w="3776472"/>
              </a:tblGrid>
              <a:tr h="566928">
                <a:tc>
                  <a:txBody>
                    <a:bodyPr wrap="square"/>
                    <a:lstStyle/>
                    <a:p>
                      <a:r>
                        <a:rPr sz="1500" b="1" i="0">
                          <a:solidFill>
                            <a:schemeClr val="bg2"/>
                          </a:solidFill>
                        </a:rPr>
                        <a:t>Run</a:t>
                      </a:r>
                    </a:p>
                  </a:txBody>
                  <a:tcPr marL="109728" marR="109728" marT="45720" marB="45720" anchor="ctr">
                    <a:solidFill>
                      <a:schemeClr val="tx1"/>
                    </a:solidFill>
                  </a:tcPr>
                </a:tc>
                <a:tc>
                  <a:txBody>
                    <a:bodyPr wrap="square"/>
                    <a:lstStyle/>
                    <a:p>
                      <a:r>
                        <a:rPr sz="1500" b="1" i="0">
                          <a:solidFill>
                            <a:schemeClr val="bg2"/>
                          </a:solidFill>
                        </a:rPr>
                        <a:t>Mountains</a:t>
                      </a:r>
                    </a:p>
                  </a:txBody>
                  <a:tcPr marL="109728" marR="109728" marT="45720" marB="45720" anchor="ctr">
                    <a:solidFill>
                      <a:schemeClr val="tx1"/>
                    </a:solidFill>
                  </a:tcPr>
                </a:tc>
                <a:tc>
                  <a:txBody>
                    <a:bodyPr wrap="square"/>
                    <a:lstStyle/>
                    <a:p>
                      <a:r>
                        <a:rPr sz="1500" b="1" i="0">
                          <a:solidFill>
                            <a:schemeClr val="bg2"/>
                          </a:solidFill>
                        </a:rPr>
                        <a:t>Land–sea</a:t>
                      </a:r>
                    </a:p>
                  </a:txBody>
                  <a:tcPr marL="109728" marR="109728" marT="45720" marB="45720" anchor="ctr">
                    <a:solidFill>
                      <a:schemeClr val="tx1"/>
                    </a:solidFill>
                  </a:tcPr>
                </a:tc>
                <a:tc>
                  <a:txBody>
                    <a:bodyPr wrap="square"/>
                    <a:lstStyle/>
                    <a:p>
                      <a:r>
                        <a:rPr sz="1500" b="1" i="0">
                          <a:solidFill>
                            <a:schemeClr val="bg2"/>
                          </a:solidFill>
                        </a:rPr>
                        <a:t>Heating</a:t>
                      </a:r>
                    </a:p>
                  </a:txBody>
                  <a:tcPr marL="109728" marR="109728" marT="45720" marB="45720" anchor="ctr">
                    <a:solidFill>
                      <a:schemeClr val="tx1"/>
                    </a:solidFill>
                  </a:tcPr>
                </a:tc>
                <a:tc>
                  <a:txBody>
                    <a:bodyPr wrap="square"/>
                    <a:lstStyle/>
                    <a:p>
                      <a:r>
                        <a:rPr sz="1500" b="1" i="0">
                          <a:solidFill>
                            <a:schemeClr val="bg2"/>
                          </a:solidFill>
                        </a:rPr>
                        <a:t>What it shows</a:t>
                      </a:r>
                    </a:p>
                  </a:txBody>
                  <a:tcPr marL="109728" marR="109728" marT="45720" marB="45720" anchor="ctr">
                    <a:solidFill>
                      <a:schemeClr val="tx1"/>
                    </a:solidFill>
                  </a:tcPr>
                </a:tc>
              </a:tr>
              <a:tr h="566928">
                <a:tc>
                  <a:txBody>
                    <a:bodyPr wrap="square"/>
                    <a:lstStyle/>
                    <a:p>
                      <a:r>
                        <a:rPr sz="1500" b="1" i="0">
                          <a:solidFill>
                            <a:schemeClr val="tx1"/>
                          </a:solidFill>
                        </a:rPr>
                        <a:t>Baseline</a:t>
                      </a:r>
                    </a:p>
                  </a:txBody>
                  <a:tcPr marL="109728" marR="109728" marT="45720" marB="45720" anchor="ctr">
                    <a:solidFill>
                      <a:schemeClr val="bg1"/>
                    </a:solidFill>
                  </a:tcPr>
                </a:tc>
                <a:tc>
                  <a:txBody>
                    <a:bodyPr wrap="square"/>
                    <a:lstStyle/>
                    <a:p>
                      <a:r>
                        <a:rPr sz="1500" b="0" i="0">
                          <a:solidFill>
                            <a:schemeClr val="tx1"/>
                          </a:solidFill>
                        </a:rPr>
                        <a:t>off</a:t>
                      </a:r>
                    </a:p>
                  </a:txBody>
                  <a:tcPr marL="109728" marR="109728" marT="45720" marB="45720" anchor="ctr">
                    <a:solidFill>
                      <a:schemeClr val="bg1"/>
                    </a:solidFill>
                  </a:tcPr>
                </a:tc>
                <a:tc>
                  <a:txBody>
                    <a:bodyPr wrap="square"/>
                    <a:lstStyle/>
                    <a:p>
                      <a:r>
                        <a:rPr sz="1500" b="0" i="0">
                          <a:solidFill>
                            <a:schemeClr val="tx1"/>
                          </a:solidFill>
                        </a:rPr>
                        <a:t>off</a:t>
                      </a:r>
                    </a:p>
                  </a:txBody>
                  <a:tcPr marL="109728" marR="109728" marT="45720" marB="45720" anchor="ctr">
                    <a:solidFill>
                      <a:schemeClr val="bg1"/>
                    </a:solidFill>
                  </a:tcPr>
                </a:tc>
                <a:tc>
                  <a:txBody>
                    <a:bodyPr wrap="square"/>
                    <a:lstStyle/>
                    <a:p>
                      <a:r>
                        <a:rPr sz="1500" b="0" i="0">
                          <a:solidFill>
                            <a:schemeClr val="tx1"/>
                          </a:solidFill>
                        </a:rPr>
                        <a:t>off</a:t>
                      </a:r>
                    </a:p>
                  </a:txBody>
                  <a:tcPr marL="109728" marR="109728" marT="45720" marB="45720" anchor="ctr">
                    <a:solidFill>
                      <a:schemeClr val="bg1"/>
                    </a:solidFill>
                  </a:tcPr>
                </a:tc>
                <a:tc>
                  <a:txBody>
                    <a:bodyPr wrap="square"/>
                    <a:lstStyle/>
                    <a:p>
                      <a:r>
                        <a:rPr sz="1500" b="0" i="0">
                          <a:solidFill>
                            <a:schemeClr val="tx1"/>
                          </a:solidFill>
                        </a:rPr>
                        <a:t>No longitude-dependent forcing at all</a:t>
                      </a:r>
                    </a:p>
                  </a:txBody>
                  <a:tcPr marL="109728" marR="109728" marT="45720" marB="45720" anchor="ctr">
                    <a:solidFill>
                      <a:schemeClr val="bg1"/>
                    </a:solidFill>
                  </a:tcPr>
                </a:tc>
              </a:tr>
              <a:tr h="566928">
                <a:tc>
                  <a:txBody>
                    <a:bodyPr wrap="square"/>
                    <a:lstStyle/>
                    <a:p>
                      <a:r>
                        <a:rPr sz="1500" b="1" i="0">
                          <a:solidFill>
                            <a:schemeClr val="tx1"/>
                          </a:solidFill>
                        </a:rPr>
                        <a:t>Mountains only</a:t>
                      </a:r>
                    </a:p>
                  </a:txBody>
                  <a:tcPr marL="109728" marR="109728" marT="45720" marB="45720" anchor="ctr">
                    <a:solidFill>
                      <a:schemeClr val="accent6">
                        <a:lumMod val="45000"/>
                        <a:lumOff val="55000"/>
                      </a:schemeClr>
                    </a:solidFill>
                  </a:tcPr>
                </a:tc>
                <a:tc>
                  <a:txBody>
                    <a:bodyPr wrap="square"/>
                    <a:lstStyle/>
                    <a:p>
                      <a:r>
                        <a:rPr sz="1500" b="1" i="0">
                          <a:solidFill>
                            <a:schemeClr val="accent2"/>
                          </a:solidFill>
                        </a:rPr>
                        <a:t>ON</a:t>
                      </a:r>
                    </a:p>
                  </a:txBody>
                  <a:tcPr marL="109728" marR="109728" marT="45720" marB="45720" anchor="ctr">
                    <a:solidFill>
                      <a:schemeClr val="accent6">
                        <a:lumMod val="45000"/>
                        <a:lumOff val="55000"/>
                      </a:schemeClr>
                    </a:solidFill>
                  </a:tcPr>
                </a:tc>
                <a:tc>
                  <a:txBody>
                    <a:bodyPr wrap="square"/>
                    <a:lstStyle/>
                    <a:p>
                      <a:r>
                        <a:rPr sz="1500" b="0" i="0">
                          <a:solidFill>
                            <a:schemeClr val="tx1"/>
                          </a:solidFill>
                        </a:rPr>
                        <a:t>off</a:t>
                      </a:r>
                    </a:p>
                  </a:txBody>
                  <a:tcPr marL="109728" marR="109728" marT="45720" marB="45720" anchor="ctr">
                    <a:solidFill>
                      <a:schemeClr val="accent6">
                        <a:lumMod val="45000"/>
                        <a:lumOff val="55000"/>
                      </a:schemeClr>
                    </a:solidFill>
                  </a:tcPr>
                </a:tc>
                <a:tc>
                  <a:txBody>
                    <a:bodyPr wrap="square"/>
                    <a:lstStyle/>
                    <a:p>
                      <a:r>
                        <a:rPr sz="1500" b="0" i="0">
                          <a:solidFill>
                            <a:schemeClr val="tx1"/>
                          </a:solidFill>
                        </a:rPr>
                        <a:t>off</a:t>
                      </a:r>
                    </a:p>
                  </a:txBody>
                  <a:tcPr marL="109728" marR="109728" marT="45720" marB="45720" anchor="ctr">
                    <a:solidFill>
                      <a:schemeClr val="accent6">
                        <a:lumMod val="45000"/>
                        <a:lumOff val="55000"/>
                      </a:schemeClr>
                    </a:solidFill>
                  </a:tcPr>
                </a:tc>
                <a:tc>
                  <a:txBody>
                    <a:bodyPr wrap="square"/>
                    <a:lstStyle/>
                    <a:p>
                      <a:r>
                        <a:rPr sz="1500" b="0" i="0">
                          <a:solidFill>
                            <a:schemeClr val="tx1"/>
                          </a:solidFill>
                        </a:rPr>
                        <a:t>The effect of mountains</a:t>
                      </a:r>
                    </a:p>
                  </a:txBody>
                  <a:tcPr marL="109728" marR="109728" marT="45720" marB="45720" anchor="ctr">
                    <a:solidFill>
                      <a:schemeClr val="accent6">
                        <a:lumMod val="45000"/>
                        <a:lumOff val="55000"/>
                      </a:schemeClr>
                    </a:solidFill>
                  </a:tcPr>
                </a:tc>
              </a:tr>
              <a:tr h="566928">
                <a:tc>
                  <a:txBody>
                    <a:bodyPr wrap="square"/>
                    <a:lstStyle/>
                    <a:p>
                      <a:r>
                        <a:rPr sz="1500" b="1" i="0">
                          <a:solidFill>
                            <a:schemeClr val="tx1"/>
                          </a:solidFill>
                        </a:rPr>
                        <a:t>Land–sea only</a:t>
                      </a:r>
                    </a:p>
                  </a:txBody>
                  <a:tcPr marL="109728" marR="109728" marT="45720" marB="45720" anchor="ctr">
                    <a:solidFill>
                      <a:schemeClr val="bg1"/>
                    </a:solidFill>
                  </a:tcPr>
                </a:tc>
                <a:tc>
                  <a:txBody>
                    <a:bodyPr wrap="square"/>
                    <a:lstStyle/>
                    <a:p>
                      <a:r>
                        <a:rPr sz="1500" b="0" i="0">
                          <a:solidFill>
                            <a:schemeClr val="tx1"/>
                          </a:solidFill>
                        </a:rPr>
                        <a:t>off</a:t>
                      </a:r>
                    </a:p>
                  </a:txBody>
                  <a:tcPr marL="109728" marR="109728" marT="45720" marB="45720" anchor="ctr">
                    <a:solidFill>
                      <a:schemeClr val="bg1"/>
                    </a:solidFill>
                  </a:tcPr>
                </a:tc>
                <a:tc>
                  <a:txBody>
                    <a:bodyPr wrap="square"/>
                    <a:lstStyle/>
                    <a:p>
                      <a:r>
                        <a:rPr sz="1500" b="1" i="0">
                          <a:solidFill>
                            <a:schemeClr val="accent2"/>
                          </a:solidFill>
                        </a:rPr>
                        <a:t>ON</a:t>
                      </a:r>
                    </a:p>
                  </a:txBody>
                  <a:tcPr marL="109728" marR="109728" marT="45720" marB="45720" anchor="ctr">
                    <a:solidFill>
                      <a:schemeClr val="bg1"/>
                    </a:solidFill>
                  </a:tcPr>
                </a:tc>
                <a:tc>
                  <a:txBody>
                    <a:bodyPr wrap="square"/>
                    <a:lstStyle/>
                    <a:p>
                      <a:r>
                        <a:rPr sz="1500" b="0" i="0">
                          <a:solidFill>
                            <a:schemeClr val="tx1"/>
                          </a:solidFill>
                        </a:rPr>
                        <a:t>off</a:t>
                      </a:r>
                    </a:p>
                  </a:txBody>
                  <a:tcPr marL="109728" marR="109728" marT="45720" marB="45720" anchor="ctr">
                    <a:solidFill>
                      <a:schemeClr val="bg1"/>
                    </a:solidFill>
                  </a:tcPr>
                </a:tc>
                <a:tc>
                  <a:txBody>
                    <a:bodyPr wrap="square"/>
                    <a:lstStyle/>
                    <a:p>
                      <a:r>
                        <a:rPr sz="1500" b="0" i="0">
                          <a:solidFill>
                            <a:schemeClr val="tx1"/>
                          </a:solidFill>
                        </a:rPr>
                        <a:t>The effect of land–sea contrast</a:t>
                      </a:r>
                    </a:p>
                  </a:txBody>
                  <a:tcPr marL="109728" marR="109728" marT="45720" marB="45720" anchor="ctr">
                    <a:solidFill>
                      <a:schemeClr val="bg1"/>
                    </a:solidFill>
                  </a:tcPr>
                </a:tc>
              </a:tr>
              <a:tr h="566928">
                <a:tc>
                  <a:txBody>
                    <a:bodyPr wrap="square"/>
                    <a:lstStyle/>
                    <a:p>
                      <a:r>
                        <a:rPr sz="1500" b="1" i="0">
                          <a:solidFill>
                            <a:schemeClr val="tx1"/>
                          </a:solidFill>
                        </a:rPr>
                        <a:t>Heating only</a:t>
                      </a:r>
                    </a:p>
                  </a:txBody>
                  <a:tcPr marL="109728" marR="109728" marT="45720" marB="45720" anchor="ctr">
                    <a:solidFill>
                      <a:schemeClr val="accent6">
                        <a:lumMod val="45000"/>
                        <a:lumOff val="55000"/>
                      </a:schemeClr>
                    </a:solidFill>
                  </a:tcPr>
                </a:tc>
                <a:tc>
                  <a:txBody>
                    <a:bodyPr wrap="square"/>
                    <a:lstStyle/>
                    <a:p>
                      <a:r>
                        <a:rPr sz="1500" b="0" i="0">
                          <a:solidFill>
                            <a:schemeClr val="tx1"/>
                          </a:solidFill>
                        </a:rPr>
                        <a:t>off</a:t>
                      </a:r>
                    </a:p>
                  </a:txBody>
                  <a:tcPr marL="109728" marR="109728" marT="45720" marB="45720" anchor="ctr">
                    <a:solidFill>
                      <a:schemeClr val="accent6">
                        <a:lumMod val="45000"/>
                        <a:lumOff val="55000"/>
                      </a:schemeClr>
                    </a:solidFill>
                  </a:tcPr>
                </a:tc>
                <a:tc>
                  <a:txBody>
                    <a:bodyPr wrap="square"/>
                    <a:lstStyle/>
                    <a:p>
                      <a:r>
                        <a:rPr sz="1500" b="0" i="0">
                          <a:solidFill>
                            <a:schemeClr val="tx1"/>
                          </a:solidFill>
                        </a:rPr>
                        <a:t>off</a:t>
                      </a:r>
                    </a:p>
                  </a:txBody>
                  <a:tcPr marL="109728" marR="109728" marT="45720" marB="45720" anchor="ctr">
                    <a:solidFill>
                      <a:schemeClr val="accent6">
                        <a:lumMod val="45000"/>
                        <a:lumOff val="55000"/>
                      </a:schemeClr>
                    </a:solidFill>
                  </a:tcPr>
                </a:tc>
                <a:tc>
                  <a:txBody>
                    <a:bodyPr wrap="square"/>
                    <a:lstStyle/>
                    <a:p>
                      <a:r>
                        <a:rPr sz="1500" b="1" i="0">
                          <a:solidFill>
                            <a:schemeClr val="accent2"/>
                          </a:solidFill>
                        </a:rPr>
                        <a:t>ON</a:t>
                      </a:r>
                    </a:p>
                  </a:txBody>
                  <a:tcPr marL="109728" marR="109728" marT="45720" marB="45720" anchor="ctr">
                    <a:solidFill>
                      <a:schemeClr val="accent6">
                        <a:lumMod val="45000"/>
                        <a:lumOff val="55000"/>
                      </a:schemeClr>
                    </a:solidFill>
                  </a:tcPr>
                </a:tc>
                <a:tc>
                  <a:txBody>
                    <a:bodyPr wrap="square"/>
                    <a:lstStyle/>
                    <a:p>
                      <a:r>
                        <a:rPr sz="1500" b="0" i="0">
                          <a:solidFill>
                            <a:schemeClr val="tx1"/>
                          </a:solidFill>
                        </a:rPr>
                        <a:t>The effect of diabatic heating</a:t>
                      </a:r>
                    </a:p>
                  </a:txBody>
                  <a:tcPr marL="109728" marR="109728" marT="45720" marB="45720" anchor="ctr">
                    <a:solidFill>
                      <a:schemeClr val="accent6">
                        <a:lumMod val="45000"/>
                        <a:lumOff val="55000"/>
                      </a:schemeClr>
                    </a:solidFill>
                  </a:tcPr>
                </a:tc>
              </a:tr>
              <a:tr h="566928">
                <a:tc>
                  <a:txBody>
                    <a:bodyPr wrap="square"/>
                    <a:lstStyle/>
                    <a:p>
                      <a:r>
                        <a:rPr sz="1500" b="1" i="0">
                          <a:solidFill>
                            <a:schemeClr val="tx1"/>
                          </a:solidFill>
                        </a:rPr>
                        <a:t>All three</a:t>
                      </a:r>
                    </a:p>
                  </a:txBody>
                  <a:tcPr marL="109728" marR="109728" marT="45720" marB="45720" anchor="ctr">
                    <a:solidFill>
                      <a:schemeClr val="bg1"/>
                    </a:solidFill>
                  </a:tcPr>
                </a:tc>
                <a:tc>
                  <a:txBody>
                    <a:bodyPr wrap="square"/>
                    <a:lstStyle/>
                    <a:p>
                      <a:r>
                        <a:rPr sz="1500" b="1" i="0">
                          <a:solidFill>
                            <a:schemeClr val="accent2"/>
                          </a:solidFill>
                        </a:rPr>
                        <a:t>ON</a:t>
                      </a:r>
                    </a:p>
                  </a:txBody>
                  <a:tcPr marL="109728" marR="109728" marT="45720" marB="45720" anchor="ctr">
                    <a:solidFill>
                      <a:schemeClr val="bg1"/>
                    </a:solidFill>
                  </a:tcPr>
                </a:tc>
                <a:tc>
                  <a:txBody>
                    <a:bodyPr wrap="square"/>
                    <a:lstStyle/>
                    <a:p>
                      <a:r>
                        <a:rPr sz="1500" b="1" i="0">
                          <a:solidFill>
                            <a:schemeClr val="accent2"/>
                          </a:solidFill>
                        </a:rPr>
                        <a:t>ON</a:t>
                      </a:r>
                    </a:p>
                  </a:txBody>
                  <a:tcPr marL="109728" marR="109728" marT="45720" marB="45720" anchor="ctr">
                    <a:solidFill>
                      <a:schemeClr val="bg1"/>
                    </a:solidFill>
                  </a:tcPr>
                </a:tc>
                <a:tc>
                  <a:txBody>
                    <a:bodyPr wrap="square"/>
                    <a:lstStyle/>
                    <a:p>
                      <a:r>
                        <a:rPr sz="1500" b="1" i="0">
                          <a:solidFill>
                            <a:schemeClr val="accent2"/>
                          </a:solidFill>
                        </a:rPr>
                        <a:t>ON</a:t>
                      </a:r>
                    </a:p>
                  </a:txBody>
                  <a:tcPr marL="109728" marR="109728" marT="45720" marB="45720" anchor="ctr">
                    <a:solidFill>
                      <a:schemeClr val="bg1"/>
                    </a:solidFill>
                  </a:tcPr>
                </a:tc>
                <a:tc>
                  <a:txBody>
                    <a:bodyPr wrap="square"/>
                    <a:lstStyle/>
                    <a:p>
                      <a:r>
                        <a:rPr sz="1500" b="0" i="0">
                          <a:solidFill>
                            <a:schemeClr val="tx1"/>
                          </a:solidFill>
                        </a:rPr>
                        <a:t>The full idealized model: the reference</a:t>
                      </a:r>
                    </a:p>
                  </a:txBody>
                  <a:tcPr marL="109728" marR="109728" marT="45720" marB="45720" anchor="ctr">
                    <a:solidFill>
                      <a:schemeClr val="bg1"/>
                    </a:solidFill>
                  </a:tcPr>
                </a:tc>
              </a:tr>
            </a:tbl>
          </a:graphicData>
        </a:graphic>
      </p:graphicFrame>
      <p:sp>
        <p:nvSpPr>
          <p:cNvPr id="7" name="TextBox 6"/>
          <p:cNvSpPr txBox="1"/>
          <p:nvPr/>
        </p:nvSpPr>
        <p:spPr>
          <a:xfrm>
            <a:off x="685800" y="5440680"/>
            <a:ext cx="10817352" cy="731520"/>
          </a:xfrm>
          <a:prstGeom prst="rect">
            <a:avLst/>
          </a:prstGeom>
          <a:noFill/>
        </p:spPr>
        <p:txBody>
          <a:bodyPr wrap="square" lIns="0" rIns="0" tIns="0" bIns="0" anchor="t">
            <a:spAutoFit/>
          </a:bodyPr>
          <a:lstStyle/>
          <a:p>
            <a:r>
              <a:rPr sz="1400" b="0" i="0">
                <a:solidFill>
                  <a:schemeClr val="tx2"/>
                </a:solidFill>
              </a:rPr>
              <a:t>Run names: AC_SW_base, _mtn, _landsea, _heat and _all. For comparison, AC_Test is the same model run with the observed background state.</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777240"/>
            <a:ext cx="10817352" cy="868680"/>
          </a:xfrm>
        </p:spPr>
        <p:txBody>
          <a:bodyPr wrap="square" lIns="0" rIns="0" tIns="0" bIns="0" anchor="t"/>
          <a:lstStyle/>
          <a:p>
            <a:pPr algn="l"/>
            <a:r>
              <a:rPr sz="3600" b="1">
                <a:solidFill>
                  <a:schemeClr val="tx1"/>
                </a:solidFill>
                <a:latin typeface="+mj-lt"/>
              </a:rPr>
              <a:t>Reading the Results</a:t>
            </a:r>
          </a:p>
        </p:txBody>
      </p:sp>
      <p:sp>
        <p:nvSpPr>
          <p:cNvPr id="3" name="TextBox 2"/>
          <p:cNvSpPr txBox="1"/>
          <p:nvPr/>
        </p:nvSpPr>
        <p:spPr>
          <a:xfrm>
            <a:off x="685800" y="457200"/>
            <a:ext cx="10817352" cy="274320"/>
          </a:xfrm>
          <a:prstGeom prst="rect">
            <a:avLst/>
          </a:prstGeom>
          <a:noFill/>
        </p:spPr>
        <p:txBody>
          <a:bodyPr wrap="square" lIns="0" rIns="0" tIns="0" bIns="0" anchor="t">
            <a:spAutoFit/>
          </a:bodyPr>
          <a:lstStyle/>
          <a:p>
            <a:r>
              <a:rPr sz="1200" b="1" i="0" spc="300">
                <a:solidFill>
                  <a:schemeClr val="accent1"/>
                </a:solidFill>
              </a:rPr>
              <a:t>PART 4 · EXPERIMENTS</a:t>
            </a:r>
          </a:p>
        </p:txBody>
      </p:sp>
      <p:sp>
        <p:nvSpPr>
          <p:cNvPr id="4" name="TextBox 3"/>
          <p:cNvSpPr txBox="1"/>
          <p:nvPr/>
        </p:nvSpPr>
        <p:spPr>
          <a:xfrm>
            <a:off x="685800" y="6400800"/>
            <a:ext cx="6400800" cy="274320"/>
          </a:xfrm>
          <a:prstGeom prst="rect">
            <a:avLst/>
          </a:prstGeom>
          <a:noFill/>
        </p:spPr>
        <p:txBody>
          <a:bodyPr wrap="square" lIns="0" rIns="0" tIns="0" bIns="0" anchor="t">
            <a:spAutoFit/>
          </a:bodyPr>
          <a:lstStyle/>
          <a:p>
            <a:r>
              <a:rPr sz="1000" b="0" i="0">
                <a:solidFill>
                  <a:schemeClr val="tx2"/>
                </a:solidFill>
              </a:rPr>
              <a:t>Telly · stationary Rossby waves</a:t>
            </a:r>
          </a:p>
        </p:txBody>
      </p:sp>
      <p:sp>
        <p:nvSpPr>
          <p:cNvPr id="5" name="TextBox 4"/>
          <p:cNvSpPr txBox="1"/>
          <p:nvPr/>
        </p:nvSpPr>
        <p:spPr>
          <a:xfrm>
            <a:off x="10972800" y="6400800"/>
            <a:ext cx="548640" cy="274320"/>
          </a:xfrm>
          <a:prstGeom prst="rect">
            <a:avLst/>
          </a:prstGeom>
          <a:noFill/>
        </p:spPr>
        <p:txBody>
          <a:bodyPr wrap="none" lIns="0" rIns="0" tIns="0" bIns="0">
            <a:spAutoFit/>
          </a:bodyPr>
          <a:lstStyle/>
          <a:p>
            <a:pPr algn="r"/>
            <a:fld id="{B6F15528-21DE-4FAA-801E-634DDDAF4B2B}" type="slidenum">
              <a:rPr lang="en-US" sz="1000">
                <a:solidFill>
                  <a:schemeClr val="tx2"/>
                </a:solidFill>
              </a:rPr>
              <a:t>‹#›</a:t>
            </a:fld>
          </a:p>
        </p:txBody>
      </p:sp>
      <p:sp>
        <p:nvSpPr>
          <p:cNvPr id="6" name="Rounded Rectangle 5"/>
          <p:cNvSpPr/>
          <p:nvPr/>
        </p:nvSpPr>
        <p:spPr>
          <a:xfrm>
            <a:off x="685800" y="1783080"/>
            <a:ext cx="10817352" cy="960120"/>
          </a:xfrm>
          <a:prstGeom prst="roundRect">
            <a:avLst>
              <a:gd name="adj" fmla="val 5000"/>
            </a:avLst>
          </a:prstGeom>
          <a:solidFill>
            <a:schemeClr val="bg1"/>
          </a:solidFill>
          <a:ln w="9525">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60120" y="2057400"/>
            <a:ext cx="3108960" cy="457200"/>
          </a:xfrm>
          <a:prstGeom prst="rect">
            <a:avLst/>
          </a:prstGeom>
          <a:noFill/>
        </p:spPr>
        <p:txBody>
          <a:bodyPr wrap="square" lIns="0" rIns="0" tIns="0" bIns="0" anchor="t">
            <a:spAutoFit/>
          </a:bodyPr>
          <a:lstStyle/>
          <a:p>
            <a:r>
              <a:rPr sz="1600" b="1" i="0">
                <a:solidFill>
                  <a:schemeClr val="tx1"/>
                </a:solidFill>
              </a:rPr>
              <a:t>Stationary eddy</a:t>
            </a:r>
          </a:p>
        </p:txBody>
      </p:sp>
      <p:sp>
        <p:nvSpPr>
          <p:cNvPr id="8" name="TextBox 7"/>
          <p:cNvSpPr txBox="1"/>
          <p:nvPr/>
        </p:nvSpPr>
        <p:spPr>
          <a:xfrm>
            <a:off x="4251960" y="1965960"/>
            <a:ext cx="6949440" cy="640080"/>
          </a:xfrm>
          <a:prstGeom prst="rect">
            <a:avLst/>
          </a:prstGeom>
          <a:noFill/>
        </p:spPr>
        <p:txBody>
          <a:bodyPr wrap="square" lIns="0" rIns="0" tIns="0" bIns="0" anchor="t">
            <a:spAutoFit/>
          </a:bodyPr>
          <a:lstStyle/>
          <a:p>
            <a:pPr>
              <a:spcAft>
                <a:spcPts val="400"/>
              </a:spcAft>
            </a:pPr>
            <a:r>
              <a:rPr sz="2600" b="0" i="1">
                <a:solidFill>
                  <a:schemeClr val="accent1"/>
                </a:solidFill>
                <a:latin typeface="+mj-lt"/>
              </a:rPr>
              <a:t>z* = z − [z]</a:t>
            </a:r>
          </a:p>
        </p:txBody>
      </p:sp>
      <p:sp>
        <p:nvSpPr>
          <p:cNvPr id="9" name="Rounded Rectangle 8"/>
          <p:cNvSpPr/>
          <p:nvPr/>
        </p:nvSpPr>
        <p:spPr>
          <a:xfrm>
            <a:off x="685800" y="2880360"/>
            <a:ext cx="10817352" cy="960120"/>
          </a:xfrm>
          <a:prstGeom prst="roundRect">
            <a:avLst>
              <a:gd name="adj" fmla="val 5000"/>
            </a:avLst>
          </a:prstGeom>
          <a:solidFill>
            <a:schemeClr val="bg1"/>
          </a:solidFill>
          <a:ln w="9525">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60120" y="3154679"/>
            <a:ext cx="3108960" cy="457200"/>
          </a:xfrm>
          <a:prstGeom prst="rect">
            <a:avLst/>
          </a:prstGeom>
          <a:noFill/>
        </p:spPr>
        <p:txBody>
          <a:bodyPr wrap="square" lIns="0" rIns="0" tIns="0" bIns="0" anchor="t">
            <a:spAutoFit/>
          </a:bodyPr>
          <a:lstStyle/>
          <a:p>
            <a:r>
              <a:rPr sz="1600" b="1" i="0">
                <a:solidFill>
                  <a:schemeClr val="tx1"/>
                </a:solidFill>
              </a:rPr>
              <a:t>Response to a forcing</a:t>
            </a:r>
          </a:p>
        </p:txBody>
      </p:sp>
      <p:sp>
        <p:nvSpPr>
          <p:cNvPr id="11" name="TextBox 10"/>
          <p:cNvSpPr txBox="1"/>
          <p:nvPr/>
        </p:nvSpPr>
        <p:spPr>
          <a:xfrm>
            <a:off x="4251960" y="3063240"/>
            <a:ext cx="6949440" cy="640080"/>
          </a:xfrm>
          <a:prstGeom prst="rect">
            <a:avLst/>
          </a:prstGeom>
          <a:noFill/>
        </p:spPr>
        <p:txBody>
          <a:bodyPr wrap="square" lIns="0" rIns="0" tIns="0" bIns="0" anchor="t">
            <a:spAutoFit/>
          </a:bodyPr>
          <a:lstStyle/>
          <a:p>
            <a:pPr>
              <a:spcAft>
                <a:spcPts val="400"/>
              </a:spcAft>
            </a:pPr>
            <a:r>
              <a:rPr sz="2600" b="0" i="1">
                <a:solidFill>
                  <a:schemeClr val="accent1"/>
                </a:solidFill>
                <a:latin typeface="+mj-lt"/>
              </a:rPr>
              <a:t>z*(run) − z*(base)</a:t>
            </a:r>
          </a:p>
        </p:txBody>
      </p:sp>
      <p:sp>
        <p:nvSpPr>
          <p:cNvPr id="12" name="Rounded Rectangle 11"/>
          <p:cNvSpPr/>
          <p:nvPr/>
        </p:nvSpPr>
        <p:spPr>
          <a:xfrm>
            <a:off x="685800" y="3977639"/>
            <a:ext cx="10817352" cy="960120"/>
          </a:xfrm>
          <a:prstGeom prst="roundRect">
            <a:avLst>
              <a:gd name="adj" fmla="val 5000"/>
            </a:avLst>
          </a:prstGeom>
          <a:solidFill>
            <a:schemeClr val="bg1"/>
          </a:solidFill>
          <a:ln w="9525">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60120" y="4251959"/>
            <a:ext cx="3108960" cy="457200"/>
          </a:xfrm>
          <a:prstGeom prst="rect">
            <a:avLst/>
          </a:prstGeom>
          <a:noFill/>
        </p:spPr>
        <p:txBody>
          <a:bodyPr wrap="square" lIns="0" rIns="0" tIns="0" bIns="0" anchor="t">
            <a:spAutoFit/>
          </a:bodyPr>
          <a:lstStyle/>
          <a:p>
            <a:r>
              <a:rPr sz="1600" b="1" i="0">
                <a:solidFill>
                  <a:schemeClr val="tx1"/>
                </a:solidFill>
              </a:rPr>
              <a:t>Nonlinearity</a:t>
            </a:r>
          </a:p>
        </p:txBody>
      </p:sp>
      <p:sp>
        <p:nvSpPr>
          <p:cNvPr id="14" name="TextBox 13"/>
          <p:cNvSpPr txBox="1"/>
          <p:nvPr/>
        </p:nvSpPr>
        <p:spPr>
          <a:xfrm>
            <a:off x="4251960" y="4160520"/>
            <a:ext cx="6949440" cy="640080"/>
          </a:xfrm>
          <a:prstGeom prst="rect">
            <a:avLst/>
          </a:prstGeom>
          <a:noFill/>
        </p:spPr>
        <p:txBody>
          <a:bodyPr wrap="square" lIns="0" rIns="0" tIns="0" bIns="0" anchor="t">
            <a:spAutoFit/>
          </a:bodyPr>
          <a:lstStyle/>
          <a:p>
            <a:pPr>
              <a:spcAft>
                <a:spcPts val="400"/>
              </a:spcAft>
            </a:pPr>
            <a:r>
              <a:rPr sz="2600" b="0" i="1">
                <a:solidFill>
                  <a:schemeClr val="accent1"/>
                </a:solidFill>
                <a:latin typeface="+mj-lt"/>
              </a:rPr>
              <a:t>all − mtn − landsea − heat + 2·base</a:t>
            </a:r>
          </a:p>
        </p:txBody>
      </p:sp>
      <p:sp>
        <p:nvSpPr>
          <p:cNvPr id="15" name="TextBox 14"/>
          <p:cNvSpPr txBox="1"/>
          <p:nvPr/>
        </p:nvSpPr>
        <p:spPr>
          <a:xfrm>
            <a:off x="685800" y="5120640"/>
            <a:ext cx="10241280" cy="1005840"/>
          </a:xfrm>
          <a:prstGeom prst="rect">
            <a:avLst/>
          </a:prstGeom>
          <a:noFill/>
        </p:spPr>
        <p:txBody>
          <a:bodyPr wrap="square" lIns="0" rIns="0" tIns="0" bIns="0" anchor="t">
            <a:spAutoFit/>
          </a:bodyPr>
          <a:lstStyle/>
          <a:p>
            <a:pPr marL="285750" indent="-285750">
              <a:spcAft>
                <a:spcPts val="400"/>
              </a:spcAft>
              <a:buChar char="•"/>
            </a:pPr>
            <a:r>
              <a:rPr sz="1400" b="0" i="0">
                <a:solidFill>
                  <a:schemeClr val="tx1"/>
                </a:solidFill>
              </a:rPr>
              <a:t>[z] is the zonal mean; the maps show 500 hPa height, averaged over a season, like the ERA5 map</a:t>
            </a:r>
          </a:p>
          <a:p>
            <a:pPr marL="285750" indent="-285750">
              <a:spcAft>
                <a:spcPts val="400"/>
              </a:spcAft>
              <a:buChar char="•"/>
            </a:pPr>
            <a:r>
              <a:rPr sz="1400" b="0" i="0">
                <a:solidFill>
                  <a:schemeClr val="tx1"/>
                </a:solidFill>
              </a:rPr>
              <a:t>The first months of each run are discarded while the model settles</a:t>
            </a:r>
          </a:p>
          <a:p>
            <a:pPr marL="285750" indent="-285750">
              <a:spcAft>
                <a:spcPts val="400"/>
              </a:spcAft>
              <a:buChar char="•"/>
            </a:pPr>
            <a:r>
              <a:rPr sz="1400" b="0" i="0">
                <a:solidFill>
                  <a:schemeClr val="tx1"/>
                </a:solidFill>
              </a:rPr>
              <a:t>Each difference map shows what one forcing does on its own</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chemeClr val="tx1"/>
        </a:solidFill>
        <a:effectLst/>
      </p:bgPr>
    </p:bg>
    <p:spTree>
      <p:nvGrpSpPr>
        <p:cNvPr id="1" name=""/>
        <p:cNvGrpSpPr/>
        <p:nvPr/>
      </p:nvGrpSpPr>
      <p:grpSpPr/>
      <p:sp>
        <p:nvSpPr>
          <p:cNvPr id="2" name="Title 1"/>
          <p:cNvSpPr>
            <a:spLocks noGrp="1"/>
          </p:cNvSpPr>
          <p:nvPr>
            <p:ph type="title"/>
          </p:nvPr>
        </p:nvSpPr>
        <p:spPr>
          <a:xfrm>
            <a:off x="822960" y="3657600"/>
            <a:ext cx="10515600" cy="1097280"/>
          </a:xfrm>
        </p:spPr>
        <p:txBody>
          <a:bodyPr wrap="square" lIns="0" rIns="0" tIns="0" bIns="0" anchor="t"/>
          <a:lstStyle/>
          <a:p>
            <a:pPr algn="l"/>
            <a:r>
              <a:rPr sz="6000" b="1">
                <a:solidFill>
                  <a:schemeClr val="bg2"/>
                </a:solidFill>
                <a:latin typeface="+mj-lt"/>
              </a:rPr>
              <a:t>Results</a:t>
            </a:r>
          </a:p>
        </p:txBody>
      </p:sp>
      <p:sp>
        <p:nvSpPr>
          <p:cNvPr id="3" name="TextBox 2"/>
          <p:cNvSpPr txBox="1"/>
          <p:nvPr/>
        </p:nvSpPr>
        <p:spPr>
          <a:xfrm>
            <a:off x="822960" y="3246120"/>
            <a:ext cx="10058400" cy="365760"/>
          </a:xfrm>
          <a:prstGeom prst="rect">
            <a:avLst/>
          </a:prstGeom>
          <a:noFill/>
        </p:spPr>
        <p:txBody>
          <a:bodyPr wrap="square" lIns="0" rIns="0" tIns="0" bIns="0" anchor="t">
            <a:spAutoFit/>
          </a:bodyPr>
          <a:lstStyle/>
          <a:p>
            <a:r>
              <a:rPr sz="1400" b="1" i="0" spc="400">
                <a:solidFill>
                  <a:schemeClr val="accent4"/>
                </a:solidFill>
              </a:rPr>
              <a:t>PART 5</a:t>
            </a:r>
          </a:p>
        </p:txBody>
      </p:sp>
      <p:sp>
        <p:nvSpPr>
          <p:cNvPr id="4" name="TextBox 3"/>
          <p:cNvSpPr txBox="1"/>
          <p:nvPr/>
        </p:nvSpPr>
        <p:spPr>
          <a:xfrm>
            <a:off x="822960" y="4892040"/>
            <a:ext cx="10058400" cy="548640"/>
          </a:xfrm>
          <a:prstGeom prst="rect">
            <a:avLst/>
          </a:prstGeom>
          <a:noFill/>
        </p:spPr>
        <p:txBody>
          <a:bodyPr wrap="square" lIns="0" rIns="0" tIns="0" bIns="0" anchor="t">
            <a:spAutoFit/>
          </a:bodyPr>
          <a:lstStyle/>
          <a:p>
            <a:r>
              <a:rPr sz="2200" b="0" i="0">
                <a:solidFill>
                  <a:schemeClr val="accent5"/>
                </a:solidFill>
              </a:rPr>
              <a:t>What each forcing does to the wave pattern</a:t>
            </a:r>
          </a:p>
        </p:txBody>
      </p:sp>
      <p:sp>
        <p:nvSpPr>
          <p:cNvPr id="5" name="TextBox 4"/>
          <p:cNvSpPr txBox="1"/>
          <p:nvPr/>
        </p:nvSpPr>
        <p:spPr>
          <a:xfrm>
            <a:off x="822960" y="5669280"/>
            <a:ext cx="10058400" cy="365760"/>
          </a:xfrm>
          <a:prstGeom prst="rect">
            <a:avLst/>
          </a:prstGeom>
          <a:noFill/>
        </p:spPr>
        <p:txBody>
          <a:bodyPr wrap="square" lIns="0" rIns="0" tIns="0" bIns="0" anchor="t">
            <a:spAutoFit/>
          </a:bodyPr>
          <a:lstStyle/>
          <a:p>
            <a:r>
              <a:rPr sz="1400" b="0" i="0">
                <a:solidFill>
                  <a:schemeClr val="accent4"/>
                </a:solidFill>
              </a:rPr>
              <a:t>Preliminary: about four model years of the five-year runs, winter and summer</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777240"/>
            <a:ext cx="10817352" cy="868680"/>
          </a:xfrm>
        </p:spPr>
        <p:txBody>
          <a:bodyPr wrap="square" lIns="0" rIns="0" tIns="0" bIns="0" anchor="t"/>
          <a:lstStyle/>
          <a:p>
            <a:pPr algn="l"/>
            <a:r>
              <a:rPr sz="3600" b="1">
                <a:solidFill>
                  <a:schemeClr val="tx1"/>
                </a:solidFill>
                <a:latin typeface="+mj-lt"/>
              </a:rPr>
              <a:t>Baseline: No Zonal Asymmetry</a:t>
            </a:r>
          </a:p>
        </p:txBody>
      </p:sp>
      <p:sp>
        <p:nvSpPr>
          <p:cNvPr id="3" name="TextBox 2"/>
          <p:cNvSpPr txBox="1"/>
          <p:nvPr/>
        </p:nvSpPr>
        <p:spPr>
          <a:xfrm>
            <a:off x="685800" y="457200"/>
            <a:ext cx="10817352" cy="274320"/>
          </a:xfrm>
          <a:prstGeom prst="rect">
            <a:avLst/>
          </a:prstGeom>
          <a:noFill/>
        </p:spPr>
        <p:txBody>
          <a:bodyPr wrap="square" lIns="0" rIns="0" tIns="0" bIns="0" anchor="t">
            <a:spAutoFit/>
          </a:bodyPr>
          <a:lstStyle/>
          <a:p>
            <a:r>
              <a:rPr sz="1200" b="1" i="0" spc="300">
                <a:solidFill>
                  <a:schemeClr val="accent1"/>
                </a:solidFill>
              </a:rPr>
              <a:t>PART 5 · RESULTS · PRELIMINARY</a:t>
            </a:r>
          </a:p>
        </p:txBody>
      </p:sp>
      <p:sp>
        <p:nvSpPr>
          <p:cNvPr id="4" name="TextBox 3"/>
          <p:cNvSpPr txBox="1"/>
          <p:nvPr/>
        </p:nvSpPr>
        <p:spPr>
          <a:xfrm>
            <a:off x="685800" y="6400800"/>
            <a:ext cx="6400800" cy="274320"/>
          </a:xfrm>
          <a:prstGeom prst="rect">
            <a:avLst/>
          </a:prstGeom>
          <a:noFill/>
        </p:spPr>
        <p:txBody>
          <a:bodyPr wrap="square" lIns="0" rIns="0" tIns="0" bIns="0" anchor="t">
            <a:spAutoFit/>
          </a:bodyPr>
          <a:lstStyle/>
          <a:p>
            <a:r>
              <a:rPr sz="1000" b="0" i="0">
                <a:solidFill>
                  <a:schemeClr val="tx2"/>
                </a:solidFill>
              </a:rPr>
              <a:t>Telly · stationary Rossby waves</a:t>
            </a:r>
          </a:p>
        </p:txBody>
      </p:sp>
      <p:sp>
        <p:nvSpPr>
          <p:cNvPr id="5" name="TextBox 4"/>
          <p:cNvSpPr txBox="1"/>
          <p:nvPr/>
        </p:nvSpPr>
        <p:spPr>
          <a:xfrm>
            <a:off x="10972800" y="6400800"/>
            <a:ext cx="548640" cy="274320"/>
          </a:xfrm>
          <a:prstGeom prst="rect">
            <a:avLst/>
          </a:prstGeom>
          <a:noFill/>
        </p:spPr>
        <p:txBody>
          <a:bodyPr wrap="none" lIns="0" rIns="0" tIns="0" bIns="0">
            <a:spAutoFit/>
          </a:bodyPr>
          <a:lstStyle/>
          <a:p>
            <a:pPr algn="r"/>
            <a:fld id="{B6F15528-21DE-4FAA-801E-634DDDAF4B2B}" type="slidenum">
              <a:rPr lang="en-US" sz="1000">
                <a:solidFill>
                  <a:schemeClr val="tx2"/>
                </a:solidFill>
              </a:rPr>
              <a:t>‹#›</a:t>
            </a:fld>
          </a:p>
        </p:txBody>
      </p:sp>
      <p:sp>
        <p:nvSpPr>
          <p:cNvPr id="6" name="TextBox 5"/>
          <p:cNvSpPr txBox="1"/>
          <p:nvPr/>
        </p:nvSpPr>
        <p:spPr>
          <a:xfrm>
            <a:off x="685800" y="6053328"/>
            <a:ext cx="10058400" cy="274320"/>
          </a:xfrm>
          <a:prstGeom prst="rect">
            <a:avLst/>
          </a:prstGeom>
          <a:noFill/>
        </p:spPr>
        <p:txBody>
          <a:bodyPr wrap="square" lIns="0" rIns="0" tIns="0" bIns="0" anchor="t">
            <a:spAutoFit/>
          </a:bodyPr>
          <a:lstStyle/>
          <a:p>
            <a:r>
              <a:rPr sz="1100" b="0" i="0">
                <a:solidFill>
                  <a:schemeClr val="tx2"/>
                </a:solidFill>
              </a:rPr>
              <a:t>Preliminary: about 3.75 years after spin-up; winter and summer; 500 hPa height; runs still in progress</a:t>
            </a:r>
          </a:p>
        </p:txBody>
      </p:sp>
      <p:pic>
        <p:nvPicPr>
          <p:cNvPr id="7" name="Picture 6" descr="Map of the stationary eddy in the baseline run, winter and summer, 500 hPa"/>
          <p:cNvPicPr>
            <a:picLocks noChangeAspect="1"/>
          </p:cNvPicPr>
          <p:nvPr/>
        </p:nvPicPr>
        <p:blipFill>
          <a:blip r:embed="rId2"/>
          <a:stretch>
            <a:fillRect/>
          </a:stretch>
        </p:blipFill>
        <p:spPr>
          <a:xfrm>
            <a:off x="685800" y="1783080"/>
            <a:ext cx="6583680" cy="4178104"/>
          </a:xfrm>
          <a:prstGeom prst="rect">
            <a:avLst/>
          </a:prstGeom>
        </p:spPr>
      </p:pic>
      <p:sp>
        <p:nvSpPr>
          <p:cNvPr id="8" name="TextBox 7"/>
          <p:cNvSpPr txBox="1"/>
          <p:nvPr/>
        </p:nvSpPr>
        <p:spPr>
          <a:xfrm>
            <a:off x="7543800" y="1783080"/>
            <a:ext cx="3959352" cy="320040"/>
          </a:xfrm>
          <a:prstGeom prst="rect">
            <a:avLst/>
          </a:prstGeom>
          <a:noFill/>
        </p:spPr>
        <p:txBody>
          <a:bodyPr wrap="square" lIns="0" rIns="0" tIns="0" bIns="0" anchor="t">
            <a:spAutoFit/>
          </a:bodyPr>
          <a:lstStyle/>
          <a:p>
            <a:r>
              <a:rPr sz="1600" b="1" i="0">
                <a:solidFill>
                  <a:schemeClr val="accent1"/>
                </a:solidFill>
              </a:rPr>
              <a:t>What to look for</a:t>
            </a:r>
          </a:p>
        </p:txBody>
      </p:sp>
      <p:sp>
        <p:nvSpPr>
          <p:cNvPr id="9" name="TextBox 8"/>
          <p:cNvSpPr txBox="1"/>
          <p:nvPr/>
        </p:nvSpPr>
        <p:spPr>
          <a:xfrm>
            <a:off x="7543800" y="2148840"/>
            <a:ext cx="3959352" cy="1280160"/>
          </a:xfrm>
          <a:prstGeom prst="rect">
            <a:avLst/>
          </a:prstGeom>
          <a:noFill/>
        </p:spPr>
        <p:txBody>
          <a:bodyPr wrap="square" lIns="0" rIns="0" tIns="0" bIns="0" anchor="t">
            <a:spAutoFit/>
          </a:bodyPr>
          <a:lstStyle/>
          <a:p>
            <a:pPr marL="285750" indent="-285750">
              <a:spcAft>
                <a:spcPts val="400"/>
              </a:spcAft>
              <a:buChar char="•"/>
            </a:pPr>
            <a:r>
              <a:rPr sz="1400" b="0" i="0">
                <a:solidFill>
                  <a:schemeClr val="tx1"/>
                </a:solidFill>
              </a:rPr>
              <a:t>Is z* close to zero?</a:t>
            </a:r>
          </a:p>
          <a:p>
            <a:pPr marL="285750" indent="-285750">
              <a:spcAft>
                <a:spcPts val="400"/>
              </a:spcAft>
              <a:buChar char="•"/>
            </a:pPr>
            <a:r>
              <a:rPr sz="1400" b="0" i="0">
                <a:solidFill>
                  <a:schemeClr val="tx1"/>
                </a:solidFill>
              </a:rPr>
              <a:t>How big is the leftover pattern?</a:t>
            </a:r>
          </a:p>
        </p:txBody>
      </p:sp>
      <p:sp>
        <p:nvSpPr>
          <p:cNvPr id="10" name="TextBox 9"/>
          <p:cNvSpPr txBox="1"/>
          <p:nvPr/>
        </p:nvSpPr>
        <p:spPr>
          <a:xfrm>
            <a:off x="7543800" y="3520440"/>
            <a:ext cx="3959352" cy="320040"/>
          </a:xfrm>
          <a:prstGeom prst="rect">
            <a:avLst/>
          </a:prstGeom>
          <a:noFill/>
        </p:spPr>
        <p:txBody>
          <a:bodyPr wrap="square" lIns="0" rIns="0" tIns="0" bIns="0" anchor="t">
            <a:spAutoFit/>
          </a:bodyPr>
          <a:lstStyle/>
          <a:p>
            <a:r>
              <a:rPr sz="1600" b="1" i="0">
                <a:solidFill>
                  <a:schemeClr val="accent2"/>
                </a:solidFill>
              </a:rPr>
              <a:t>What we see so far</a:t>
            </a:r>
          </a:p>
        </p:txBody>
      </p:sp>
      <p:sp>
        <p:nvSpPr>
          <p:cNvPr id="11" name="TextBox 10"/>
          <p:cNvSpPr txBox="1"/>
          <p:nvPr/>
        </p:nvSpPr>
        <p:spPr>
          <a:xfrm>
            <a:off x="7543800" y="3886200"/>
            <a:ext cx="3959352" cy="2103120"/>
          </a:xfrm>
          <a:prstGeom prst="rect">
            <a:avLst/>
          </a:prstGeom>
          <a:noFill/>
        </p:spPr>
        <p:txBody>
          <a:bodyPr wrap="square" lIns="0" rIns="0" tIns="0" bIns="0" anchor="t">
            <a:spAutoFit/>
          </a:bodyPr>
          <a:lstStyle/>
          <a:p>
            <a:pPr marL="285750" indent="-285750">
              <a:spcAft>
                <a:spcPts val="400"/>
              </a:spcAft>
              <a:buChar char="•"/>
            </a:pPr>
            <a:r>
              <a:rPr sz="1400" b="0" i="0">
                <a:solidFill>
                  <a:schemeClr val="tx1"/>
                </a:solidFill>
              </a:rPr>
              <a:t>Very weak leftover patterns in both seasons</a:t>
            </a:r>
          </a:p>
          <a:p>
            <a:pPr marL="285750" indent="-285750">
              <a:spcAft>
                <a:spcPts val="400"/>
              </a:spcAft>
              <a:buChar char="•"/>
            </a:pPr>
            <a:r>
              <a:rPr sz="1400" b="0" i="0">
                <a:solidFill>
                  <a:schemeClr val="tx1"/>
                </a:solidFill>
              </a:rPr>
              <a:t>Day-to-day rainfall leaves small random wiggles</a:t>
            </a:r>
          </a:p>
          <a:p>
            <a:pPr marL="285750" indent="-285750">
              <a:spcAft>
                <a:spcPts val="400"/>
              </a:spcAft>
              <a:buChar char="•"/>
            </a:pPr>
            <a:r>
              <a:rPr sz="1400" b="0" i="0">
                <a:solidFill>
                  <a:schemeClr val="tx1"/>
                </a:solidFill>
              </a:rPr>
              <a:t>This is the starting point for every other panel</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777240"/>
            <a:ext cx="10817352" cy="868680"/>
          </a:xfrm>
        </p:spPr>
        <p:txBody>
          <a:bodyPr wrap="square" lIns="0" rIns="0" tIns="0" bIns="0" anchor="t"/>
          <a:lstStyle/>
          <a:p>
            <a:pPr algn="l"/>
            <a:r>
              <a:rPr sz="3600" b="1">
                <a:solidFill>
                  <a:schemeClr val="tx1"/>
                </a:solidFill>
                <a:latin typeface="+mj-lt"/>
              </a:rPr>
              <a:t>Mountains Alone</a:t>
            </a:r>
          </a:p>
        </p:txBody>
      </p:sp>
      <p:sp>
        <p:nvSpPr>
          <p:cNvPr id="3" name="TextBox 2"/>
          <p:cNvSpPr txBox="1"/>
          <p:nvPr/>
        </p:nvSpPr>
        <p:spPr>
          <a:xfrm>
            <a:off x="685800" y="457200"/>
            <a:ext cx="10817352" cy="274320"/>
          </a:xfrm>
          <a:prstGeom prst="rect">
            <a:avLst/>
          </a:prstGeom>
          <a:noFill/>
        </p:spPr>
        <p:txBody>
          <a:bodyPr wrap="square" lIns="0" rIns="0" tIns="0" bIns="0" anchor="t">
            <a:spAutoFit/>
          </a:bodyPr>
          <a:lstStyle/>
          <a:p>
            <a:r>
              <a:rPr sz="1200" b="1" i="0" spc="300">
                <a:solidFill>
                  <a:schemeClr val="accent1"/>
                </a:solidFill>
              </a:rPr>
              <a:t>PART 5 · RESULTS · PRELIMINARY</a:t>
            </a:r>
          </a:p>
        </p:txBody>
      </p:sp>
      <p:sp>
        <p:nvSpPr>
          <p:cNvPr id="4" name="TextBox 3"/>
          <p:cNvSpPr txBox="1"/>
          <p:nvPr/>
        </p:nvSpPr>
        <p:spPr>
          <a:xfrm>
            <a:off x="685800" y="6400800"/>
            <a:ext cx="6400800" cy="274320"/>
          </a:xfrm>
          <a:prstGeom prst="rect">
            <a:avLst/>
          </a:prstGeom>
          <a:noFill/>
        </p:spPr>
        <p:txBody>
          <a:bodyPr wrap="square" lIns="0" rIns="0" tIns="0" bIns="0" anchor="t">
            <a:spAutoFit/>
          </a:bodyPr>
          <a:lstStyle/>
          <a:p>
            <a:r>
              <a:rPr sz="1000" b="0" i="0">
                <a:solidFill>
                  <a:schemeClr val="tx2"/>
                </a:solidFill>
              </a:rPr>
              <a:t>Telly · stationary Rossby waves</a:t>
            </a:r>
          </a:p>
        </p:txBody>
      </p:sp>
      <p:sp>
        <p:nvSpPr>
          <p:cNvPr id="5" name="TextBox 4"/>
          <p:cNvSpPr txBox="1"/>
          <p:nvPr/>
        </p:nvSpPr>
        <p:spPr>
          <a:xfrm>
            <a:off x="10972800" y="6400800"/>
            <a:ext cx="548640" cy="274320"/>
          </a:xfrm>
          <a:prstGeom prst="rect">
            <a:avLst/>
          </a:prstGeom>
          <a:noFill/>
        </p:spPr>
        <p:txBody>
          <a:bodyPr wrap="none" lIns="0" rIns="0" tIns="0" bIns="0">
            <a:spAutoFit/>
          </a:bodyPr>
          <a:lstStyle/>
          <a:p>
            <a:pPr algn="r"/>
            <a:fld id="{B6F15528-21DE-4FAA-801E-634DDDAF4B2B}" type="slidenum">
              <a:rPr lang="en-US" sz="1000">
                <a:solidFill>
                  <a:schemeClr val="tx2"/>
                </a:solidFill>
              </a:rPr>
              <a:t>‹#›</a:t>
            </a:fld>
          </a:p>
        </p:txBody>
      </p:sp>
      <p:sp>
        <p:nvSpPr>
          <p:cNvPr id="6" name="TextBox 5"/>
          <p:cNvSpPr txBox="1"/>
          <p:nvPr/>
        </p:nvSpPr>
        <p:spPr>
          <a:xfrm>
            <a:off x="685800" y="6053328"/>
            <a:ext cx="10058400" cy="274320"/>
          </a:xfrm>
          <a:prstGeom prst="rect">
            <a:avLst/>
          </a:prstGeom>
          <a:noFill/>
        </p:spPr>
        <p:txBody>
          <a:bodyPr wrap="square" lIns="0" rIns="0" tIns="0" bIns="0" anchor="t">
            <a:spAutoFit/>
          </a:bodyPr>
          <a:lstStyle/>
          <a:p>
            <a:r>
              <a:rPr sz="1100" b="0" i="0">
                <a:solidFill>
                  <a:schemeClr val="tx2"/>
                </a:solidFill>
              </a:rPr>
              <a:t>Preliminary: about 3.75 years after spin-up; winter and summer; 500 hPa height; runs still in progress</a:t>
            </a:r>
          </a:p>
        </p:txBody>
      </p:sp>
      <p:pic>
        <p:nvPicPr>
          <p:cNvPr id="7" name="Picture 6" descr="Map of the 500 hPa height response to mountains alone, winter and summer"/>
          <p:cNvPicPr>
            <a:picLocks noChangeAspect="1"/>
          </p:cNvPicPr>
          <p:nvPr/>
        </p:nvPicPr>
        <p:blipFill>
          <a:blip r:embed="rId2"/>
          <a:stretch>
            <a:fillRect/>
          </a:stretch>
        </p:blipFill>
        <p:spPr>
          <a:xfrm>
            <a:off x="685800" y="1783080"/>
            <a:ext cx="6583680" cy="4178104"/>
          </a:xfrm>
          <a:prstGeom prst="rect">
            <a:avLst/>
          </a:prstGeom>
        </p:spPr>
      </p:pic>
      <p:sp>
        <p:nvSpPr>
          <p:cNvPr id="8" name="TextBox 7"/>
          <p:cNvSpPr txBox="1"/>
          <p:nvPr/>
        </p:nvSpPr>
        <p:spPr>
          <a:xfrm>
            <a:off x="7543800" y="1783080"/>
            <a:ext cx="3959352" cy="320040"/>
          </a:xfrm>
          <a:prstGeom prst="rect">
            <a:avLst/>
          </a:prstGeom>
          <a:noFill/>
        </p:spPr>
        <p:txBody>
          <a:bodyPr wrap="square" lIns="0" rIns="0" tIns="0" bIns="0" anchor="t">
            <a:spAutoFit/>
          </a:bodyPr>
          <a:lstStyle/>
          <a:p>
            <a:r>
              <a:rPr sz="1600" b="1" i="0">
                <a:solidFill>
                  <a:schemeClr val="accent1"/>
                </a:solidFill>
              </a:rPr>
              <a:t>What to look for</a:t>
            </a:r>
          </a:p>
        </p:txBody>
      </p:sp>
      <p:sp>
        <p:nvSpPr>
          <p:cNvPr id="9" name="TextBox 8"/>
          <p:cNvSpPr txBox="1"/>
          <p:nvPr/>
        </p:nvSpPr>
        <p:spPr>
          <a:xfrm>
            <a:off x="7543800" y="2148840"/>
            <a:ext cx="3959352" cy="1280160"/>
          </a:xfrm>
          <a:prstGeom prst="rect">
            <a:avLst/>
          </a:prstGeom>
          <a:noFill/>
        </p:spPr>
        <p:txBody>
          <a:bodyPr wrap="square" lIns="0" rIns="0" tIns="0" bIns="0" anchor="t">
            <a:spAutoFit/>
          </a:bodyPr>
          <a:lstStyle/>
          <a:p>
            <a:pPr marL="285750" indent="-285750">
              <a:spcAft>
                <a:spcPts val="400"/>
              </a:spcAft>
              <a:buChar char="•"/>
            </a:pPr>
            <a:r>
              <a:rPr sz="1400" b="0" i="0">
                <a:solidFill>
                  <a:schemeClr val="tx1"/>
                </a:solidFill>
              </a:rPr>
              <a:t>A wave train downstream of the Rockies and the Tibetan Plateau?</a:t>
            </a:r>
          </a:p>
          <a:p>
            <a:pPr marL="285750" indent="-285750">
              <a:spcAft>
                <a:spcPts val="400"/>
              </a:spcAft>
              <a:buChar char="•"/>
            </a:pPr>
            <a:r>
              <a:rPr sz="1400" b="0" i="0">
                <a:solidFill>
                  <a:schemeClr val="tx1"/>
                </a:solidFill>
              </a:rPr>
              <a:t>Is the response stronger in winter than in summer?</a:t>
            </a:r>
          </a:p>
        </p:txBody>
      </p:sp>
      <p:sp>
        <p:nvSpPr>
          <p:cNvPr id="10" name="TextBox 9"/>
          <p:cNvSpPr txBox="1"/>
          <p:nvPr/>
        </p:nvSpPr>
        <p:spPr>
          <a:xfrm>
            <a:off x="7543800" y="3520440"/>
            <a:ext cx="3959352" cy="320040"/>
          </a:xfrm>
          <a:prstGeom prst="rect">
            <a:avLst/>
          </a:prstGeom>
          <a:noFill/>
        </p:spPr>
        <p:txBody>
          <a:bodyPr wrap="square" lIns="0" rIns="0" tIns="0" bIns="0" anchor="t">
            <a:spAutoFit/>
          </a:bodyPr>
          <a:lstStyle/>
          <a:p>
            <a:r>
              <a:rPr sz="1600" b="1" i="0">
                <a:solidFill>
                  <a:schemeClr val="accent2"/>
                </a:solidFill>
              </a:rPr>
              <a:t>What we see so far</a:t>
            </a:r>
          </a:p>
        </p:txBody>
      </p:sp>
      <p:sp>
        <p:nvSpPr>
          <p:cNvPr id="11" name="TextBox 10"/>
          <p:cNvSpPr txBox="1"/>
          <p:nvPr/>
        </p:nvSpPr>
        <p:spPr>
          <a:xfrm>
            <a:off x="7543800" y="3886200"/>
            <a:ext cx="3959352" cy="2103120"/>
          </a:xfrm>
          <a:prstGeom prst="rect">
            <a:avLst/>
          </a:prstGeom>
          <a:noFill/>
        </p:spPr>
        <p:txBody>
          <a:bodyPr wrap="square" lIns="0" rIns="0" tIns="0" bIns="0" anchor="t">
            <a:spAutoFit/>
          </a:bodyPr>
          <a:lstStyle/>
          <a:p>
            <a:pPr marL="285750" indent="-285750">
              <a:spcAft>
                <a:spcPts val="400"/>
              </a:spcAft>
              <a:buChar char="•"/>
            </a:pPr>
            <a:r>
              <a:rPr sz="1400" b="0" i="0">
                <a:solidFill>
                  <a:schemeClr val="tx1"/>
                </a:solidFill>
              </a:rPr>
              <a:t>Winter: a deep low over northeast Asia, with highs over central Asia and Greenland</a:t>
            </a:r>
          </a:p>
          <a:p>
            <a:pPr marL="285750" indent="-285750">
              <a:spcAft>
                <a:spcPts val="400"/>
              </a:spcAft>
              <a:buChar char="•"/>
            </a:pPr>
            <a:r>
              <a:rPr sz="1400" b="0" i="0">
                <a:solidFill>
                  <a:schemeClr val="tx1"/>
                </a:solidFill>
              </a:rPr>
              <a:t>Summer: weaker in the north; the largest features are around Antarctica</a:t>
            </a:r>
          </a:p>
          <a:p>
            <a:pPr marL="285750" indent="-285750">
              <a:spcAft>
                <a:spcPts val="400"/>
              </a:spcAft>
              <a:buChar char="•"/>
            </a:pPr>
            <a:r>
              <a:rPr sz="1400" b="0" i="0">
                <a:solidFill>
                  <a:schemeClr val="tx1"/>
                </a:solidFill>
              </a:rPr>
              <a:t>The strongest of the three forcings in both seasons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777240"/>
            <a:ext cx="10817352" cy="868680"/>
          </a:xfrm>
        </p:spPr>
        <p:txBody>
          <a:bodyPr wrap="square" lIns="0" rIns="0" tIns="0" bIns="0" anchor="t"/>
          <a:lstStyle/>
          <a:p>
            <a:pPr algn="l"/>
            <a:r>
              <a:rPr sz="3600" b="1">
                <a:solidFill>
                  <a:schemeClr val="tx1"/>
                </a:solidFill>
                <a:latin typeface="+mj-lt"/>
              </a:rPr>
              <a:t>Land–Sea Contrast Alone</a:t>
            </a:r>
          </a:p>
        </p:txBody>
      </p:sp>
      <p:sp>
        <p:nvSpPr>
          <p:cNvPr id="3" name="TextBox 2"/>
          <p:cNvSpPr txBox="1"/>
          <p:nvPr/>
        </p:nvSpPr>
        <p:spPr>
          <a:xfrm>
            <a:off x="685800" y="457200"/>
            <a:ext cx="10817352" cy="274320"/>
          </a:xfrm>
          <a:prstGeom prst="rect">
            <a:avLst/>
          </a:prstGeom>
          <a:noFill/>
        </p:spPr>
        <p:txBody>
          <a:bodyPr wrap="square" lIns="0" rIns="0" tIns="0" bIns="0" anchor="t">
            <a:spAutoFit/>
          </a:bodyPr>
          <a:lstStyle/>
          <a:p>
            <a:r>
              <a:rPr sz="1200" b="1" i="0" spc="300">
                <a:solidFill>
                  <a:schemeClr val="accent1"/>
                </a:solidFill>
              </a:rPr>
              <a:t>PART 5 · RESULTS · PRELIMINARY</a:t>
            </a:r>
          </a:p>
        </p:txBody>
      </p:sp>
      <p:sp>
        <p:nvSpPr>
          <p:cNvPr id="4" name="TextBox 3"/>
          <p:cNvSpPr txBox="1"/>
          <p:nvPr/>
        </p:nvSpPr>
        <p:spPr>
          <a:xfrm>
            <a:off x="685800" y="6400800"/>
            <a:ext cx="6400800" cy="274320"/>
          </a:xfrm>
          <a:prstGeom prst="rect">
            <a:avLst/>
          </a:prstGeom>
          <a:noFill/>
        </p:spPr>
        <p:txBody>
          <a:bodyPr wrap="square" lIns="0" rIns="0" tIns="0" bIns="0" anchor="t">
            <a:spAutoFit/>
          </a:bodyPr>
          <a:lstStyle/>
          <a:p>
            <a:r>
              <a:rPr sz="1000" b="0" i="0">
                <a:solidFill>
                  <a:schemeClr val="tx2"/>
                </a:solidFill>
              </a:rPr>
              <a:t>Telly · stationary Rossby waves</a:t>
            </a:r>
          </a:p>
        </p:txBody>
      </p:sp>
      <p:sp>
        <p:nvSpPr>
          <p:cNvPr id="5" name="TextBox 4"/>
          <p:cNvSpPr txBox="1"/>
          <p:nvPr/>
        </p:nvSpPr>
        <p:spPr>
          <a:xfrm>
            <a:off x="10972800" y="6400800"/>
            <a:ext cx="548640" cy="274320"/>
          </a:xfrm>
          <a:prstGeom prst="rect">
            <a:avLst/>
          </a:prstGeom>
          <a:noFill/>
        </p:spPr>
        <p:txBody>
          <a:bodyPr wrap="none" lIns="0" rIns="0" tIns="0" bIns="0">
            <a:spAutoFit/>
          </a:bodyPr>
          <a:lstStyle/>
          <a:p>
            <a:pPr algn="r"/>
            <a:fld id="{B6F15528-21DE-4FAA-801E-634DDDAF4B2B}" type="slidenum">
              <a:rPr lang="en-US" sz="1000">
                <a:solidFill>
                  <a:schemeClr val="tx2"/>
                </a:solidFill>
              </a:rPr>
              <a:t>‹#›</a:t>
            </a:fld>
          </a:p>
        </p:txBody>
      </p:sp>
      <p:sp>
        <p:nvSpPr>
          <p:cNvPr id="6" name="TextBox 5"/>
          <p:cNvSpPr txBox="1"/>
          <p:nvPr/>
        </p:nvSpPr>
        <p:spPr>
          <a:xfrm>
            <a:off x="685800" y="6053328"/>
            <a:ext cx="10058400" cy="274320"/>
          </a:xfrm>
          <a:prstGeom prst="rect">
            <a:avLst/>
          </a:prstGeom>
          <a:noFill/>
        </p:spPr>
        <p:txBody>
          <a:bodyPr wrap="square" lIns="0" rIns="0" tIns="0" bIns="0" anchor="t">
            <a:spAutoFit/>
          </a:bodyPr>
          <a:lstStyle/>
          <a:p>
            <a:r>
              <a:rPr sz="1100" b="0" i="0">
                <a:solidFill>
                  <a:schemeClr val="tx2"/>
                </a:solidFill>
              </a:rPr>
              <a:t>Preliminary: about 3.75 years after spin-up; winter and summer; 500 hPa height; runs still in progress</a:t>
            </a:r>
          </a:p>
        </p:txBody>
      </p:sp>
      <p:pic>
        <p:nvPicPr>
          <p:cNvPr id="7" name="Picture 6" descr="Map of the 500 hPa height response to land-sea contrast alone, winter and summer"/>
          <p:cNvPicPr>
            <a:picLocks noChangeAspect="1"/>
          </p:cNvPicPr>
          <p:nvPr/>
        </p:nvPicPr>
        <p:blipFill>
          <a:blip r:embed="rId2"/>
          <a:stretch>
            <a:fillRect/>
          </a:stretch>
        </p:blipFill>
        <p:spPr>
          <a:xfrm>
            <a:off x="685800" y="1783080"/>
            <a:ext cx="6583680" cy="4178104"/>
          </a:xfrm>
          <a:prstGeom prst="rect">
            <a:avLst/>
          </a:prstGeom>
        </p:spPr>
      </p:pic>
      <p:sp>
        <p:nvSpPr>
          <p:cNvPr id="8" name="TextBox 7"/>
          <p:cNvSpPr txBox="1"/>
          <p:nvPr/>
        </p:nvSpPr>
        <p:spPr>
          <a:xfrm>
            <a:off x="7543800" y="1783080"/>
            <a:ext cx="3959352" cy="320040"/>
          </a:xfrm>
          <a:prstGeom prst="rect">
            <a:avLst/>
          </a:prstGeom>
          <a:noFill/>
        </p:spPr>
        <p:txBody>
          <a:bodyPr wrap="square" lIns="0" rIns="0" tIns="0" bIns="0" anchor="t">
            <a:spAutoFit/>
          </a:bodyPr>
          <a:lstStyle/>
          <a:p>
            <a:r>
              <a:rPr sz="1600" b="1" i="0">
                <a:solidFill>
                  <a:schemeClr val="accent1"/>
                </a:solidFill>
              </a:rPr>
              <a:t>What to look for</a:t>
            </a:r>
          </a:p>
        </p:txBody>
      </p:sp>
      <p:sp>
        <p:nvSpPr>
          <p:cNvPr id="9" name="TextBox 8"/>
          <p:cNvSpPr txBox="1"/>
          <p:nvPr/>
        </p:nvSpPr>
        <p:spPr>
          <a:xfrm>
            <a:off x="7543800" y="2148840"/>
            <a:ext cx="3959352" cy="1280160"/>
          </a:xfrm>
          <a:prstGeom prst="rect">
            <a:avLst/>
          </a:prstGeom>
          <a:noFill/>
        </p:spPr>
        <p:txBody>
          <a:bodyPr wrap="square" lIns="0" rIns="0" tIns="0" bIns="0" anchor="t">
            <a:spAutoFit/>
          </a:bodyPr>
          <a:lstStyle/>
          <a:p>
            <a:pPr marL="285750" indent="-285750">
              <a:spcAft>
                <a:spcPts val="400"/>
              </a:spcAft>
              <a:buChar char="•"/>
            </a:pPr>
            <a:r>
              <a:rPr sz="1400" b="0" i="0">
                <a:solidFill>
                  <a:schemeClr val="tx1"/>
                </a:solidFill>
              </a:rPr>
              <a:t>Is it larger or smaller than the mountain response?</a:t>
            </a:r>
          </a:p>
          <a:p>
            <a:pPr marL="285750" indent="-285750">
              <a:spcAft>
                <a:spcPts val="400"/>
              </a:spcAft>
              <a:buChar char="•"/>
            </a:pPr>
            <a:r>
              <a:rPr sz="1400" b="0" i="0">
                <a:solidFill>
                  <a:schemeClr val="tx1"/>
                </a:solidFill>
              </a:rPr>
              <a:t>Are its centres over the continents or the oceans?</a:t>
            </a:r>
          </a:p>
        </p:txBody>
      </p:sp>
      <p:sp>
        <p:nvSpPr>
          <p:cNvPr id="10" name="TextBox 9"/>
          <p:cNvSpPr txBox="1"/>
          <p:nvPr/>
        </p:nvSpPr>
        <p:spPr>
          <a:xfrm>
            <a:off x="7543800" y="3520440"/>
            <a:ext cx="3959352" cy="320040"/>
          </a:xfrm>
          <a:prstGeom prst="rect">
            <a:avLst/>
          </a:prstGeom>
          <a:noFill/>
        </p:spPr>
        <p:txBody>
          <a:bodyPr wrap="square" lIns="0" rIns="0" tIns="0" bIns="0" anchor="t">
            <a:spAutoFit/>
          </a:bodyPr>
          <a:lstStyle/>
          <a:p>
            <a:r>
              <a:rPr sz="1600" b="1" i="0">
                <a:solidFill>
                  <a:schemeClr val="accent2"/>
                </a:solidFill>
              </a:rPr>
              <a:t>What we see so far</a:t>
            </a:r>
          </a:p>
        </p:txBody>
      </p:sp>
      <p:sp>
        <p:nvSpPr>
          <p:cNvPr id="11" name="TextBox 10"/>
          <p:cNvSpPr txBox="1"/>
          <p:nvPr/>
        </p:nvSpPr>
        <p:spPr>
          <a:xfrm>
            <a:off x="7543800" y="3886200"/>
            <a:ext cx="3959352" cy="2103120"/>
          </a:xfrm>
          <a:prstGeom prst="rect">
            <a:avLst/>
          </a:prstGeom>
          <a:noFill/>
        </p:spPr>
        <p:txBody>
          <a:bodyPr wrap="square" lIns="0" rIns="0" tIns="0" bIns="0" anchor="t">
            <a:spAutoFit/>
          </a:bodyPr>
          <a:lstStyle/>
          <a:p>
            <a:pPr marL="285750" indent="-285750">
              <a:spcAft>
                <a:spcPts val="400"/>
              </a:spcAft>
              <a:buChar char="•"/>
            </a:pPr>
            <a:r>
              <a:rPr sz="1400" b="0" i="0">
                <a:solidFill>
                  <a:schemeClr val="tx1"/>
                </a:solidFill>
              </a:rPr>
              <a:t>Winter: weak highs and lows over the North Pacific and Asia</a:t>
            </a:r>
          </a:p>
          <a:p>
            <a:pPr marL="285750" indent="-285750">
              <a:spcAft>
                <a:spcPts val="400"/>
              </a:spcAft>
              <a:buChar char="•"/>
            </a:pPr>
            <a:r>
              <a:rPr sz="1400" b="0" i="0">
                <a:solidFill>
                  <a:schemeClr val="tx1"/>
                </a:solidFill>
              </a:rPr>
              <a:t>Summer: very weak</a:t>
            </a:r>
          </a:p>
          <a:p>
            <a:pPr marL="285750" indent="-285750">
              <a:spcAft>
                <a:spcPts val="400"/>
              </a:spcAft>
              <a:buChar char="•"/>
            </a:pPr>
            <a:r>
              <a:rPr sz="1400" b="0" i="0">
                <a:solidFill>
                  <a:schemeClr val="tx1"/>
                </a:solidFill>
              </a:rPr>
              <a:t>Much weaker than the mountain response</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777240"/>
            <a:ext cx="10817352" cy="868680"/>
          </a:xfrm>
        </p:spPr>
        <p:txBody>
          <a:bodyPr wrap="square" lIns="0" rIns="0" tIns="0" bIns="0" anchor="t"/>
          <a:lstStyle/>
          <a:p>
            <a:pPr algn="l"/>
            <a:r>
              <a:rPr sz="3600" b="1">
                <a:solidFill>
                  <a:schemeClr val="tx1"/>
                </a:solidFill>
                <a:latin typeface="+mj-lt"/>
              </a:rPr>
              <a:t>Diabatic Heating Alone</a:t>
            </a:r>
          </a:p>
        </p:txBody>
      </p:sp>
      <p:sp>
        <p:nvSpPr>
          <p:cNvPr id="3" name="TextBox 2"/>
          <p:cNvSpPr txBox="1"/>
          <p:nvPr/>
        </p:nvSpPr>
        <p:spPr>
          <a:xfrm>
            <a:off x="685800" y="457200"/>
            <a:ext cx="10817352" cy="274320"/>
          </a:xfrm>
          <a:prstGeom prst="rect">
            <a:avLst/>
          </a:prstGeom>
          <a:noFill/>
        </p:spPr>
        <p:txBody>
          <a:bodyPr wrap="square" lIns="0" rIns="0" tIns="0" bIns="0" anchor="t">
            <a:spAutoFit/>
          </a:bodyPr>
          <a:lstStyle/>
          <a:p>
            <a:r>
              <a:rPr sz="1200" b="1" i="0" spc="300">
                <a:solidFill>
                  <a:schemeClr val="accent1"/>
                </a:solidFill>
              </a:rPr>
              <a:t>PART 5 · RESULTS · PRELIMINARY</a:t>
            </a:r>
          </a:p>
        </p:txBody>
      </p:sp>
      <p:sp>
        <p:nvSpPr>
          <p:cNvPr id="4" name="TextBox 3"/>
          <p:cNvSpPr txBox="1"/>
          <p:nvPr/>
        </p:nvSpPr>
        <p:spPr>
          <a:xfrm>
            <a:off x="685800" y="6400800"/>
            <a:ext cx="6400800" cy="274320"/>
          </a:xfrm>
          <a:prstGeom prst="rect">
            <a:avLst/>
          </a:prstGeom>
          <a:noFill/>
        </p:spPr>
        <p:txBody>
          <a:bodyPr wrap="square" lIns="0" rIns="0" tIns="0" bIns="0" anchor="t">
            <a:spAutoFit/>
          </a:bodyPr>
          <a:lstStyle/>
          <a:p>
            <a:r>
              <a:rPr sz="1000" b="0" i="0">
                <a:solidFill>
                  <a:schemeClr val="tx2"/>
                </a:solidFill>
              </a:rPr>
              <a:t>Telly · stationary Rossby waves</a:t>
            </a:r>
          </a:p>
        </p:txBody>
      </p:sp>
      <p:sp>
        <p:nvSpPr>
          <p:cNvPr id="5" name="TextBox 4"/>
          <p:cNvSpPr txBox="1"/>
          <p:nvPr/>
        </p:nvSpPr>
        <p:spPr>
          <a:xfrm>
            <a:off x="10972800" y="6400800"/>
            <a:ext cx="548640" cy="274320"/>
          </a:xfrm>
          <a:prstGeom prst="rect">
            <a:avLst/>
          </a:prstGeom>
          <a:noFill/>
        </p:spPr>
        <p:txBody>
          <a:bodyPr wrap="none" lIns="0" rIns="0" tIns="0" bIns="0">
            <a:spAutoFit/>
          </a:bodyPr>
          <a:lstStyle/>
          <a:p>
            <a:pPr algn="r"/>
            <a:fld id="{B6F15528-21DE-4FAA-801E-634DDDAF4B2B}" type="slidenum">
              <a:rPr lang="en-US" sz="1000">
                <a:solidFill>
                  <a:schemeClr val="tx2"/>
                </a:solidFill>
              </a:rPr>
              <a:t>‹#›</a:t>
            </a:fld>
          </a:p>
        </p:txBody>
      </p:sp>
      <p:sp>
        <p:nvSpPr>
          <p:cNvPr id="6" name="TextBox 5"/>
          <p:cNvSpPr txBox="1"/>
          <p:nvPr/>
        </p:nvSpPr>
        <p:spPr>
          <a:xfrm>
            <a:off x="685800" y="6053328"/>
            <a:ext cx="10058400" cy="274320"/>
          </a:xfrm>
          <a:prstGeom prst="rect">
            <a:avLst/>
          </a:prstGeom>
          <a:noFill/>
        </p:spPr>
        <p:txBody>
          <a:bodyPr wrap="square" lIns="0" rIns="0" tIns="0" bIns="0" anchor="t">
            <a:spAutoFit/>
          </a:bodyPr>
          <a:lstStyle/>
          <a:p>
            <a:r>
              <a:rPr sz="1100" b="0" i="0">
                <a:solidFill>
                  <a:schemeClr val="tx2"/>
                </a:solidFill>
              </a:rPr>
              <a:t>Preliminary: about 3.75 years after spin-up; winter and summer; 500 hPa height; runs still in progress</a:t>
            </a:r>
          </a:p>
        </p:txBody>
      </p:sp>
      <p:pic>
        <p:nvPicPr>
          <p:cNvPr id="7" name="Picture 6" descr="Map of the 500 hPa height response to diabatic heating alone, winter and summer"/>
          <p:cNvPicPr>
            <a:picLocks noChangeAspect="1"/>
          </p:cNvPicPr>
          <p:nvPr/>
        </p:nvPicPr>
        <p:blipFill>
          <a:blip r:embed="rId2"/>
          <a:stretch>
            <a:fillRect/>
          </a:stretch>
        </p:blipFill>
        <p:spPr>
          <a:xfrm>
            <a:off x="685800" y="1783080"/>
            <a:ext cx="6583680" cy="4178104"/>
          </a:xfrm>
          <a:prstGeom prst="rect">
            <a:avLst/>
          </a:prstGeom>
        </p:spPr>
      </p:pic>
      <p:sp>
        <p:nvSpPr>
          <p:cNvPr id="8" name="TextBox 7"/>
          <p:cNvSpPr txBox="1"/>
          <p:nvPr/>
        </p:nvSpPr>
        <p:spPr>
          <a:xfrm>
            <a:off x="7543800" y="1783080"/>
            <a:ext cx="3959352" cy="320040"/>
          </a:xfrm>
          <a:prstGeom prst="rect">
            <a:avLst/>
          </a:prstGeom>
          <a:noFill/>
        </p:spPr>
        <p:txBody>
          <a:bodyPr wrap="square" lIns="0" rIns="0" tIns="0" bIns="0" anchor="t">
            <a:spAutoFit/>
          </a:bodyPr>
          <a:lstStyle/>
          <a:p>
            <a:r>
              <a:rPr sz="1600" b="1" i="0">
                <a:solidFill>
                  <a:schemeClr val="accent1"/>
                </a:solidFill>
              </a:rPr>
              <a:t>What to look for</a:t>
            </a:r>
          </a:p>
        </p:txBody>
      </p:sp>
      <p:sp>
        <p:nvSpPr>
          <p:cNvPr id="9" name="TextBox 8"/>
          <p:cNvSpPr txBox="1"/>
          <p:nvPr/>
        </p:nvSpPr>
        <p:spPr>
          <a:xfrm>
            <a:off x="7543800" y="2148840"/>
            <a:ext cx="3959352" cy="1280160"/>
          </a:xfrm>
          <a:prstGeom prst="rect">
            <a:avLst/>
          </a:prstGeom>
          <a:noFill/>
        </p:spPr>
        <p:txBody>
          <a:bodyPr wrap="square" lIns="0" rIns="0" tIns="0" bIns="0" anchor="t">
            <a:spAutoFit/>
          </a:bodyPr>
          <a:lstStyle/>
          <a:p>
            <a:pPr marL="285750" indent="-285750">
              <a:spcAft>
                <a:spcPts val="400"/>
              </a:spcAft>
              <a:buChar char="•"/>
            </a:pPr>
            <a:r>
              <a:rPr sz="1400" b="0" i="0">
                <a:solidFill>
                  <a:schemeClr val="tx1"/>
                </a:solidFill>
              </a:rPr>
              <a:t>A response near the tropical rain regions?</a:t>
            </a:r>
          </a:p>
          <a:p>
            <a:pPr marL="285750" indent="-285750">
              <a:spcAft>
                <a:spcPts val="400"/>
              </a:spcAft>
              <a:buChar char="•"/>
            </a:pPr>
            <a:r>
              <a:rPr sz="1400" b="0" i="0">
                <a:solidFill>
                  <a:schemeClr val="tx1"/>
                </a:solidFill>
              </a:rPr>
              <a:t>Do wave trains extend into the extratropics?</a:t>
            </a:r>
          </a:p>
        </p:txBody>
      </p:sp>
      <p:sp>
        <p:nvSpPr>
          <p:cNvPr id="10" name="TextBox 9"/>
          <p:cNvSpPr txBox="1"/>
          <p:nvPr/>
        </p:nvSpPr>
        <p:spPr>
          <a:xfrm>
            <a:off x="7543800" y="3520440"/>
            <a:ext cx="3959352" cy="320040"/>
          </a:xfrm>
          <a:prstGeom prst="rect">
            <a:avLst/>
          </a:prstGeom>
          <a:noFill/>
        </p:spPr>
        <p:txBody>
          <a:bodyPr wrap="square" lIns="0" rIns="0" tIns="0" bIns="0" anchor="t">
            <a:spAutoFit/>
          </a:bodyPr>
          <a:lstStyle/>
          <a:p>
            <a:r>
              <a:rPr sz="1600" b="1" i="0">
                <a:solidFill>
                  <a:schemeClr val="accent2"/>
                </a:solidFill>
              </a:rPr>
              <a:t>What we see so far</a:t>
            </a:r>
          </a:p>
        </p:txBody>
      </p:sp>
      <p:sp>
        <p:nvSpPr>
          <p:cNvPr id="11" name="TextBox 10"/>
          <p:cNvSpPr txBox="1"/>
          <p:nvPr/>
        </p:nvSpPr>
        <p:spPr>
          <a:xfrm>
            <a:off x="7543800" y="3886200"/>
            <a:ext cx="3959352" cy="2103120"/>
          </a:xfrm>
          <a:prstGeom prst="rect">
            <a:avLst/>
          </a:prstGeom>
          <a:noFill/>
        </p:spPr>
        <p:txBody>
          <a:bodyPr wrap="square" lIns="0" rIns="0" tIns="0" bIns="0" anchor="t">
            <a:spAutoFit/>
          </a:bodyPr>
          <a:lstStyle/>
          <a:p>
            <a:pPr marL="285750" indent="-285750">
              <a:spcAft>
                <a:spcPts val="400"/>
              </a:spcAft>
              <a:buChar char="•"/>
            </a:pPr>
            <a:r>
              <a:rPr sz="1400" b="0" i="0">
                <a:solidFill>
                  <a:schemeClr val="tx1"/>
                </a:solidFill>
              </a:rPr>
              <a:t>Winter: a weak wave train from the North Pacific to North America</a:t>
            </a:r>
          </a:p>
          <a:p>
            <a:pPr marL="285750" indent="-285750">
              <a:spcAft>
                <a:spcPts val="400"/>
              </a:spcAft>
              <a:buChar char="•"/>
            </a:pPr>
            <a:r>
              <a:rPr sz="1400" b="0" i="0">
                <a:solidFill>
                  <a:schemeClr val="tx1"/>
                </a:solidFill>
              </a:rPr>
              <a:t>Summer: very weak</a:t>
            </a:r>
          </a:p>
          <a:p>
            <a:pPr marL="285750" indent="-285750">
              <a:spcAft>
                <a:spcPts val="400"/>
              </a:spcAft>
              <a:buChar char="•"/>
            </a:pPr>
            <a:r>
              <a:rPr sz="1400" b="0" i="0">
                <a:solidFill>
                  <a:schemeClr val="tx1"/>
                </a:solidFill>
              </a:rPr>
              <a:t>Much weaker than the mountain response</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777240"/>
            <a:ext cx="10817352" cy="868680"/>
          </a:xfrm>
        </p:spPr>
        <p:txBody>
          <a:bodyPr wrap="square" lIns="0" rIns="0" tIns="0" bIns="0" anchor="t"/>
          <a:lstStyle/>
          <a:p>
            <a:pPr algn="l"/>
            <a:r>
              <a:rPr sz="3600" b="1">
                <a:solidFill>
                  <a:schemeClr val="tx1"/>
                </a:solidFill>
                <a:latin typeface="+mj-lt"/>
              </a:rPr>
              <a:t>All Three Together</a:t>
            </a:r>
          </a:p>
        </p:txBody>
      </p:sp>
      <p:sp>
        <p:nvSpPr>
          <p:cNvPr id="3" name="TextBox 2"/>
          <p:cNvSpPr txBox="1"/>
          <p:nvPr/>
        </p:nvSpPr>
        <p:spPr>
          <a:xfrm>
            <a:off x="685800" y="457200"/>
            <a:ext cx="10817352" cy="274320"/>
          </a:xfrm>
          <a:prstGeom prst="rect">
            <a:avLst/>
          </a:prstGeom>
          <a:noFill/>
        </p:spPr>
        <p:txBody>
          <a:bodyPr wrap="square" lIns="0" rIns="0" tIns="0" bIns="0" anchor="t">
            <a:spAutoFit/>
          </a:bodyPr>
          <a:lstStyle/>
          <a:p>
            <a:r>
              <a:rPr sz="1200" b="1" i="0" spc="300">
                <a:solidFill>
                  <a:schemeClr val="accent1"/>
                </a:solidFill>
              </a:rPr>
              <a:t>PART 5 · RESULTS · PRELIMINARY</a:t>
            </a:r>
          </a:p>
        </p:txBody>
      </p:sp>
      <p:sp>
        <p:nvSpPr>
          <p:cNvPr id="4" name="TextBox 3"/>
          <p:cNvSpPr txBox="1"/>
          <p:nvPr/>
        </p:nvSpPr>
        <p:spPr>
          <a:xfrm>
            <a:off x="685800" y="6400800"/>
            <a:ext cx="6400800" cy="274320"/>
          </a:xfrm>
          <a:prstGeom prst="rect">
            <a:avLst/>
          </a:prstGeom>
          <a:noFill/>
        </p:spPr>
        <p:txBody>
          <a:bodyPr wrap="square" lIns="0" rIns="0" tIns="0" bIns="0" anchor="t">
            <a:spAutoFit/>
          </a:bodyPr>
          <a:lstStyle/>
          <a:p>
            <a:r>
              <a:rPr sz="1000" b="0" i="0">
                <a:solidFill>
                  <a:schemeClr val="tx2"/>
                </a:solidFill>
              </a:rPr>
              <a:t>Telly · stationary Rossby waves</a:t>
            </a:r>
          </a:p>
        </p:txBody>
      </p:sp>
      <p:sp>
        <p:nvSpPr>
          <p:cNvPr id="5" name="TextBox 4"/>
          <p:cNvSpPr txBox="1"/>
          <p:nvPr/>
        </p:nvSpPr>
        <p:spPr>
          <a:xfrm>
            <a:off x="10972800" y="6400800"/>
            <a:ext cx="548640" cy="274320"/>
          </a:xfrm>
          <a:prstGeom prst="rect">
            <a:avLst/>
          </a:prstGeom>
          <a:noFill/>
        </p:spPr>
        <p:txBody>
          <a:bodyPr wrap="none" lIns="0" rIns="0" tIns="0" bIns="0">
            <a:spAutoFit/>
          </a:bodyPr>
          <a:lstStyle/>
          <a:p>
            <a:pPr algn="r"/>
            <a:fld id="{B6F15528-21DE-4FAA-801E-634DDDAF4B2B}" type="slidenum">
              <a:rPr lang="en-US" sz="1000">
                <a:solidFill>
                  <a:schemeClr val="tx2"/>
                </a:solidFill>
              </a:rPr>
              <a:t>‹#›</a:t>
            </a:fld>
          </a:p>
        </p:txBody>
      </p:sp>
      <p:sp>
        <p:nvSpPr>
          <p:cNvPr id="6" name="TextBox 5"/>
          <p:cNvSpPr txBox="1"/>
          <p:nvPr/>
        </p:nvSpPr>
        <p:spPr>
          <a:xfrm>
            <a:off x="685800" y="6053328"/>
            <a:ext cx="10058400" cy="274320"/>
          </a:xfrm>
          <a:prstGeom prst="rect">
            <a:avLst/>
          </a:prstGeom>
          <a:noFill/>
        </p:spPr>
        <p:txBody>
          <a:bodyPr wrap="square" lIns="0" rIns="0" tIns="0" bIns="0" anchor="t">
            <a:spAutoFit/>
          </a:bodyPr>
          <a:lstStyle/>
          <a:p>
            <a:r>
              <a:rPr sz="1100" b="0" i="0">
                <a:solidFill>
                  <a:schemeClr val="tx2"/>
                </a:solidFill>
              </a:rPr>
              <a:t>Preliminary: about 3.75 years after spin-up; winter and summer; 500 hPa height; runs still in progress</a:t>
            </a:r>
          </a:p>
        </p:txBody>
      </p:sp>
      <p:pic>
        <p:nvPicPr>
          <p:cNvPr id="7" name="Picture 6" descr="Map of the stationary eddy at 500 hPa in the run with mountains, land-sea contrast and heating, winter and summer"/>
          <p:cNvPicPr>
            <a:picLocks noChangeAspect="1"/>
          </p:cNvPicPr>
          <p:nvPr/>
        </p:nvPicPr>
        <p:blipFill>
          <a:blip r:embed="rId2"/>
          <a:stretch>
            <a:fillRect/>
          </a:stretch>
        </p:blipFill>
        <p:spPr>
          <a:xfrm>
            <a:off x="685800" y="1783080"/>
            <a:ext cx="6583680" cy="4178104"/>
          </a:xfrm>
          <a:prstGeom prst="rect">
            <a:avLst/>
          </a:prstGeom>
        </p:spPr>
      </p:pic>
      <p:sp>
        <p:nvSpPr>
          <p:cNvPr id="8" name="TextBox 7"/>
          <p:cNvSpPr txBox="1"/>
          <p:nvPr/>
        </p:nvSpPr>
        <p:spPr>
          <a:xfrm>
            <a:off x="7543800" y="1783080"/>
            <a:ext cx="3959352" cy="320040"/>
          </a:xfrm>
          <a:prstGeom prst="rect">
            <a:avLst/>
          </a:prstGeom>
          <a:noFill/>
        </p:spPr>
        <p:txBody>
          <a:bodyPr wrap="square" lIns="0" rIns="0" tIns="0" bIns="0" anchor="t">
            <a:spAutoFit/>
          </a:bodyPr>
          <a:lstStyle/>
          <a:p>
            <a:r>
              <a:rPr sz="1600" b="1" i="0">
                <a:solidFill>
                  <a:schemeClr val="accent1"/>
                </a:solidFill>
              </a:rPr>
              <a:t>What to look for</a:t>
            </a:r>
          </a:p>
        </p:txBody>
      </p:sp>
      <p:sp>
        <p:nvSpPr>
          <p:cNvPr id="9" name="TextBox 8"/>
          <p:cNvSpPr txBox="1"/>
          <p:nvPr/>
        </p:nvSpPr>
        <p:spPr>
          <a:xfrm>
            <a:off x="7543800" y="2148840"/>
            <a:ext cx="3959352" cy="1280160"/>
          </a:xfrm>
          <a:prstGeom prst="rect">
            <a:avLst/>
          </a:prstGeom>
          <a:noFill/>
        </p:spPr>
        <p:txBody>
          <a:bodyPr wrap="square" lIns="0" rIns="0" tIns="0" bIns="0" anchor="t">
            <a:spAutoFit/>
          </a:bodyPr>
          <a:lstStyle/>
          <a:p>
            <a:pPr marL="285750" indent="-285750">
              <a:spcAft>
                <a:spcPts val="400"/>
              </a:spcAft>
              <a:buChar char="•"/>
            </a:pPr>
            <a:r>
              <a:rPr sz="1400" b="0" i="0">
                <a:solidFill>
                  <a:schemeClr val="tx1"/>
                </a:solidFill>
              </a:rPr>
              <a:t>Does it look like the ERA5 map?</a:t>
            </a:r>
          </a:p>
          <a:p>
            <a:pPr marL="285750" indent="-285750">
              <a:spcAft>
                <a:spcPts val="400"/>
              </a:spcAft>
              <a:buChar char="•"/>
            </a:pPr>
            <a:r>
              <a:rPr sz="1400" b="0" i="0">
                <a:solidFill>
                  <a:schemeClr val="tx1"/>
                </a:solidFill>
              </a:rPr>
              <a:t>Which features are missing, and why?</a:t>
            </a:r>
          </a:p>
        </p:txBody>
      </p:sp>
      <p:sp>
        <p:nvSpPr>
          <p:cNvPr id="10" name="TextBox 9"/>
          <p:cNvSpPr txBox="1"/>
          <p:nvPr/>
        </p:nvSpPr>
        <p:spPr>
          <a:xfrm>
            <a:off x="7543800" y="3520440"/>
            <a:ext cx="3959352" cy="320040"/>
          </a:xfrm>
          <a:prstGeom prst="rect">
            <a:avLst/>
          </a:prstGeom>
          <a:noFill/>
        </p:spPr>
        <p:txBody>
          <a:bodyPr wrap="square" lIns="0" rIns="0" tIns="0" bIns="0" anchor="t">
            <a:spAutoFit/>
          </a:bodyPr>
          <a:lstStyle/>
          <a:p>
            <a:r>
              <a:rPr sz="1600" b="1" i="0">
                <a:solidFill>
                  <a:schemeClr val="accent2"/>
                </a:solidFill>
              </a:rPr>
              <a:t>What we see so far</a:t>
            </a:r>
          </a:p>
        </p:txBody>
      </p:sp>
      <p:sp>
        <p:nvSpPr>
          <p:cNvPr id="11" name="TextBox 10"/>
          <p:cNvSpPr txBox="1"/>
          <p:nvPr/>
        </p:nvSpPr>
        <p:spPr>
          <a:xfrm>
            <a:off x="7543800" y="3886200"/>
            <a:ext cx="3959352" cy="2103120"/>
          </a:xfrm>
          <a:prstGeom prst="rect">
            <a:avLst/>
          </a:prstGeom>
          <a:noFill/>
        </p:spPr>
        <p:txBody>
          <a:bodyPr wrap="square" lIns="0" rIns="0" tIns="0" bIns="0" anchor="t">
            <a:spAutoFit/>
          </a:bodyPr>
          <a:lstStyle/>
          <a:p>
            <a:pPr marL="285750" indent="-285750">
              <a:spcAft>
                <a:spcPts val="400"/>
              </a:spcAft>
              <a:buChar char="•"/>
            </a:pPr>
            <a:r>
              <a:rPr sz="1400" b="0" i="0">
                <a:solidFill>
                  <a:schemeClr val="tx1"/>
                </a:solidFill>
              </a:rPr>
              <a:t>Winter: a deep low over northeast Asia and a high over central Asia, as in ERA5</a:t>
            </a:r>
          </a:p>
          <a:p>
            <a:pPr marL="285750" indent="-285750">
              <a:spcAft>
                <a:spcPts val="400"/>
              </a:spcAft>
              <a:buChar char="•"/>
            </a:pPr>
            <a:r>
              <a:rPr sz="1400" b="0" i="0">
                <a:solidFill>
                  <a:schemeClr val="tx1"/>
                </a:solidFill>
              </a:rPr>
              <a:t>Summer: weaker in the north, strong around Antarctica</a:t>
            </a:r>
          </a:p>
          <a:p>
            <a:pPr marL="285750" indent="-285750">
              <a:spcAft>
                <a:spcPts val="400"/>
              </a:spcAft>
              <a:buChar char="•"/>
            </a:pPr>
            <a:r>
              <a:rPr sz="1400" b="0" i="0">
                <a:solidFill>
                  <a:schemeClr val="tx1"/>
                </a:solidFill>
              </a:rPr>
              <a:t>Almost the same as the observed-background run (correlation 0.96 in each season)</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777240"/>
            <a:ext cx="10817352" cy="868680"/>
          </a:xfrm>
        </p:spPr>
        <p:txBody>
          <a:bodyPr wrap="square" lIns="0" rIns="0" tIns="0" bIns="0" anchor="t"/>
          <a:lstStyle/>
          <a:p>
            <a:pPr algn="l"/>
            <a:r>
              <a:rPr sz="3600" b="1">
                <a:solidFill>
                  <a:schemeClr val="tx1"/>
                </a:solidFill>
                <a:latin typeface="+mj-lt"/>
              </a:rPr>
              <a:t>Is the Whole the Sum of the Parts?</a:t>
            </a:r>
          </a:p>
        </p:txBody>
      </p:sp>
      <p:sp>
        <p:nvSpPr>
          <p:cNvPr id="3" name="TextBox 2"/>
          <p:cNvSpPr txBox="1"/>
          <p:nvPr/>
        </p:nvSpPr>
        <p:spPr>
          <a:xfrm>
            <a:off x="685800" y="457200"/>
            <a:ext cx="10817352" cy="274320"/>
          </a:xfrm>
          <a:prstGeom prst="rect">
            <a:avLst/>
          </a:prstGeom>
          <a:noFill/>
        </p:spPr>
        <p:txBody>
          <a:bodyPr wrap="square" lIns="0" rIns="0" tIns="0" bIns="0" anchor="t">
            <a:spAutoFit/>
          </a:bodyPr>
          <a:lstStyle/>
          <a:p>
            <a:r>
              <a:rPr sz="1200" b="1" i="0" spc="300">
                <a:solidFill>
                  <a:schemeClr val="accent1"/>
                </a:solidFill>
              </a:rPr>
              <a:t>PART 5 · RESULTS · PRELIMINARY</a:t>
            </a:r>
          </a:p>
        </p:txBody>
      </p:sp>
      <p:sp>
        <p:nvSpPr>
          <p:cNvPr id="4" name="TextBox 3"/>
          <p:cNvSpPr txBox="1"/>
          <p:nvPr/>
        </p:nvSpPr>
        <p:spPr>
          <a:xfrm>
            <a:off x="685800" y="6400800"/>
            <a:ext cx="6400800" cy="274320"/>
          </a:xfrm>
          <a:prstGeom prst="rect">
            <a:avLst/>
          </a:prstGeom>
          <a:noFill/>
        </p:spPr>
        <p:txBody>
          <a:bodyPr wrap="square" lIns="0" rIns="0" tIns="0" bIns="0" anchor="t">
            <a:spAutoFit/>
          </a:bodyPr>
          <a:lstStyle/>
          <a:p>
            <a:r>
              <a:rPr sz="1000" b="0" i="0">
                <a:solidFill>
                  <a:schemeClr val="tx2"/>
                </a:solidFill>
              </a:rPr>
              <a:t>Telly · stationary Rossby waves</a:t>
            </a:r>
          </a:p>
        </p:txBody>
      </p:sp>
      <p:sp>
        <p:nvSpPr>
          <p:cNvPr id="5" name="TextBox 4"/>
          <p:cNvSpPr txBox="1"/>
          <p:nvPr/>
        </p:nvSpPr>
        <p:spPr>
          <a:xfrm>
            <a:off x="10972800" y="6400800"/>
            <a:ext cx="548640" cy="274320"/>
          </a:xfrm>
          <a:prstGeom prst="rect">
            <a:avLst/>
          </a:prstGeom>
          <a:noFill/>
        </p:spPr>
        <p:txBody>
          <a:bodyPr wrap="none" lIns="0" rIns="0" tIns="0" bIns="0">
            <a:spAutoFit/>
          </a:bodyPr>
          <a:lstStyle/>
          <a:p>
            <a:pPr algn="r"/>
            <a:fld id="{B6F15528-21DE-4FAA-801E-634DDDAF4B2B}" type="slidenum">
              <a:rPr lang="en-US" sz="1000">
                <a:solidFill>
                  <a:schemeClr val="tx2"/>
                </a:solidFill>
              </a:rPr>
              <a:t>‹#›</a:t>
            </a:fld>
          </a:p>
        </p:txBody>
      </p:sp>
      <p:sp>
        <p:nvSpPr>
          <p:cNvPr id="6" name="TextBox 5"/>
          <p:cNvSpPr txBox="1"/>
          <p:nvPr/>
        </p:nvSpPr>
        <p:spPr>
          <a:xfrm>
            <a:off x="685800" y="6053328"/>
            <a:ext cx="10058400" cy="274320"/>
          </a:xfrm>
          <a:prstGeom prst="rect">
            <a:avLst/>
          </a:prstGeom>
          <a:noFill/>
        </p:spPr>
        <p:txBody>
          <a:bodyPr wrap="square" lIns="0" rIns="0" tIns="0" bIns="0" anchor="t">
            <a:spAutoFit/>
          </a:bodyPr>
          <a:lstStyle/>
          <a:p>
            <a:r>
              <a:rPr sz="1100" b="0" i="0">
                <a:solidFill>
                  <a:schemeClr val="tx2"/>
                </a:solidFill>
              </a:rPr>
              <a:t>Preliminary: about 3.75 years after spin-up; winter and summer; 500 hPa height; runs still in progress</a:t>
            </a:r>
          </a:p>
        </p:txBody>
      </p:sp>
      <p:pic>
        <p:nvPicPr>
          <p:cNvPr id="7" name="Picture 6" descr="Map of the nonlinear residual, all minus mountains minus land-sea minus heating plus two times baseline, 500 hPa, winter and summer"/>
          <p:cNvPicPr>
            <a:picLocks noChangeAspect="1"/>
          </p:cNvPicPr>
          <p:nvPr/>
        </p:nvPicPr>
        <p:blipFill>
          <a:blip r:embed="rId2"/>
          <a:stretch>
            <a:fillRect/>
          </a:stretch>
        </p:blipFill>
        <p:spPr>
          <a:xfrm>
            <a:off x="685800" y="1783080"/>
            <a:ext cx="6583680" cy="4178104"/>
          </a:xfrm>
          <a:prstGeom prst="rect">
            <a:avLst/>
          </a:prstGeom>
        </p:spPr>
      </p:pic>
      <p:sp>
        <p:nvSpPr>
          <p:cNvPr id="8" name="TextBox 7"/>
          <p:cNvSpPr txBox="1"/>
          <p:nvPr/>
        </p:nvSpPr>
        <p:spPr>
          <a:xfrm>
            <a:off x="7543800" y="1783080"/>
            <a:ext cx="3959352" cy="320040"/>
          </a:xfrm>
          <a:prstGeom prst="rect">
            <a:avLst/>
          </a:prstGeom>
          <a:noFill/>
        </p:spPr>
        <p:txBody>
          <a:bodyPr wrap="square" lIns="0" rIns="0" tIns="0" bIns="0" anchor="t">
            <a:spAutoFit/>
          </a:bodyPr>
          <a:lstStyle/>
          <a:p>
            <a:r>
              <a:rPr sz="1600" b="1" i="0">
                <a:solidFill>
                  <a:schemeClr val="accent1"/>
                </a:solidFill>
              </a:rPr>
              <a:t>What to look for</a:t>
            </a:r>
          </a:p>
        </p:txBody>
      </p:sp>
      <p:sp>
        <p:nvSpPr>
          <p:cNvPr id="9" name="TextBox 8"/>
          <p:cNvSpPr txBox="1"/>
          <p:nvPr/>
        </p:nvSpPr>
        <p:spPr>
          <a:xfrm>
            <a:off x="7543800" y="2148840"/>
            <a:ext cx="3959352" cy="1280160"/>
          </a:xfrm>
          <a:prstGeom prst="rect">
            <a:avLst/>
          </a:prstGeom>
          <a:noFill/>
        </p:spPr>
        <p:txBody>
          <a:bodyPr wrap="square" lIns="0" rIns="0" tIns="0" bIns="0" anchor="t">
            <a:spAutoFit/>
          </a:bodyPr>
          <a:lstStyle/>
          <a:p>
            <a:pPr marL="285750" indent="-285750">
              <a:spcAft>
                <a:spcPts val="400"/>
              </a:spcAft>
              <a:buChar char="•"/>
            </a:pPr>
            <a:r>
              <a:rPr sz="1400" b="0" i="0">
                <a:solidFill>
                  <a:schemeClr val="tx1"/>
                </a:solidFill>
              </a:rPr>
              <a:t>Where does the combined response differ from the sum of the three?</a:t>
            </a:r>
          </a:p>
          <a:p>
            <a:pPr marL="285750" indent="-285750">
              <a:spcAft>
                <a:spcPts val="400"/>
              </a:spcAft>
              <a:buChar char="•"/>
            </a:pPr>
            <a:r>
              <a:rPr sz="1400" b="0" i="0">
                <a:solidFill>
                  <a:schemeClr val="tx1"/>
                </a:solidFill>
              </a:rPr>
              <a:t>Is that difference small compared with each single response?</a:t>
            </a:r>
          </a:p>
        </p:txBody>
      </p:sp>
      <p:sp>
        <p:nvSpPr>
          <p:cNvPr id="10" name="TextBox 9"/>
          <p:cNvSpPr txBox="1"/>
          <p:nvPr/>
        </p:nvSpPr>
        <p:spPr>
          <a:xfrm>
            <a:off x="7543800" y="3520440"/>
            <a:ext cx="3959352" cy="320040"/>
          </a:xfrm>
          <a:prstGeom prst="rect">
            <a:avLst/>
          </a:prstGeom>
          <a:noFill/>
        </p:spPr>
        <p:txBody>
          <a:bodyPr wrap="square" lIns="0" rIns="0" tIns="0" bIns="0" anchor="t">
            <a:spAutoFit/>
          </a:bodyPr>
          <a:lstStyle/>
          <a:p>
            <a:r>
              <a:rPr sz="1600" b="1" i="0">
                <a:solidFill>
                  <a:schemeClr val="accent2"/>
                </a:solidFill>
              </a:rPr>
              <a:t>What we see so far</a:t>
            </a:r>
          </a:p>
        </p:txBody>
      </p:sp>
      <p:sp>
        <p:nvSpPr>
          <p:cNvPr id="11" name="TextBox 10"/>
          <p:cNvSpPr txBox="1"/>
          <p:nvPr/>
        </p:nvSpPr>
        <p:spPr>
          <a:xfrm>
            <a:off x="7543800" y="3886200"/>
            <a:ext cx="3959352" cy="2103120"/>
          </a:xfrm>
          <a:prstGeom prst="rect">
            <a:avLst/>
          </a:prstGeom>
          <a:noFill/>
        </p:spPr>
        <p:txBody>
          <a:bodyPr wrap="square" lIns="0" rIns="0" tIns="0" bIns="0" anchor="t">
            <a:spAutoFit/>
          </a:bodyPr>
          <a:lstStyle/>
          <a:p>
            <a:pPr marL="285750" indent="-285750">
              <a:spcAft>
                <a:spcPts val="400"/>
              </a:spcAft>
              <a:buChar char="•"/>
            </a:pPr>
            <a:r>
              <a:rPr sz="1400" b="0" i="0">
                <a:solidFill>
                  <a:schemeClr val="tx1"/>
                </a:solidFill>
              </a:rPr>
              <a:t>The combined response differs from the sum of the three</a:t>
            </a:r>
          </a:p>
          <a:p>
            <a:pPr marL="285750" indent="-285750">
              <a:spcAft>
                <a:spcPts val="400"/>
              </a:spcAft>
              <a:buChar char="•"/>
            </a:pPr>
            <a:r>
              <a:rPr sz="1400" b="0" i="0">
                <a:solidFill>
                  <a:schemeClr val="tx1"/>
                </a:solidFill>
              </a:rPr>
              <a:t>Large in northern winter over the North Atlantic, Arctic and North Pacific</a:t>
            </a:r>
          </a:p>
          <a:p>
            <a:pPr marL="285750" indent="-285750">
              <a:spcAft>
                <a:spcPts val="400"/>
              </a:spcAft>
              <a:buChar char="•"/>
            </a:pPr>
            <a:r>
              <a:rPr sz="1400" b="0" i="0">
                <a:solidFill>
                  <a:schemeClr val="tx1"/>
                </a:solidFill>
              </a:rPr>
              <a:t>Mountains plus heating and land–sea do not simply add</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chemeClr val="tx1"/>
        </a:solidFill>
        <a:effectLst/>
      </p:bgPr>
    </p:bg>
    <p:spTree>
      <p:nvGrpSpPr>
        <p:cNvPr id="1" name=""/>
        <p:cNvGrpSpPr/>
        <p:nvPr/>
      </p:nvGrpSpPr>
      <p:grpSpPr/>
      <p:sp>
        <p:nvSpPr>
          <p:cNvPr id="2" name="Title 1"/>
          <p:cNvSpPr>
            <a:spLocks noGrp="1"/>
          </p:cNvSpPr>
          <p:nvPr>
            <p:ph type="title"/>
          </p:nvPr>
        </p:nvSpPr>
        <p:spPr>
          <a:xfrm>
            <a:off x="685800" y="777240"/>
            <a:ext cx="10817352" cy="868680"/>
          </a:xfrm>
        </p:spPr>
        <p:txBody>
          <a:bodyPr wrap="square" lIns="0" rIns="0" tIns="0" bIns="0" anchor="t"/>
          <a:lstStyle/>
          <a:p>
            <a:pPr algn="l"/>
            <a:r>
              <a:rPr sz="3600" b="1">
                <a:solidFill>
                  <a:schemeClr val="bg2"/>
                </a:solidFill>
                <a:latin typeface="+mj-lt"/>
              </a:rPr>
              <a:t>Discussion</a:t>
            </a:r>
          </a:p>
        </p:txBody>
      </p:sp>
      <p:sp>
        <p:nvSpPr>
          <p:cNvPr id="3" name="TextBox 2"/>
          <p:cNvSpPr txBox="1"/>
          <p:nvPr/>
        </p:nvSpPr>
        <p:spPr>
          <a:xfrm>
            <a:off x="685800" y="457200"/>
            <a:ext cx="10817352" cy="274320"/>
          </a:xfrm>
          <a:prstGeom prst="rect">
            <a:avLst/>
          </a:prstGeom>
          <a:noFill/>
        </p:spPr>
        <p:txBody>
          <a:bodyPr wrap="square" lIns="0" rIns="0" tIns="0" bIns="0" anchor="t">
            <a:spAutoFit/>
          </a:bodyPr>
          <a:lstStyle/>
          <a:p>
            <a:r>
              <a:rPr sz="1200" b="1" i="0" spc="300">
                <a:solidFill>
                  <a:schemeClr val="accent4"/>
                </a:solidFill>
              </a:rPr>
              <a:t>WRAP-UP</a:t>
            </a:r>
          </a:p>
        </p:txBody>
      </p:sp>
      <p:sp>
        <p:nvSpPr>
          <p:cNvPr id="4" name="TextBox 3"/>
          <p:cNvSpPr txBox="1"/>
          <p:nvPr/>
        </p:nvSpPr>
        <p:spPr>
          <a:xfrm>
            <a:off x="685800" y="2011680"/>
            <a:ext cx="822960" cy="822960"/>
          </a:xfrm>
          <a:prstGeom prst="rect">
            <a:avLst/>
          </a:prstGeom>
          <a:noFill/>
        </p:spPr>
        <p:txBody>
          <a:bodyPr wrap="square" lIns="0" rIns="0" tIns="0" bIns="0" anchor="t">
            <a:spAutoFit/>
          </a:bodyPr>
          <a:lstStyle/>
          <a:p>
            <a:r>
              <a:rPr sz="4400" b="1" i="0">
                <a:solidFill>
                  <a:schemeClr val="accent4"/>
                </a:solidFill>
                <a:latin typeface="+mj-lt"/>
              </a:rPr>
              <a:t>1</a:t>
            </a:r>
          </a:p>
        </p:txBody>
      </p:sp>
      <p:sp>
        <p:nvSpPr>
          <p:cNvPr id="5" name="TextBox 4"/>
          <p:cNvSpPr txBox="1"/>
          <p:nvPr/>
        </p:nvSpPr>
        <p:spPr>
          <a:xfrm>
            <a:off x="1691640" y="2103120"/>
            <a:ext cx="9601200" cy="914400"/>
          </a:xfrm>
          <a:prstGeom prst="rect">
            <a:avLst/>
          </a:prstGeom>
          <a:noFill/>
        </p:spPr>
        <p:txBody>
          <a:bodyPr wrap="square" lIns="0" rIns="0" tIns="0" bIns="0" anchor="t">
            <a:spAutoFit/>
          </a:bodyPr>
          <a:lstStyle/>
          <a:p>
            <a:r>
              <a:rPr sz="2200" b="0" i="0">
                <a:solidFill>
                  <a:schemeClr val="bg2"/>
                </a:solidFill>
              </a:rPr>
              <a:t>Which forcing dominates the pattern at 500 hPa in winter, and which in summer?</a:t>
            </a:r>
          </a:p>
        </p:txBody>
      </p:sp>
      <p:sp>
        <p:nvSpPr>
          <p:cNvPr id="6" name="TextBox 5"/>
          <p:cNvSpPr txBox="1"/>
          <p:nvPr/>
        </p:nvSpPr>
        <p:spPr>
          <a:xfrm>
            <a:off x="685800" y="3383280"/>
            <a:ext cx="822960" cy="822960"/>
          </a:xfrm>
          <a:prstGeom prst="rect">
            <a:avLst/>
          </a:prstGeom>
          <a:noFill/>
        </p:spPr>
        <p:txBody>
          <a:bodyPr wrap="square" lIns="0" rIns="0" tIns="0" bIns="0" anchor="t">
            <a:spAutoFit/>
          </a:bodyPr>
          <a:lstStyle/>
          <a:p>
            <a:r>
              <a:rPr sz="4400" b="1" i="0">
                <a:solidFill>
                  <a:schemeClr val="accent4"/>
                </a:solidFill>
                <a:latin typeface="+mj-lt"/>
              </a:rPr>
              <a:t>2</a:t>
            </a:r>
          </a:p>
        </p:txBody>
      </p:sp>
      <p:sp>
        <p:nvSpPr>
          <p:cNvPr id="7" name="TextBox 6"/>
          <p:cNvSpPr txBox="1"/>
          <p:nvPr/>
        </p:nvSpPr>
        <p:spPr>
          <a:xfrm>
            <a:off x="1691640" y="3474720"/>
            <a:ext cx="9601200" cy="914400"/>
          </a:xfrm>
          <a:prstGeom prst="rect">
            <a:avLst/>
          </a:prstGeom>
          <a:noFill/>
        </p:spPr>
        <p:txBody>
          <a:bodyPr wrap="square" lIns="0" rIns="0" tIns="0" bIns="0" anchor="t">
            <a:spAutoFit/>
          </a:bodyPr>
          <a:lstStyle/>
          <a:p>
            <a:r>
              <a:rPr sz="2200" b="0" i="0">
                <a:solidFill>
                  <a:schemeClr val="bg2"/>
                </a:solidFill>
              </a:rPr>
              <a:t>Why must the surface pressure be placed on the terrain before mountains can be added?</a:t>
            </a:r>
          </a:p>
        </p:txBody>
      </p:sp>
      <p:sp>
        <p:nvSpPr>
          <p:cNvPr id="8" name="TextBox 7"/>
          <p:cNvSpPr txBox="1"/>
          <p:nvPr/>
        </p:nvSpPr>
        <p:spPr>
          <a:xfrm>
            <a:off x="685800" y="4754880"/>
            <a:ext cx="822960" cy="822960"/>
          </a:xfrm>
          <a:prstGeom prst="rect">
            <a:avLst/>
          </a:prstGeom>
          <a:noFill/>
        </p:spPr>
        <p:txBody>
          <a:bodyPr wrap="square" lIns="0" rIns="0" tIns="0" bIns="0" anchor="t">
            <a:spAutoFit/>
          </a:bodyPr>
          <a:lstStyle/>
          <a:p>
            <a:r>
              <a:rPr sz="4400" b="1" i="0">
                <a:solidFill>
                  <a:schemeClr val="accent4"/>
                </a:solidFill>
                <a:latin typeface="+mj-lt"/>
              </a:rPr>
              <a:t>3</a:t>
            </a:r>
          </a:p>
        </p:txBody>
      </p:sp>
      <p:sp>
        <p:nvSpPr>
          <p:cNvPr id="9" name="TextBox 8"/>
          <p:cNvSpPr txBox="1"/>
          <p:nvPr/>
        </p:nvSpPr>
        <p:spPr>
          <a:xfrm>
            <a:off x="1691640" y="4846320"/>
            <a:ext cx="9601200" cy="914400"/>
          </a:xfrm>
          <a:prstGeom prst="rect">
            <a:avLst/>
          </a:prstGeom>
          <a:noFill/>
        </p:spPr>
        <p:txBody>
          <a:bodyPr wrap="square" lIns="0" rIns="0" tIns="0" bIns="0" anchor="t">
            <a:spAutoFit/>
          </a:bodyPr>
          <a:lstStyle/>
          <a:p>
            <a:r>
              <a:rPr sz="2200" b="0" i="0">
                <a:solidFill>
                  <a:schemeClr val="bg2"/>
                </a:solidFill>
              </a:rPr>
              <a:t>How would you change the experiments to isolate ocean-only asymmetries such as the warm pool?</a:t>
            </a:r>
          </a:p>
        </p:txBody>
      </p:sp>
      <p:sp>
        <p:nvSpPr>
          <p:cNvPr id="10" name="TextBox 9"/>
          <p:cNvSpPr txBox="1"/>
          <p:nvPr/>
        </p:nvSpPr>
        <p:spPr>
          <a:xfrm>
            <a:off x="685800" y="6400800"/>
            <a:ext cx="6400800" cy="274320"/>
          </a:xfrm>
          <a:prstGeom prst="rect">
            <a:avLst/>
          </a:prstGeom>
          <a:noFill/>
        </p:spPr>
        <p:txBody>
          <a:bodyPr wrap="square" lIns="0" rIns="0" tIns="0" bIns="0" anchor="t">
            <a:spAutoFit/>
          </a:bodyPr>
          <a:lstStyle/>
          <a:p>
            <a:r>
              <a:rPr sz="1000" b="0" i="0">
                <a:solidFill>
                  <a:schemeClr val="accent5"/>
                </a:solidFill>
              </a:rPr>
              <a:t>Telly · stationary Rossby waves</a:t>
            </a:r>
          </a:p>
        </p:txBody>
      </p:sp>
      <p:sp>
        <p:nvSpPr>
          <p:cNvPr id="11" name="TextBox 10"/>
          <p:cNvSpPr txBox="1"/>
          <p:nvPr/>
        </p:nvSpPr>
        <p:spPr>
          <a:xfrm>
            <a:off x="10972800" y="6400800"/>
            <a:ext cx="548640" cy="274320"/>
          </a:xfrm>
          <a:prstGeom prst="rect">
            <a:avLst/>
          </a:prstGeom>
          <a:noFill/>
        </p:spPr>
        <p:txBody>
          <a:bodyPr wrap="none" lIns="0" rIns="0" tIns="0" bIns="0">
            <a:spAutoFit/>
          </a:bodyPr>
          <a:lstStyle/>
          <a:p>
            <a:pPr algn="r"/>
            <a:fld id="{B6F15528-21DE-4FAA-801E-634DDDAF4B2B}" type="slidenum">
              <a:rPr lang="en-US" sz="1000">
                <a:solidFill>
                  <a:schemeClr val="bg2"/>
                </a:solidFill>
              </a:rPr>
              <a:t>‹#›</a:t>
            </a:fld>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777240"/>
            <a:ext cx="10817352" cy="868680"/>
          </a:xfrm>
        </p:spPr>
        <p:txBody>
          <a:bodyPr wrap="square" lIns="0" rIns="0" tIns="0" bIns="0" anchor="t"/>
          <a:lstStyle/>
          <a:p>
            <a:pPr algn="l"/>
            <a:r>
              <a:rPr sz="3600" b="1">
                <a:solidFill>
                  <a:schemeClr val="tx1"/>
                </a:solidFill>
                <a:latin typeface="+mj-lt"/>
              </a:rPr>
              <a:t>References and Code</a:t>
            </a:r>
          </a:p>
        </p:txBody>
      </p:sp>
      <p:sp>
        <p:nvSpPr>
          <p:cNvPr id="3" name="TextBox 2"/>
          <p:cNvSpPr txBox="1"/>
          <p:nvPr/>
        </p:nvSpPr>
        <p:spPr>
          <a:xfrm>
            <a:off x="685800" y="457200"/>
            <a:ext cx="10817352" cy="274320"/>
          </a:xfrm>
          <a:prstGeom prst="rect">
            <a:avLst/>
          </a:prstGeom>
          <a:noFill/>
        </p:spPr>
        <p:txBody>
          <a:bodyPr wrap="square" lIns="0" rIns="0" tIns="0" bIns="0" anchor="t">
            <a:spAutoFit/>
          </a:bodyPr>
          <a:lstStyle/>
          <a:p>
            <a:r>
              <a:rPr sz="1200" b="1" i="0" spc="300">
                <a:solidFill>
                  <a:schemeClr val="accent1"/>
                </a:solidFill>
              </a:rPr>
              <a:t>APPENDIX</a:t>
            </a:r>
          </a:p>
        </p:txBody>
      </p:sp>
      <p:sp>
        <p:nvSpPr>
          <p:cNvPr id="4" name="TextBox 3"/>
          <p:cNvSpPr txBox="1"/>
          <p:nvPr/>
        </p:nvSpPr>
        <p:spPr>
          <a:xfrm>
            <a:off x="685800" y="6400800"/>
            <a:ext cx="6400800" cy="274320"/>
          </a:xfrm>
          <a:prstGeom prst="rect">
            <a:avLst/>
          </a:prstGeom>
          <a:noFill/>
        </p:spPr>
        <p:txBody>
          <a:bodyPr wrap="square" lIns="0" rIns="0" tIns="0" bIns="0" anchor="t">
            <a:spAutoFit/>
          </a:bodyPr>
          <a:lstStyle/>
          <a:p>
            <a:r>
              <a:rPr sz="1000" b="0" i="0">
                <a:solidFill>
                  <a:schemeClr val="tx2"/>
                </a:solidFill>
              </a:rPr>
              <a:t>Telly · stationary Rossby waves</a:t>
            </a:r>
          </a:p>
        </p:txBody>
      </p:sp>
      <p:sp>
        <p:nvSpPr>
          <p:cNvPr id="5" name="TextBox 4"/>
          <p:cNvSpPr txBox="1"/>
          <p:nvPr/>
        </p:nvSpPr>
        <p:spPr>
          <a:xfrm>
            <a:off x="10972800" y="6400800"/>
            <a:ext cx="548640" cy="274320"/>
          </a:xfrm>
          <a:prstGeom prst="rect">
            <a:avLst/>
          </a:prstGeom>
          <a:noFill/>
        </p:spPr>
        <p:txBody>
          <a:bodyPr wrap="none" lIns="0" rIns="0" tIns="0" bIns="0">
            <a:spAutoFit/>
          </a:bodyPr>
          <a:lstStyle/>
          <a:p>
            <a:pPr algn="r"/>
            <a:fld id="{B6F15528-21DE-4FAA-801E-634DDDAF4B2B}" type="slidenum">
              <a:rPr lang="en-US" sz="1000">
                <a:solidFill>
                  <a:schemeClr val="tx2"/>
                </a:solidFill>
              </a:rPr>
              <a:t>‹#›</a:t>
            </a:fld>
          </a:p>
        </p:txBody>
      </p:sp>
      <p:sp>
        <p:nvSpPr>
          <p:cNvPr id="6" name="Rounded Rectangle 5"/>
          <p:cNvSpPr/>
          <p:nvPr/>
        </p:nvSpPr>
        <p:spPr>
          <a:xfrm>
            <a:off x="685800" y="1783080"/>
            <a:ext cx="5303520" cy="4023360"/>
          </a:xfrm>
          <a:prstGeom prst="roundRect">
            <a:avLst>
              <a:gd name="adj" fmla="val 5000"/>
            </a:avLst>
          </a:prstGeom>
          <a:solidFill>
            <a:schemeClr val="bg1"/>
          </a:solidFill>
          <a:ln w="9525">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60120" y="1920240"/>
            <a:ext cx="4754880" cy="457200"/>
          </a:xfrm>
          <a:prstGeom prst="rect">
            <a:avLst/>
          </a:prstGeom>
          <a:noFill/>
        </p:spPr>
        <p:txBody>
          <a:bodyPr wrap="square" lIns="0" rIns="0" tIns="0" bIns="0" anchor="t">
            <a:spAutoFit/>
          </a:bodyPr>
          <a:lstStyle/>
          <a:p>
            <a:r>
              <a:rPr sz="2000" b="1" i="0">
                <a:solidFill>
                  <a:schemeClr val="tx1"/>
                </a:solidFill>
              </a:rPr>
              <a:t>Model paper</a:t>
            </a:r>
          </a:p>
        </p:txBody>
      </p:sp>
      <p:sp>
        <p:nvSpPr>
          <p:cNvPr id="8" name="TextBox 7"/>
          <p:cNvSpPr txBox="1"/>
          <p:nvPr/>
        </p:nvSpPr>
        <p:spPr>
          <a:xfrm>
            <a:off x="960120" y="2514600"/>
            <a:ext cx="4754880" cy="2103120"/>
          </a:xfrm>
          <a:prstGeom prst="rect">
            <a:avLst/>
          </a:prstGeom>
          <a:noFill/>
        </p:spPr>
        <p:txBody>
          <a:bodyPr wrap="square" lIns="0" rIns="0" tIns="0" bIns="0" anchor="t">
            <a:spAutoFit/>
          </a:bodyPr>
          <a:lstStyle/>
          <a:p>
            <a:r>
              <a:rPr sz="1500" b="0" i="0">
                <a:solidFill>
                  <a:schemeClr val="tx2"/>
                </a:solidFill>
              </a:rPr>
              <a:t>Kirtman, B. P., and coauthors, 2025: A simplified-physics atmosphere general circulation model for idealized climate dynamics studies. Bull. Amer. Meteor. Soc., 106, E2073–E2086.</a:t>
            </a:r>
          </a:p>
        </p:txBody>
      </p:sp>
      <p:sp>
        <p:nvSpPr>
          <p:cNvPr id="9" name="TextBox 8"/>
          <p:cNvSpPr txBox="1"/>
          <p:nvPr/>
        </p:nvSpPr>
        <p:spPr>
          <a:xfrm>
            <a:off x="960120" y="4754880"/>
            <a:ext cx="4754880" cy="365760"/>
          </a:xfrm>
          <a:prstGeom prst="rect">
            <a:avLst/>
          </a:prstGeom>
          <a:noFill/>
        </p:spPr>
        <p:txBody>
          <a:bodyPr wrap="square" lIns="0" rIns="0" tIns="0" bIns="0" anchor="t">
            <a:spAutoFit/>
          </a:bodyPr>
          <a:lstStyle/>
          <a:p>
            <a:r>
              <a:rPr sz="1300" b="0" i="0">
                <a:solidFill>
                  <a:schemeClr val="accent1"/>
                </a:solidFill>
                <a:latin typeface="Courier New"/>
              </a:rPr>
              <a:t>doi.org/10.1175/BAMS-D-24-0196.1</a:t>
            </a:r>
          </a:p>
        </p:txBody>
      </p:sp>
      <p:sp>
        <p:nvSpPr>
          <p:cNvPr id="10" name="Rounded Rectangle 9"/>
          <p:cNvSpPr/>
          <p:nvPr/>
        </p:nvSpPr>
        <p:spPr>
          <a:xfrm>
            <a:off x="6199632" y="1783080"/>
            <a:ext cx="5303520" cy="4023360"/>
          </a:xfrm>
          <a:prstGeom prst="roundRect">
            <a:avLst>
              <a:gd name="adj" fmla="val 5000"/>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73952" y="1920240"/>
            <a:ext cx="4754880" cy="457200"/>
          </a:xfrm>
          <a:prstGeom prst="rect">
            <a:avLst/>
          </a:prstGeom>
          <a:noFill/>
        </p:spPr>
        <p:txBody>
          <a:bodyPr wrap="square" lIns="0" rIns="0" tIns="0" bIns="0" anchor="t">
            <a:spAutoFit/>
          </a:bodyPr>
          <a:lstStyle/>
          <a:p>
            <a:r>
              <a:rPr sz="2000" b="1" i="0">
                <a:solidFill>
                  <a:schemeClr val="bg2"/>
                </a:solidFill>
              </a:rPr>
              <a:t>Run it yourself</a:t>
            </a:r>
          </a:p>
        </p:txBody>
      </p:sp>
      <p:sp>
        <p:nvSpPr>
          <p:cNvPr id="12" name="TextBox 11"/>
          <p:cNvSpPr txBox="1"/>
          <p:nvPr/>
        </p:nvSpPr>
        <p:spPr>
          <a:xfrm>
            <a:off x="6473952" y="2514600"/>
            <a:ext cx="4754880" cy="1828800"/>
          </a:xfrm>
          <a:prstGeom prst="rect">
            <a:avLst/>
          </a:prstGeom>
          <a:noFill/>
        </p:spPr>
        <p:txBody>
          <a:bodyPr wrap="square" lIns="0" rIns="0" tIns="0" bIns="0" anchor="t">
            <a:spAutoFit/>
          </a:bodyPr>
          <a:lstStyle/>
          <a:p>
            <a:pPr>
              <a:spcAft>
                <a:spcPts val="600"/>
              </a:spcAft>
            </a:pPr>
            <a:r>
              <a:rPr sz="1300" b="0" i="0">
                <a:solidFill>
                  <a:schemeClr val="bg2"/>
                </a:solidFill>
                <a:latin typeface="Courier New"/>
              </a:rPr>
              <a:t>github.com/ou-esplab/Telly</a:t>
            </a:r>
          </a:p>
          <a:p>
            <a:pPr>
              <a:spcAft>
                <a:spcPts val="600"/>
              </a:spcAft>
            </a:pPr>
            <a:r>
              <a:rPr sz="1300" b="0" i="0">
                <a:solidFill>
                  <a:schemeClr val="bg2"/>
                </a:solidFill>
                <a:latin typeface="Courier New"/>
              </a:rPr>
              <a:t>config/experiments/AC_SW_*.yaml</a:t>
            </a:r>
          </a:p>
          <a:p>
            <a:pPr>
              <a:spcAft>
                <a:spcPts val="600"/>
              </a:spcAft>
            </a:pPr>
            <a:r>
              <a:rPr sz="1300" b="0" i="0">
                <a:solidFill>
                  <a:schemeClr val="bg2"/>
                </a:solidFill>
                <a:latin typeface="Courier New"/>
              </a:rPr>
              <a:t>scripts/stationary_waves.py</a:t>
            </a:r>
          </a:p>
          <a:p>
            <a:pPr>
              <a:spcAft>
                <a:spcPts val="600"/>
              </a:spcAft>
            </a:pPr>
            <a:r>
              <a:rPr sz="1300" b="0" i="0">
                <a:solidFill>
                  <a:schemeClr val="bg2"/>
                </a:solidFill>
                <a:latin typeface="Courier New"/>
              </a:rPr>
              <a:t>EXPERIMENTS.md</a:t>
            </a:r>
          </a:p>
        </p:txBody>
      </p:sp>
      <p:sp>
        <p:nvSpPr>
          <p:cNvPr id="13" name="TextBox 12"/>
          <p:cNvSpPr txBox="1"/>
          <p:nvPr/>
        </p:nvSpPr>
        <p:spPr>
          <a:xfrm>
            <a:off x="6473952" y="4572000"/>
            <a:ext cx="4754880" cy="1005840"/>
          </a:xfrm>
          <a:prstGeom prst="rect">
            <a:avLst/>
          </a:prstGeom>
          <a:noFill/>
        </p:spPr>
        <p:txBody>
          <a:bodyPr wrap="square" lIns="0" rIns="0" tIns="0" bIns="0" anchor="t">
            <a:spAutoFit/>
          </a:bodyPr>
          <a:lstStyle/>
          <a:p>
            <a:r>
              <a:rPr sz="1400" b="0" i="0">
                <a:solidFill>
                  <a:schemeClr val="accent5"/>
                </a:solidFill>
              </a:rPr>
              <a:t>Original model: github.com/jsb288/Atmospheric-Teleconnection-Model</a:t>
            </a:r>
          </a:p>
        </p:txBody>
      </p:sp>
    </p:spTree>
  </p:cSld>
  <p:clrMapOvr>
    <a:masterClrMapping/>
  </p:clrMapOvr>
</p:sld>
</file>

<file path=ppt/theme/theme1.xml><?xml version="1.0" encoding="utf-8"?>
<a:theme xmlns:a="http://schemas.openxmlformats.org/drawingml/2006/main" name="Office Theme">
  <a:themeElements>
    <a:clrScheme name="Telly">
      <a:dk1>
        <a:srgbClr val="14233A"/>
      </a:dk1>
      <a:lt1>
        <a:srgbClr val="FBFAF6"/>
      </a:lt1>
      <a:dk2>
        <a:srgbClr val="4A5568"/>
      </a:dk2>
      <a:lt2>
        <a:srgbClr val="F4F1EA"/>
      </a:lt2>
      <a:accent1>
        <a:srgbClr val="14707C"/>
      </a:accent1>
      <a:accent2>
        <a:srgbClr val="B8501A"/>
      </a:accent2>
      <a:accent3>
        <a:srgbClr val="D9692B"/>
      </a:accent3>
      <a:accent4>
        <a:srgbClr val="E8894A"/>
      </a:accent4>
      <a:accent5>
        <a:srgbClr val="C5D3E0"/>
      </a:accent5>
      <a:accent6>
        <a:srgbClr val="D9D4C7"/>
      </a:accent6>
      <a:hlink>
        <a:srgbClr val="14707C"/>
      </a:hlink>
      <a:folHlink>
        <a:srgbClr val="4A5568"/>
      </a:folHlink>
    </a:clrScheme>
    <a:fontScheme name="Telly">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